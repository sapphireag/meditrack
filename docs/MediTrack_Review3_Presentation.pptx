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charts/chart1.xml" ContentType="application/vnd.openxmlformats-officedocument.drawingml.chart+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e0e45089-9d89-fae4-16ee-66378828ac55}">
          <p14:sldIdLst>
            <p14:sldId id="256"/>
            <p14:sldId id="257"/>
            <p14:sldId id="258"/>
          </p14:sldIdLst>
        </p14:section>
        <p14:section name="New frontend" id="{e255741e-8fd0-54b9-5485-e78efa0c864a}">
          <p14:sldIdLst>
            <p14:sldId id="259"/>
            <p14:sldId id="260"/>
            <p14:sldId id="261"/>
            <p14:sldId id="262"/>
            <p14:sldId id="263"/>
            <p14:sldId id="264"/>
            <p14:sldId id="265"/>
          </p14:sldIdLst>
        </p14:section>
        <p14:section name="Final build" id="{a49b70f1-b0c4-b0d6-c744-cf59767ff23d}">
          <p14:sldIdLst>
            <p14:sldId id="266"/>
            <p14:sldId id="267"/>
            <p14:sldId id="268"/>
            <p14:sldId id="269"/>
            <p14:sldId id="270"/>
            <p14:sldId id="271"/>
          </p14:sldIdLst>
        </p14:section>
        <p14:section name="Close" id="{71327250-cbcb-25a6-c8e5-7971cb603568}">
          <p14:sldIdLst>
            <p14:sldId id="27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2395E"/>
                </a:solidFill>
                <a:latin typeface="+mn-lt"/>
              </a:defRPr>
            </a:pPr>
            <a:r>
              <a:rPr sz="1300" b="0" i="0" u="none" strike="noStrike">
                <a:solidFill>
                  <a:srgbClr val="12395E"/>
                </a:solidFill>
                <a:latin typeface="+mn-lt"/>
              </a:rPr>
              <a:t>Seed rows per table (≥ 10 each)</a:t>
            </a:r>
          </a:p>
        </c:rich>
      </c:tx>
      <c:layout/>
      <c:overlay val="0"/>
    </c:title>
    <c:autoTitleDeleted val="0"/>
    <c:plotArea>
      <c:layout/>
      <c:barChart>
        <c:barDir val="bar"/>
        <c:grouping val="clustered"/>
        <c:varyColors val="0"/>
        <c:ser>
          <c:idx val="0"/>
          <c:order val="0"/>
          <c:tx>
            <c:strRef>
              <c:f>Sheet1!$B$1</c:f>
              <c:strCache>
                <c:ptCount val="1"/>
                <c:pt idx="0">
                  <c:v>Rows</c:v>
                </c:pt>
              </c:strCache>
            </c:strRef>
          </c:tx>
          <c:spPr>
            <a:solidFill>
              <a:srgbClr val="1F6FC5"/>
            </a:solidFill>
            <a:effectLst/>
          </c:spPr>
          <c:invertIfNegative val="0"/>
          <c:dLbls>
            <c:numFmt formatCode="#,##0" sourceLinked="0"/>
            <c:txPr>
              <a:bodyPr/>
              <a:lstStyle/>
              <a:p>
                <a:pPr>
                  <a:defRPr b="0" i="0" strike="noStrike" sz="1100" u="none">
                    <a:solidFill>
                      <a:srgbClr val="12395E"/>
                    </a:solidFill>
                    <a:latin typeface="+mn-lt"/>
                  </a:defRPr>
                </a:pPr>
              </a:p>
            </c:txPr>
            <c:showLegendKey val="0"/>
            <c:showVal val="1"/>
            <c:showCatName val="0"/>
            <c:showSerName val="0"/>
            <c:showPercent val="0"/>
            <c:showBubbleSize val="0"/>
            <c:showLeaderLines val="0"/>
          </c:dLbls>
          <c:cat>
            <c:multiLvlStrRef>
              <c:f>Sheet1!$A$2:$A$8</c:f>
              <c:multiLvlStrCache>
                <c:ptCount val="7"/>
                <c:lvl>
                  <c:pt idx="0">
                    <c:v>PATIENT</c:v>
                  </c:pt>
                  <c:pt idx="1">
                    <c:v>DOCTOR</c:v>
                  </c:pt>
                  <c:pt idx="2">
                    <c:v>TEST_CATALOG</c:v>
                  </c:pt>
                  <c:pt idx="3">
                    <c:v>APPOINTMENT</c:v>
                  </c:pt>
                  <c:pt idx="4">
                    <c:v>SAMPLE</c:v>
                  </c:pt>
                  <c:pt idx="5">
                    <c:v>TEST_RESULT</c:v>
                  </c:pt>
                  <c:pt idx="6">
                    <c:v>BILL</c:v>
                  </c:pt>
                </c:lvl>
              </c:multiLvlStrCache>
            </c:multiLvlStrRef>
          </c:cat>
          <c:val>
            <c:numRef>
              <c:f>Sheet1!$B$2:$B$8</c:f>
              <c:numCache>
                <c:formatCode>General</c:formatCode>
                <c:ptCount val="7"/>
                <c:pt idx="0">
                  <c:v>12</c:v>
                </c:pt>
                <c:pt idx="1">
                  <c:v>10</c:v>
                </c:pt>
                <c:pt idx="2">
                  <c:v>12</c:v>
                </c:pt>
                <c:pt idx="3">
                  <c:v>24</c:v>
                </c:pt>
                <c:pt idx="4">
                  <c:v>18</c:v>
                </c:pt>
                <c:pt idx="5">
                  <c:v>16</c:v>
                </c:pt>
                <c:pt idx="6">
                  <c:v>11</c:v>
                </c:pt>
              </c:numCache>
            </c:numRef>
          </c:val>
        </c:ser>
        <c:dLbls>
          <c:numFmt formatCode="#,##0" sourceLinked="0"/>
          <c:txPr>
            <a:bodyPr/>
            <a:lstStyle/>
            <a:p>
              <a:pPr>
                <a:defRPr b="0" i="0" strike="noStrike" sz="1100" u="none">
                  <a:solidFill>
                    <a:srgbClr val="12395E"/>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12395E"/>
                </a:solidFill>
                <a:latin typeface="+mn-lt"/>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MediTrack is our Oracle database for a single diagnostic clinic. Review I designed it, Review II built the SQL and PL/SQL; this review shows the integrated application: a new three-portal Streamlit front end and the final, re-runnable build.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Review I listed four problems. Each one is now enforced by a database object, not by the screen. If someone bypasses the app and types SQL, double booking, overpayment and wrong result flags are still impossible.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Request path: a page or menu item calls a function in services.py. That function runs SQL or PL/SQL through oracledb with bind variables, commits once, and returns a TxResult with the operation, tables, components, statements and rows affected. Both front ends render the same TxResult.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home page explains the whole visit as seven steps, T1 to T7, each one a single database transaction. Each portal shows the clinic from one role's side. Patient and doctor portals use a 'Signed in as' picker for the demo; there is no login.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pick Dr. Rajesh Kumar today and the 10:00 slot marked taken, then confirm. The trigger raises ORA-20003. Dr. Ramesh Patel is INACTIVE (-20001); Dr. Sanjay Gupta is full today (-20002); a past date gives -20004.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Order tests (T2a) inserts one SAMPLE row per test; ordering the same test twice is refused by the composite UNIQUE uq_sample_appt_test. Complete visit (T4) is the key unit of work: if generate_bill fails, the status update is rolled back too.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dashboard is not a separate reporting layer: each panel is one of the 15 queries. The Reports page parses the header comments in 03_queries.sql, so what the examiner reads in the file is exactly what runs. The Database page reads USER_TAB_COLUMNS, USER_CONSTRAINTS and USER_SOURCE.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service function returns a TxResult. The Streamlit 'Behind the scenes' strip and the CLI print the same fields, so in the viva we can point at any action and say exactly which table and which PL/SQL object it touched. The Activity log page keeps the session's history.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Twelve business-rule codes are in use, -20001 to -20031, one per rule, documented at the top of 05_procedures.sql and 06_triggers.sql. Every new code or constraint has an entry in explain.py, so the user never sees a raw stack trace.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this table as the map from a click to the database. Procedures never commit; the caller owns the unit of work. The only exception is the batch job end_of_day_billing, which commits once after the loop and rolls back everything if any visit fails.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trg_no_double_booking is BEFORE INSERT only: a row trigger cannot query its own table during UPDATE (ORA-04091 mutating table), so rescheduling is cancel + rebook. trg_flag_result reads the normal range through SAMPLE and TEST_CATALOG, so the technician never types the flag.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on a clean Oracle Free 23ai schema on 28 Oct 2026. Seed dates are relative to SYSDATE, so 'today's schedule' always has data on demo day. Every SQL file is re-runnable because the build starts with 99_drop_all.sql.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Coverage: simple retrieval, INNER and LEFT joins over 3+ tables, GROUP BY + HAVING, aggregates, correlated and non-correlated subqueries, NOT EXISTS, INTERSECT, RANK(), and a view. On the seed data, Q7 returns Vitamin B12 and Q10 returns visits 500013 and 500014, which T6 then bills.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questions most likely to come up. Each answer points at a concrete object in the code: the trigger, the CHECK constraint, the FK delete rule, the commit placement, the SAMPLE table, and services.db_today.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with the live demo if time allows: book a taken slot to show -20003, enter a HIGH result, complete and bill a visit, take a partial payment, and run end-of-day billing.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MT_TITLE">
    <p:bg>
      <p:bgPr>
        <a:solidFill>
          <a:srgbClr val="0B2440"/>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2148840"/>
            <a:ext cx="7498080" cy="1097280"/>
          </a:xfrm>
          <a:prstGeom prst="rect">
            <a:avLst/>
          </a:prstGeom>
          <a:noFill/>
          <a:ln/>
        </p:spPr>
        <p:txBody>
          <a:bodyPr wrap="square" rtlCol="0"/>
          <a:lstStyle>
            <a:lvl1pPr algn="l" indent="0" marL="0">
              <a:buNone/>
              <a:defRPr lang="en-US" sz="5400" b="1" dirty="0">
                <a:solidFill>
                  <a:schemeClr val="bg1"/>
                </a:solidFill>
              </a:defRPr>
            </a:lvl1pPr>
          </a:lstStyle>
          <a:p>
            <a:pPr algn="l" indent="0" marL="0">
              <a:buNone/>
            </a:pPr>
            <a:endParaRPr lang="en-US" sz="5400" dirty="0"/>
          </a:p>
        </p:txBody>
      </p:sp>
      <p:sp>
        <p:nvSpPr>
          <p:cNvPr id="3" name="Text 0"/>
          <p:cNvSpPr/>
          <p:nvPr>
            <p:ph idx="101" type="body" hasCustomPrompt="1"/>
          </p:nvPr>
        </p:nvSpPr>
        <p:spPr>
          <a:xfrm>
            <a:off x="731520" y="3337560"/>
            <a:ext cx="7498080" cy="640080"/>
          </a:xfrm>
          <a:prstGeom prst="rect">
            <a:avLst/>
          </a:prstGeom>
          <a:noFill/>
          <a:ln/>
        </p:spPr>
        <p:txBody>
          <a:bodyPr wrap="square" rtlCol="0"/>
          <a:lstStyle>
            <a:lvl1pPr algn="l" indent="0" marL="0">
              <a:buNone/>
              <a:defRPr lang="en-US" sz="2400" dirty="0">
                <a:solidFill>
                  <a:schemeClr val="accent6"/>
                </a:solidFill>
              </a:defRPr>
            </a:lvl1pPr>
          </a:lstStyle>
          <a:p>
            <a:pPr algn="l" indent="0" marL="0">
              <a:buNone/>
            </a:pPr>
            <a:endParaRPr lang="en-US" sz="24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MT_SECTION">
    <p:bg>
      <p:bgPr>
        <a:solidFill>
          <a:srgbClr val="0B2440"/>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2651760"/>
            <a:ext cx="10698480" cy="914400"/>
          </a:xfrm>
          <a:prstGeom prst="rect">
            <a:avLst/>
          </a:prstGeom>
          <a:noFill/>
          <a:ln/>
        </p:spPr>
        <p:txBody>
          <a:bodyPr wrap="square" rtlCol="0"/>
          <a:lstStyle>
            <a:lvl1pPr algn="l" indent="0" marL="0">
              <a:buNone/>
              <a:defRPr lang="en-US" sz="4400" b="1" dirty="0">
                <a:solidFill>
                  <a:schemeClr val="bg1"/>
                </a:solidFill>
              </a:defRPr>
            </a:lvl1pPr>
          </a:lstStyle>
          <a:p>
            <a:pPr algn="l" indent="0" marL="0">
              <a:buNone/>
            </a:pPr>
            <a:endParaRPr lang="en-US" sz="4400" dirty="0"/>
          </a:p>
        </p:txBody>
      </p:sp>
      <p:sp>
        <p:nvSpPr>
          <p:cNvPr id="3" name="Text 0"/>
          <p:cNvSpPr/>
          <p:nvPr>
            <p:ph idx="101" type="body" hasCustomPrompt="1"/>
          </p:nvPr>
        </p:nvSpPr>
        <p:spPr>
          <a:xfrm>
            <a:off x="731520" y="3703320"/>
            <a:ext cx="10698480" cy="731520"/>
          </a:xfrm>
          <a:prstGeom prst="rect">
            <a:avLst/>
          </a:prstGeom>
          <a:noFill/>
          <a:ln/>
        </p:spPr>
        <p:txBody>
          <a:bodyPr wrap="square" rtlCol="0"/>
          <a:lstStyle>
            <a:lvl1pPr algn="l" indent="0" marL="0">
              <a:buNone/>
              <a:defRPr lang="en-US" sz="2000" dirty="0">
                <a:solidFill>
                  <a:schemeClr val="accent6"/>
                </a:solidFill>
              </a:defRPr>
            </a:lvl1pPr>
          </a:lstStyle>
          <a:p>
            <a:pPr algn="l" indent="0" marL="0">
              <a:buNone/>
            </a:pPr>
            <a:endParaRPr lang="en-US" sz="20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MT_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rtlCol="0"/>
          <a:lstStyle>
            <a:lvl1pPr algn="l" indent="0" marL="0">
              <a:buNone/>
              <a:defRPr lang="en-US" sz="3200" b="1" dirty="0">
                <a:solidFill>
                  <a:schemeClr val="tx1"/>
                </a:solidFill>
              </a:defRPr>
            </a:lvl1pPr>
          </a:lstStyle>
          <a:p>
            <a:pPr algn="l" indent="0" marL="0">
              <a:buNone/>
            </a:pPr>
            <a:endParaRPr lang="en-US" sz="3200" dirty="0"/>
          </a:p>
        </p:txBody>
      </p:sp>
      <p:sp>
        <p:nvSpPr>
          <p:cNvPr id="3" name="Text 0"/>
          <p:cNvSpPr/>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chemeClr val="accent5"/>
                </a:solidFill>
              </a:rPr>
              <a:t>MediTrack  ·  Review III  ·  BCSE302L Database Systems</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slideLayout" Target="../slideLayouts/slideLayout2.xml"/><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4.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4.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4.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4.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4.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slideLayout" Target="../slideLayouts/slideLayout4.xml"/><Relationship Id="rId8"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4.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4.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slideLayout" Target="../slideLayouts/slideLayout4.xml"/><Relationship Id="rId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image" Target="../media/image-14-1.png"/><Relationship Id="rId3" Type="http://schemas.openxmlformats.org/officeDocument/2006/relationships/image" Target="../media/image-14-2.png"/><Relationship Id="rId4" Type="http://schemas.openxmlformats.org/officeDocument/2006/relationships/image" Target="../media/image-14-3.png"/><Relationship Id="rId5" Type="http://schemas.openxmlformats.org/officeDocument/2006/relationships/image" Target="../media/image-14-4.png"/><Relationship Id="rId6" Type="http://schemas.openxmlformats.org/officeDocument/2006/relationships/slideLayout" Target="../slideLayouts/slideLayout4.xml"/><Relationship Id="rId7"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3.xml"/><Relationship Id="rId3"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2148840"/>
            <a:ext cx="7498080" cy="1097280"/>
          </a:xfrm>
          <a:prstGeom prst="rect">
            <a:avLst/>
          </a:prstGeom>
          <a:noFill/>
          <a:ln/>
        </p:spPr>
        <p:txBody>
          <a:bodyPr wrap="square" lIns="0" tIns="0" rIns="0" bIns="0" rtlCol="0" anchor="b"/>
          <a:lstStyle/>
          <a:p>
            <a:pPr algn="l" indent="0" marL="0">
              <a:buNone/>
            </a:pPr>
            <a:r>
              <a:rPr lang="en-US" sz="5400" b="1" dirty="0">
                <a:solidFill>
                  <a:schemeClr val="bg1"/>
                </a:solidFill>
              </a:rPr>
              <a:t>MediTrack</a:t>
            </a:r>
            <a:endParaRPr lang="en-US" sz="5400" dirty="0"/>
          </a:p>
        </p:txBody>
      </p:sp>
      <p:sp>
        <p:nvSpPr>
          <p:cNvPr id="3" name="Text 0"/>
          <p:cNvSpPr/>
          <p:nvPr>
            <p:ph idx="101" type="body" hasCustomPrompt="1"/>
          </p:nvPr>
        </p:nvSpPr>
        <p:spPr>
          <a:xfrm>
            <a:off x="731520" y="3337560"/>
            <a:ext cx="7498080" cy="640080"/>
          </a:xfrm>
          <a:prstGeom prst="rect">
            <a:avLst/>
          </a:prstGeom>
          <a:noFill/>
          <a:ln/>
        </p:spPr>
        <p:txBody>
          <a:bodyPr wrap="square" lIns="0" tIns="0" rIns="0" bIns="0" rtlCol="0" anchor="t"/>
          <a:lstStyle/>
          <a:p>
            <a:pPr algn="l" indent="0" marL="0">
              <a:buNone/>
            </a:pPr>
            <a:r>
              <a:rPr lang="en-US" sz="2400" dirty="0">
                <a:solidFill>
                  <a:schemeClr val="accent6"/>
                </a:solidFill>
              </a:rPr>
              <a:t>Diagnostic Clinic Management System</a:t>
            </a:r>
            <a:endParaRPr lang="en-US" sz="2400" dirty="0"/>
          </a:p>
        </p:txBody>
      </p:sp>
      <p:pic>
        <p:nvPicPr>
          <p:cNvPr id="4" name="MediTrack logo" descr="MediTrack logo">    </p:cNvPr>
          <p:cNvPicPr>
            <a:picLocks noChangeAspect="1"/>
          </p:cNvPicPr>
          <p:nvPr/>
        </p:nvPicPr>
        <p:blipFill>
          <a:blip r:embed="rId1"/>
          <a:stretch>
            <a:fillRect/>
          </a:stretch>
        </p:blipFill>
        <p:spPr>
          <a:xfrm>
            <a:off x="731520" y="1005840"/>
            <a:ext cx="914400" cy="914400"/>
          </a:xfrm>
          <a:prstGeom prst="rect">
            <a:avLst/>
          </a:prstGeom>
        </p:spPr>
      </p:pic>
      <p:sp>
        <p:nvSpPr>
          <p:cNvPr id="5" name="Text 2"/>
          <p:cNvSpPr txBox="1"/>
          <p:nvPr/>
        </p:nvSpPr>
        <p:spPr>
          <a:xfrm>
            <a:off x="731520" y="4069080"/>
            <a:ext cx="7772400" cy="365760"/>
          </a:xfrm>
          <a:prstGeom prst="rect">
            <a:avLst/>
          </a:prstGeom>
          <a:noFill/>
          <a:ln/>
        </p:spPr>
        <p:txBody>
          <a:bodyPr wrap="square" lIns="0" tIns="0" rIns="0" bIns="0" rtlCol="0" anchor="t"/>
          <a:lstStyle/>
          <a:p>
            <a:pPr indent="0" marL="0">
              <a:buNone/>
            </a:pPr>
            <a:r>
              <a:rPr lang="en-US" sz="1800" b="1" dirty="0">
                <a:solidFill>
                  <a:schemeClr val="bg1"/>
                </a:solidFill>
              </a:rPr>
              <a:t>Review III  ·  Integrated application and final build</a:t>
            </a:r>
            <a:endParaRPr lang="en-US" sz="1800" dirty="0"/>
          </a:p>
        </p:txBody>
      </p:sp>
      <p:sp>
        <p:nvSpPr>
          <p:cNvPr id="6" name="Text 3"/>
          <p:cNvSpPr txBox="1"/>
          <p:nvPr/>
        </p:nvSpPr>
        <p:spPr>
          <a:xfrm>
            <a:off x="731520" y="5349240"/>
            <a:ext cx="9601200" cy="640080"/>
          </a:xfrm>
          <a:prstGeom prst="rect">
            <a:avLst/>
          </a:prstGeom>
          <a:noFill/>
          <a:ln/>
        </p:spPr>
        <p:txBody>
          <a:bodyPr wrap="square" lIns="0" tIns="0" rIns="0" bIns="0" rtlCol="0" anchor="t"/>
          <a:lstStyle/>
          <a:p>
            <a:pPr indent="0" marL="0">
              <a:spcAft>
                <a:spcPts val="400"/>
              </a:spcAft>
              <a:buNone/>
            </a:pPr>
            <a:r>
              <a:rPr lang="en-US" sz="1300" dirty="0">
                <a:solidFill>
                  <a:schemeClr val="accent6"/>
                </a:solidFill>
              </a:rPr>
              <a:t>BCSE302L Database Systems  ·  School of Computer Science Engineering and Information Systems, VIT</a:t>
            </a:r>
            <a:endParaRPr lang="en-US" sz="1300" dirty="0"/>
          </a:p>
          <a:p>
            <a:pPr indent="0" marL="0">
              <a:spcAft>
                <a:spcPts val="400"/>
              </a:spcAft>
              <a:buNone/>
            </a:pPr>
            <a:r>
              <a:rPr lang="en-US" sz="1300" dirty="0">
                <a:solidFill>
                  <a:schemeClr val="accent6"/>
                </a:solidFill>
              </a:rPr>
              <a:t>Faculty: Thanga Marriapan  ·  [Student name(s) – Register number(s)]</a:t>
            </a:r>
            <a:endParaRPr lang="en-US" sz="1300" dirty="0"/>
          </a:p>
        </p:txBody>
      </p:sp>
      <p:sp>
        <p:nvSpPr>
          <p:cNvPr id="7" name="stack tile"/>
          <p:cNvSpPr/>
          <p:nvPr/>
        </p:nvSpPr>
        <p:spPr>
          <a:xfrm>
            <a:off x="8778240" y="1463040"/>
            <a:ext cx="2743200" cy="731520"/>
          </a:xfrm>
          <a:prstGeom prst="roundRect">
            <a:avLst>
              <a:gd name="adj" fmla="val 15000"/>
            </a:avLst>
          </a:prstGeom>
          <a:solidFill>
            <a:srgbClr val="17375F"/>
          </a:solidFill>
          <a:ln w="12700">
            <a:solidFill>
              <a:srgbClr val="2A5584"/>
            </a:solidFill>
            <a:prstDash val="solid"/>
          </a:ln>
        </p:spPr>
      </p:sp>
      <p:pic>
        <p:nvPicPr>
          <p:cNvPr id="8" name="stack icon" descr="preencoded.png">    </p:cNvPr>
          <p:cNvPicPr>
            <a:picLocks noChangeAspect="1"/>
          </p:cNvPicPr>
          <p:nvPr/>
        </p:nvPicPr>
        <p:blipFill>
          <a:blip r:embed="rId2"/>
          <a:stretch>
            <a:fillRect/>
          </a:stretch>
        </p:blipFill>
        <p:spPr>
          <a:xfrm>
            <a:off x="8961120" y="1645920"/>
            <a:ext cx="365760" cy="365760"/>
          </a:xfrm>
          <a:prstGeom prst="rect">
            <a:avLst/>
          </a:prstGeom>
        </p:spPr>
      </p:pic>
      <p:sp>
        <p:nvSpPr>
          <p:cNvPr id="9" name="Text 5"/>
          <p:cNvSpPr txBox="1"/>
          <p:nvPr/>
        </p:nvSpPr>
        <p:spPr>
          <a:xfrm>
            <a:off x="9464040" y="1463040"/>
            <a:ext cx="2011680" cy="731520"/>
          </a:xfrm>
          <a:prstGeom prst="rect">
            <a:avLst/>
          </a:prstGeom>
          <a:noFill/>
          <a:ln/>
        </p:spPr>
        <p:txBody>
          <a:bodyPr wrap="square" lIns="0" tIns="0" rIns="0" bIns="0" rtlCol="0" anchor="ctr"/>
          <a:lstStyle/>
          <a:p>
            <a:pPr indent="0" marL="0">
              <a:buNone/>
            </a:pPr>
            <a:r>
              <a:rPr lang="en-US" sz="1500" b="1" dirty="0">
                <a:solidFill>
                  <a:schemeClr val="bg1"/>
                </a:solidFill>
              </a:rPr>
              <a:t>Oracle SQL + PL/SQL</a:t>
            </a:r>
            <a:endParaRPr lang="en-US" sz="1500" dirty="0"/>
          </a:p>
        </p:txBody>
      </p:sp>
      <p:sp>
        <p:nvSpPr>
          <p:cNvPr id="10" name="stack tile"/>
          <p:cNvSpPr/>
          <p:nvPr/>
        </p:nvSpPr>
        <p:spPr>
          <a:xfrm>
            <a:off x="8778240" y="2423160"/>
            <a:ext cx="2743200" cy="731520"/>
          </a:xfrm>
          <a:prstGeom prst="roundRect">
            <a:avLst>
              <a:gd name="adj" fmla="val 15000"/>
            </a:avLst>
          </a:prstGeom>
          <a:solidFill>
            <a:srgbClr val="17375F"/>
          </a:solidFill>
          <a:ln w="12700">
            <a:solidFill>
              <a:srgbClr val="2A5584"/>
            </a:solidFill>
            <a:prstDash val="solid"/>
          </a:ln>
        </p:spPr>
      </p:sp>
      <p:pic>
        <p:nvPicPr>
          <p:cNvPr id="11" name="stack icon" descr="preencoded.png">    </p:cNvPr>
          <p:cNvPicPr>
            <a:picLocks noChangeAspect="1"/>
          </p:cNvPicPr>
          <p:nvPr/>
        </p:nvPicPr>
        <p:blipFill>
          <a:blip r:embed="rId3"/>
          <a:stretch>
            <a:fillRect/>
          </a:stretch>
        </p:blipFill>
        <p:spPr>
          <a:xfrm>
            <a:off x="8961120" y="2606040"/>
            <a:ext cx="365760" cy="365760"/>
          </a:xfrm>
          <a:prstGeom prst="rect">
            <a:avLst/>
          </a:prstGeom>
        </p:spPr>
      </p:pic>
      <p:sp>
        <p:nvSpPr>
          <p:cNvPr id="12" name="Text 7"/>
          <p:cNvSpPr txBox="1"/>
          <p:nvPr/>
        </p:nvSpPr>
        <p:spPr>
          <a:xfrm>
            <a:off x="9464040" y="2423160"/>
            <a:ext cx="2011680" cy="731520"/>
          </a:xfrm>
          <a:prstGeom prst="rect">
            <a:avLst/>
          </a:prstGeom>
          <a:noFill/>
          <a:ln/>
        </p:spPr>
        <p:txBody>
          <a:bodyPr wrap="square" lIns="0" tIns="0" rIns="0" bIns="0" rtlCol="0" anchor="ctr"/>
          <a:lstStyle/>
          <a:p>
            <a:pPr indent="0" marL="0">
              <a:buNone/>
            </a:pPr>
            <a:r>
              <a:rPr lang="en-US" sz="1500" b="1" dirty="0">
                <a:solidFill>
                  <a:schemeClr val="bg1"/>
                </a:solidFill>
              </a:rPr>
              <a:t>Python · oracledb</a:t>
            </a:r>
            <a:endParaRPr lang="en-US" sz="1500" dirty="0"/>
          </a:p>
        </p:txBody>
      </p:sp>
      <p:sp>
        <p:nvSpPr>
          <p:cNvPr id="13" name="stack tile"/>
          <p:cNvSpPr/>
          <p:nvPr/>
        </p:nvSpPr>
        <p:spPr>
          <a:xfrm>
            <a:off x="8778240" y="3383280"/>
            <a:ext cx="2743200" cy="731520"/>
          </a:xfrm>
          <a:prstGeom prst="roundRect">
            <a:avLst>
              <a:gd name="adj" fmla="val 15000"/>
            </a:avLst>
          </a:prstGeom>
          <a:solidFill>
            <a:srgbClr val="17375F"/>
          </a:solidFill>
          <a:ln w="12700">
            <a:solidFill>
              <a:srgbClr val="2A5584"/>
            </a:solidFill>
            <a:prstDash val="solid"/>
          </a:ln>
        </p:spPr>
      </p:sp>
      <p:pic>
        <p:nvPicPr>
          <p:cNvPr id="14" name="stack icon" descr="preencoded.png">    </p:cNvPr>
          <p:cNvPicPr>
            <a:picLocks noChangeAspect="1"/>
          </p:cNvPicPr>
          <p:nvPr/>
        </p:nvPicPr>
        <p:blipFill>
          <a:blip r:embed="rId4"/>
          <a:stretch>
            <a:fillRect/>
          </a:stretch>
        </p:blipFill>
        <p:spPr>
          <a:xfrm>
            <a:off x="8961120" y="3566160"/>
            <a:ext cx="365760" cy="365760"/>
          </a:xfrm>
          <a:prstGeom prst="rect">
            <a:avLst/>
          </a:prstGeom>
        </p:spPr>
      </p:pic>
      <p:sp>
        <p:nvSpPr>
          <p:cNvPr id="15" name="Text 9"/>
          <p:cNvSpPr txBox="1"/>
          <p:nvPr/>
        </p:nvSpPr>
        <p:spPr>
          <a:xfrm>
            <a:off x="9464040" y="3383280"/>
            <a:ext cx="2011680" cy="731520"/>
          </a:xfrm>
          <a:prstGeom prst="rect">
            <a:avLst/>
          </a:prstGeom>
          <a:noFill/>
          <a:ln/>
        </p:spPr>
        <p:txBody>
          <a:bodyPr wrap="square" lIns="0" tIns="0" rIns="0" bIns="0" rtlCol="0" anchor="ctr"/>
          <a:lstStyle/>
          <a:p>
            <a:pPr indent="0" marL="0">
              <a:buNone/>
            </a:pPr>
            <a:r>
              <a:rPr lang="en-US" sz="1500" b="1" dirty="0">
                <a:solidFill>
                  <a:schemeClr val="bg1"/>
                </a:solidFill>
              </a:rPr>
              <a:t>Streamlit + CLI</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lIns="0" tIns="0" rIns="0" bIns="0" rtlCol="0" anchor="ctr"/>
          <a:lstStyle/>
          <a:p>
            <a:pPr algn="l" indent="0" marL="0">
              <a:buNone/>
            </a:pPr>
            <a:r>
              <a:rPr lang="en-US" sz="3200" b="1" dirty="0">
                <a:solidFill>
                  <a:schemeClr val="tx1"/>
                </a:solidFill>
              </a:rPr>
              <a:t>The clinic's rules now live in the database</a:t>
            </a:r>
            <a:endParaRPr lang="en-US" sz="3200" dirty="0"/>
          </a:p>
        </p:txBody>
      </p:sp>
      <p:sp>
        <p:nvSpPr>
          <p:cNvPr id="3" name="Text 1"/>
          <p:cNvSpPr txBox="1"/>
          <p:nvPr/>
        </p:nvSpPr>
        <p:spPr>
          <a:xfrm>
            <a:off x="548640" y="1325880"/>
            <a:ext cx="5852160" cy="320040"/>
          </a:xfrm>
          <a:prstGeom prst="rect">
            <a:avLst/>
          </a:prstGeom>
          <a:noFill/>
          <a:ln/>
        </p:spPr>
        <p:txBody>
          <a:bodyPr wrap="square" lIns="0" tIns="0" rIns="0" bIns="0" rtlCol="0" anchor="t"/>
          <a:lstStyle/>
          <a:p>
            <a:pPr indent="0" marL="0">
              <a:buNone/>
            </a:pPr>
            <a:r>
              <a:rPr lang="en-US" sz="1400" b="1" dirty="0">
                <a:solidFill>
                  <a:schemeClr val="accent5"/>
                </a:solidFill>
              </a:rPr>
              <a:t>Problem at the clinic  →  what enforces the fix</a:t>
            </a:r>
            <a:endParaRPr lang="en-US" sz="1400" dirty="0"/>
          </a:p>
        </p:txBody>
      </p:sp>
      <p:sp>
        <p:nvSpPr>
          <p:cNvPr id="4" name="icon circle"/>
          <p:cNvSpPr/>
          <p:nvPr/>
        </p:nvSpPr>
        <p:spPr>
          <a:xfrm>
            <a:off x="548640" y="1783080"/>
            <a:ext cx="685800" cy="685800"/>
          </a:xfrm>
          <a:prstGeom prst="ellipse">
            <a:avLst/>
          </a:prstGeom>
          <a:solidFill>
            <a:srgbClr val="F1F7FD"/>
          </a:solidFill>
          <a:ln w="12700">
            <a:solidFill>
              <a:srgbClr val="F1F7FD"/>
            </a:solidFill>
            <a:prstDash val="solid"/>
          </a:ln>
        </p:spPr>
      </p:sp>
      <p:pic>
        <p:nvPicPr>
          <p:cNvPr id="5" name="icon" descr="preencoded.png">    </p:cNvPr>
          <p:cNvPicPr>
            <a:picLocks noChangeAspect="1"/>
          </p:cNvPicPr>
          <p:nvPr/>
        </p:nvPicPr>
        <p:blipFill>
          <a:blip r:embed="rId1"/>
          <a:stretch>
            <a:fillRect/>
          </a:stretch>
        </p:blipFill>
        <p:spPr>
          <a:xfrm>
            <a:off x="699516" y="1933956"/>
            <a:ext cx="384048" cy="384048"/>
          </a:xfrm>
          <a:prstGeom prst="rect">
            <a:avLst/>
          </a:prstGeom>
        </p:spPr>
      </p:pic>
      <p:sp>
        <p:nvSpPr>
          <p:cNvPr id="6" name="Text 3"/>
          <p:cNvSpPr txBox="1"/>
          <p:nvPr/>
        </p:nvSpPr>
        <p:spPr>
          <a:xfrm>
            <a:off x="1417320" y="1801368"/>
            <a:ext cx="4937760" cy="320040"/>
          </a:xfrm>
          <a:prstGeom prst="rect">
            <a:avLst/>
          </a:prstGeom>
          <a:noFill/>
          <a:ln/>
        </p:spPr>
        <p:txBody>
          <a:bodyPr wrap="square" lIns="0" tIns="0" rIns="0" bIns="0" rtlCol="0" anchor="t"/>
          <a:lstStyle/>
          <a:p>
            <a:pPr indent="0" marL="0">
              <a:buNone/>
            </a:pPr>
            <a:r>
              <a:rPr lang="en-US" sz="1700" b="1" dirty="0">
                <a:solidFill>
                  <a:schemeClr val="tx1"/>
                </a:solidFill>
              </a:rPr>
              <a:t>Double booking</a:t>
            </a:r>
            <a:endParaRPr lang="en-US" sz="1700" dirty="0"/>
          </a:p>
        </p:txBody>
      </p:sp>
      <p:sp>
        <p:nvSpPr>
          <p:cNvPr id="7" name="Text 4"/>
          <p:cNvSpPr txBox="1"/>
          <p:nvPr/>
        </p:nvSpPr>
        <p:spPr>
          <a:xfrm>
            <a:off x="1417320" y="2148840"/>
            <a:ext cx="4937760" cy="320040"/>
          </a:xfrm>
          <a:prstGeom prst="rect">
            <a:avLst/>
          </a:prstGeom>
          <a:noFill/>
          <a:ln/>
        </p:spPr>
        <p:txBody>
          <a:bodyPr wrap="square" lIns="0" tIns="0" rIns="0" bIns="0" rtlCol="0" anchor="t"/>
          <a:lstStyle/>
          <a:p>
            <a:pPr indent="0" marL="0">
              <a:buNone/>
            </a:pPr>
            <a:r>
              <a:rPr lang="en-US" sz="1400" dirty="0">
                <a:solidFill>
                  <a:schemeClr val="accent5"/>
                </a:solidFill>
              </a:rPr>
              <a:t>trg_no_double_booking rejects a clash (ORA-20003)</a:t>
            </a:r>
            <a:endParaRPr lang="en-US" sz="1400" dirty="0"/>
          </a:p>
        </p:txBody>
      </p:sp>
      <p:sp>
        <p:nvSpPr>
          <p:cNvPr id="8" name="icon circle"/>
          <p:cNvSpPr/>
          <p:nvPr/>
        </p:nvSpPr>
        <p:spPr>
          <a:xfrm>
            <a:off x="548640" y="2862072"/>
            <a:ext cx="685800" cy="685800"/>
          </a:xfrm>
          <a:prstGeom prst="ellipse">
            <a:avLst/>
          </a:prstGeom>
          <a:solidFill>
            <a:srgbClr val="F1F7FD"/>
          </a:solidFill>
          <a:ln w="12700">
            <a:solidFill>
              <a:srgbClr val="F1F7FD"/>
            </a:solidFill>
            <a:prstDash val="solid"/>
          </a:ln>
        </p:spPr>
      </p:sp>
      <p:pic>
        <p:nvPicPr>
          <p:cNvPr id="9" name="icon" descr="preencoded.png">    </p:cNvPr>
          <p:cNvPicPr>
            <a:picLocks noChangeAspect="1"/>
          </p:cNvPicPr>
          <p:nvPr/>
        </p:nvPicPr>
        <p:blipFill>
          <a:blip r:embed="rId2"/>
          <a:stretch>
            <a:fillRect/>
          </a:stretch>
        </p:blipFill>
        <p:spPr>
          <a:xfrm>
            <a:off x="699516" y="3012948"/>
            <a:ext cx="384048" cy="384048"/>
          </a:xfrm>
          <a:prstGeom prst="rect">
            <a:avLst/>
          </a:prstGeom>
        </p:spPr>
      </p:pic>
      <p:sp>
        <p:nvSpPr>
          <p:cNvPr id="10" name="Text 6"/>
          <p:cNvSpPr txBox="1"/>
          <p:nvPr/>
        </p:nvSpPr>
        <p:spPr>
          <a:xfrm>
            <a:off x="1417320" y="2880360"/>
            <a:ext cx="4937760" cy="320040"/>
          </a:xfrm>
          <a:prstGeom prst="rect">
            <a:avLst/>
          </a:prstGeom>
          <a:noFill/>
          <a:ln/>
        </p:spPr>
        <p:txBody>
          <a:bodyPr wrap="square" lIns="0" tIns="0" rIns="0" bIns="0" rtlCol="0" anchor="t"/>
          <a:lstStyle/>
          <a:p>
            <a:pPr indent="0" marL="0">
              <a:buNone/>
            </a:pPr>
            <a:r>
              <a:rPr lang="en-US" sz="1700" b="1" dirty="0">
                <a:solidFill>
                  <a:schemeClr val="tx1"/>
                </a:solidFill>
              </a:rPr>
              <a:t>Lost or delayed samples</a:t>
            </a:r>
            <a:endParaRPr lang="en-US" sz="1700" dirty="0"/>
          </a:p>
        </p:txBody>
      </p:sp>
      <p:sp>
        <p:nvSpPr>
          <p:cNvPr id="11" name="Text 7"/>
          <p:cNvSpPr txBox="1"/>
          <p:nvPr/>
        </p:nvSpPr>
        <p:spPr>
          <a:xfrm>
            <a:off x="1417320" y="3227832"/>
            <a:ext cx="4937760" cy="320040"/>
          </a:xfrm>
          <a:prstGeom prst="rect">
            <a:avLst/>
          </a:prstGeom>
          <a:noFill/>
          <a:ln/>
        </p:spPr>
        <p:txBody>
          <a:bodyPr wrap="square" lIns="0" tIns="0" rIns="0" bIns="0" rtlCol="0" anchor="t"/>
          <a:lstStyle/>
          <a:p>
            <a:pPr indent="0" marL="0">
              <a:buNone/>
            </a:pPr>
            <a:r>
              <a:rPr lang="en-US" sz="1400" dirty="0">
                <a:solidFill>
                  <a:schemeClr val="accent5"/>
                </a:solidFill>
              </a:rPr>
              <a:t>SAMPLE status + Q2 lists samples past turnaround</a:t>
            </a:r>
            <a:endParaRPr lang="en-US" sz="1400" dirty="0"/>
          </a:p>
        </p:txBody>
      </p:sp>
      <p:sp>
        <p:nvSpPr>
          <p:cNvPr id="12" name="icon circle"/>
          <p:cNvSpPr/>
          <p:nvPr/>
        </p:nvSpPr>
        <p:spPr>
          <a:xfrm>
            <a:off x="548640" y="3941064"/>
            <a:ext cx="685800" cy="685800"/>
          </a:xfrm>
          <a:prstGeom prst="ellipse">
            <a:avLst/>
          </a:prstGeom>
          <a:solidFill>
            <a:srgbClr val="F1F7FD"/>
          </a:solidFill>
          <a:ln w="12700">
            <a:solidFill>
              <a:srgbClr val="F1F7FD"/>
            </a:solidFill>
            <a:prstDash val="solid"/>
          </a:ln>
        </p:spPr>
      </p:sp>
      <p:pic>
        <p:nvPicPr>
          <p:cNvPr id="13" name="icon" descr="preencoded.png">    </p:cNvPr>
          <p:cNvPicPr>
            <a:picLocks noChangeAspect="1"/>
          </p:cNvPicPr>
          <p:nvPr/>
        </p:nvPicPr>
        <p:blipFill>
          <a:blip r:embed="rId3"/>
          <a:stretch>
            <a:fillRect/>
          </a:stretch>
        </p:blipFill>
        <p:spPr>
          <a:xfrm>
            <a:off x="699516" y="4091940"/>
            <a:ext cx="384048" cy="384048"/>
          </a:xfrm>
          <a:prstGeom prst="rect">
            <a:avLst/>
          </a:prstGeom>
        </p:spPr>
      </p:pic>
      <p:sp>
        <p:nvSpPr>
          <p:cNvPr id="14" name="Text 9"/>
          <p:cNvSpPr txBox="1"/>
          <p:nvPr/>
        </p:nvSpPr>
        <p:spPr>
          <a:xfrm>
            <a:off x="1417320" y="3959352"/>
            <a:ext cx="4937760" cy="320040"/>
          </a:xfrm>
          <a:prstGeom prst="rect">
            <a:avLst/>
          </a:prstGeom>
          <a:noFill/>
          <a:ln/>
        </p:spPr>
        <p:txBody>
          <a:bodyPr wrap="square" lIns="0" tIns="0" rIns="0" bIns="0" rtlCol="0" anchor="t"/>
          <a:lstStyle/>
          <a:p>
            <a:pPr indent="0" marL="0">
              <a:buNone/>
            </a:pPr>
            <a:r>
              <a:rPr lang="en-US" sz="1700" b="1" dirty="0">
                <a:solidFill>
                  <a:schemeClr val="tx1"/>
                </a:solidFill>
              </a:rPr>
              <a:t>Missed abnormal values</a:t>
            </a:r>
            <a:endParaRPr lang="en-US" sz="1700" dirty="0"/>
          </a:p>
        </p:txBody>
      </p:sp>
      <p:sp>
        <p:nvSpPr>
          <p:cNvPr id="15" name="Text 10"/>
          <p:cNvSpPr txBox="1"/>
          <p:nvPr/>
        </p:nvSpPr>
        <p:spPr>
          <a:xfrm>
            <a:off x="1417320" y="4306824"/>
            <a:ext cx="4937760" cy="320040"/>
          </a:xfrm>
          <a:prstGeom prst="rect">
            <a:avLst/>
          </a:prstGeom>
          <a:noFill/>
          <a:ln/>
        </p:spPr>
        <p:txBody>
          <a:bodyPr wrap="square" lIns="0" tIns="0" rIns="0" bIns="0" rtlCol="0" anchor="t"/>
          <a:lstStyle/>
          <a:p>
            <a:pPr indent="0" marL="0">
              <a:buNone/>
            </a:pPr>
            <a:r>
              <a:rPr lang="en-US" sz="1400" dirty="0">
                <a:solidFill>
                  <a:schemeClr val="accent5"/>
                </a:solidFill>
              </a:rPr>
              <a:t>trg_flag_result sets LOW / NORMAL / HIGH itself</a:t>
            </a:r>
            <a:endParaRPr lang="en-US" sz="1400" dirty="0"/>
          </a:p>
        </p:txBody>
      </p:sp>
      <p:sp>
        <p:nvSpPr>
          <p:cNvPr id="16" name="icon circle"/>
          <p:cNvSpPr/>
          <p:nvPr/>
        </p:nvSpPr>
        <p:spPr>
          <a:xfrm>
            <a:off x="548640" y="5020056"/>
            <a:ext cx="685800" cy="685800"/>
          </a:xfrm>
          <a:prstGeom prst="ellipse">
            <a:avLst/>
          </a:prstGeom>
          <a:solidFill>
            <a:srgbClr val="F1F7FD"/>
          </a:solidFill>
          <a:ln w="12700">
            <a:solidFill>
              <a:srgbClr val="F1F7FD"/>
            </a:solidFill>
            <a:prstDash val="solid"/>
          </a:ln>
        </p:spPr>
      </p:sp>
      <p:pic>
        <p:nvPicPr>
          <p:cNvPr id="17" name="icon" descr="preencoded.png">    </p:cNvPr>
          <p:cNvPicPr>
            <a:picLocks noChangeAspect="1"/>
          </p:cNvPicPr>
          <p:nvPr/>
        </p:nvPicPr>
        <p:blipFill>
          <a:blip r:embed="rId4"/>
          <a:stretch>
            <a:fillRect/>
          </a:stretch>
        </p:blipFill>
        <p:spPr>
          <a:xfrm>
            <a:off x="699516" y="5170932"/>
            <a:ext cx="384048" cy="384048"/>
          </a:xfrm>
          <a:prstGeom prst="rect">
            <a:avLst/>
          </a:prstGeom>
        </p:spPr>
      </p:pic>
      <p:sp>
        <p:nvSpPr>
          <p:cNvPr id="18" name="Text 12"/>
          <p:cNvSpPr txBox="1"/>
          <p:nvPr/>
        </p:nvSpPr>
        <p:spPr>
          <a:xfrm>
            <a:off x="1417320" y="5038344"/>
            <a:ext cx="4937760" cy="320040"/>
          </a:xfrm>
          <a:prstGeom prst="rect">
            <a:avLst/>
          </a:prstGeom>
          <a:noFill/>
          <a:ln/>
        </p:spPr>
        <p:txBody>
          <a:bodyPr wrap="square" lIns="0" tIns="0" rIns="0" bIns="0" rtlCol="0" anchor="t"/>
          <a:lstStyle/>
          <a:p>
            <a:pPr indent="0" marL="0">
              <a:buNone/>
            </a:pPr>
            <a:r>
              <a:rPr lang="en-US" sz="1700" b="1" dirty="0">
                <a:solidFill>
                  <a:schemeClr val="tx1"/>
                </a:solidFill>
              </a:rPr>
              <a:t>Billing errors and untraced dues</a:t>
            </a:r>
            <a:endParaRPr lang="en-US" sz="1700" dirty="0"/>
          </a:p>
        </p:txBody>
      </p:sp>
      <p:sp>
        <p:nvSpPr>
          <p:cNvPr id="19" name="Text 13"/>
          <p:cNvSpPr txBox="1"/>
          <p:nvPr/>
        </p:nvSpPr>
        <p:spPr>
          <a:xfrm>
            <a:off x="1417320" y="5385816"/>
            <a:ext cx="4937760" cy="320040"/>
          </a:xfrm>
          <a:prstGeom prst="rect">
            <a:avLst/>
          </a:prstGeom>
          <a:noFill/>
          <a:ln/>
        </p:spPr>
        <p:txBody>
          <a:bodyPr wrap="square" lIns="0" tIns="0" rIns="0" bIns="0" rtlCol="0" anchor="t"/>
          <a:lstStyle/>
          <a:p>
            <a:pPr indent="0" marL="0">
              <a:buNone/>
            </a:pPr>
            <a:r>
              <a:rPr lang="en-US" sz="1400" dirty="0">
                <a:solidFill>
                  <a:schemeClr val="accent5"/>
                </a:solidFill>
              </a:rPr>
              <a:t>generate_bill, ck_bill_total_amt, patient_total_due</a:t>
            </a:r>
            <a:endParaRPr lang="en-US" sz="1400" dirty="0"/>
          </a:p>
        </p:txBody>
      </p:sp>
      <p:sp>
        <p:nvSpPr>
          <p:cNvPr id="20" name="card"/>
          <p:cNvSpPr/>
          <p:nvPr/>
        </p:nvSpPr>
        <p:spPr>
          <a:xfrm>
            <a:off x="6812280" y="1371600"/>
            <a:ext cx="2286000" cy="1417320"/>
          </a:xfrm>
          <a:prstGeom prst="roundRect">
            <a:avLst>
              <a:gd name="adj" fmla="val 6452"/>
            </a:avLst>
          </a:prstGeom>
          <a:solidFill>
            <a:schemeClr val="bg2"/>
          </a:solidFill>
          <a:ln w="12700">
            <a:solidFill>
              <a:schemeClr val="accent6"/>
            </a:solidFill>
            <a:prstDash val="solid"/>
          </a:ln>
        </p:spPr>
      </p:sp>
      <p:sp>
        <p:nvSpPr>
          <p:cNvPr id="21" name="Text 15"/>
          <p:cNvSpPr txBox="1"/>
          <p:nvPr/>
        </p:nvSpPr>
        <p:spPr>
          <a:xfrm>
            <a:off x="7040880" y="1481328"/>
            <a:ext cx="1828800" cy="685800"/>
          </a:xfrm>
          <a:prstGeom prst="rect">
            <a:avLst/>
          </a:prstGeom>
          <a:noFill/>
          <a:ln/>
        </p:spPr>
        <p:txBody>
          <a:bodyPr wrap="square" lIns="0" tIns="0" rIns="0" bIns="0" rtlCol="0" anchor="t"/>
          <a:lstStyle/>
          <a:p>
            <a:pPr indent="0" marL="0">
              <a:buNone/>
            </a:pPr>
            <a:r>
              <a:rPr lang="en-US" sz="4000" b="1" dirty="0">
                <a:solidFill>
                  <a:schemeClr val="accent1"/>
                </a:solidFill>
              </a:rPr>
              <a:t>7</a:t>
            </a:r>
            <a:endParaRPr lang="en-US" sz="4000" dirty="0"/>
          </a:p>
        </p:txBody>
      </p:sp>
      <p:sp>
        <p:nvSpPr>
          <p:cNvPr id="22" name="Text 16"/>
          <p:cNvSpPr txBox="1"/>
          <p:nvPr/>
        </p:nvSpPr>
        <p:spPr>
          <a:xfrm>
            <a:off x="7040880" y="2148840"/>
            <a:ext cx="1920240" cy="548640"/>
          </a:xfrm>
          <a:prstGeom prst="rect">
            <a:avLst/>
          </a:prstGeom>
          <a:noFill/>
          <a:ln/>
        </p:spPr>
        <p:txBody>
          <a:bodyPr wrap="square" lIns="0" tIns="0" rIns="0" bIns="0" rtlCol="0" anchor="t"/>
          <a:lstStyle/>
          <a:p>
            <a:pPr indent="0" marL="0">
              <a:buNone/>
            </a:pPr>
            <a:r>
              <a:rPr lang="en-US" sz="1200" dirty="0">
                <a:solidFill>
                  <a:schemeClr val="tx1"/>
                </a:solidFill>
              </a:rPr>
              <a:t>tables in BCNF,</a:t>
            </a:r>
            <a:endParaRPr lang="en-US" sz="1200" dirty="0"/>
          </a:p>
          <a:p>
            <a:pPr indent="0" marL="0">
              <a:buNone/>
            </a:pPr>
            <a:r>
              <a:rPr lang="en-US" sz="1200" dirty="0">
                <a:solidFill>
                  <a:schemeClr val="tx1"/>
                </a:solidFill>
              </a:rPr>
              <a:t>7 PK + 7 FK</a:t>
            </a:r>
            <a:endParaRPr lang="en-US" sz="1200" dirty="0"/>
          </a:p>
        </p:txBody>
      </p:sp>
      <p:sp>
        <p:nvSpPr>
          <p:cNvPr id="23" name="card"/>
          <p:cNvSpPr/>
          <p:nvPr/>
        </p:nvSpPr>
        <p:spPr>
          <a:xfrm>
            <a:off x="9281160" y="1371600"/>
            <a:ext cx="2286000" cy="1417320"/>
          </a:xfrm>
          <a:prstGeom prst="roundRect">
            <a:avLst>
              <a:gd name="adj" fmla="val 6452"/>
            </a:avLst>
          </a:prstGeom>
          <a:solidFill>
            <a:schemeClr val="bg2"/>
          </a:solidFill>
          <a:ln w="12700">
            <a:solidFill>
              <a:schemeClr val="accent6"/>
            </a:solidFill>
            <a:prstDash val="solid"/>
          </a:ln>
        </p:spPr>
      </p:sp>
      <p:sp>
        <p:nvSpPr>
          <p:cNvPr id="24" name="Text 18"/>
          <p:cNvSpPr txBox="1"/>
          <p:nvPr/>
        </p:nvSpPr>
        <p:spPr>
          <a:xfrm>
            <a:off x="9509760" y="1481328"/>
            <a:ext cx="1828800" cy="685800"/>
          </a:xfrm>
          <a:prstGeom prst="rect">
            <a:avLst/>
          </a:prstGeom>
          <a:noFill/>
          <a:ln/>
        </p:spPr>
        <p:txBody>
          <a:bodyPr wrap="square" lIns="0" tIns="0" rIns="0" bIns="0" rtlCol="0" anchor="t"/>
          <a:lstStyle/>
          <a:p>
            <a:pPr indent="0" marL="0">
              <a:buNone/>
            </a:pPr>
            <a:r>
              <a:rPr lang="en-US" sz="4000" b="1" dirty="0">
                <a:solidFill>
                  <a:schemeClr val="accent1"/>
                </a:solidFill>
              </a:rPr>
              <a:t>85</a:t>
            </a:r>
            <a:endParaRPr lang="en-US" sz="4000" dirty="0"/>
          </a:p>
        </p:txBody>
      </p:sp>
      <p:sp>
        <p:nvSpPr>
          <p:cNvPr id="25" name="Text 19"/>
          <p:cNvSpPr txBox="1"/>
          <p:nvPr/>
        </p:nvSpPr>
        <p:spPr>
          <a:xfrm>
            <a:off x="9509760" y="2148840"/>
            <a:ext cx="1920240" cy="548640"/>
          </a:xfrm>
          <a:prstGeom prst="rect">
            <a:avLst/>
          </a:prstGeom>
          <a:noFill/>
          <a:ln/>
        </p:spPr>
        <p:txBody>
          <a:bodyPr wrap="square" lIns="0" tIns="0" rIns="0" bIns="0" rtlCol="0" anchor="t"/>
          <a:lstStyle/>
          <a:p>
            <a:pPr indent="0" marL="0">
              <a:buNone/>
            </a:pPr>
            <a:r>
              <a:rPr lang="en-US" sz="1200" dirty="0">
                <a:solidFill>
                  <a:schemeClr val="tx1"/>
                </a:solidFill>
              </a:rPr>
              <a:t>named constraints,</a:t>
            </a:r>
            <a:endParaRPr lang="en-US" sz="1200" dirty="0"/>
          </a:p>
          <a:p>
            <a:pPr indent="0" marL="0">
              <a:buNone/>
            </a:pPr>
            <a:r>
              <a:rPr lang="en-US" sz="1200" dirty="0">
                <a:solidFill>
                  <a:schemeClr val="tx1"/>
                </a:solidFill>
              </a:rPr>
              <a:t>all VALID</a:t>
            </a:r>
            <a:endParaRPr lang="en-US" sz="1200" dirty="0"/>
          </a:p>
        </p:txBody>
      </p:sp>
      <p:sp>
        <p:nvSpPr>
          <p:cNvPr id="26" name="card"/>
          <p:cNvSpPr/>
          <p:nvPr/>
        </p:nvSpPr>
        <p:spPr>
          <a:xfrm>
            <a:off x="6812280" y="2971800"/>
            <a:ext cx="2286000" cy="1417320"/>
          </a:xfrm>
          <a:prstGeom prst="roundRect">
            <a:avLst>
              <a:gd name="adj" fmla="val 6452"/>
            </a:avLst>
          </a:prstGeom>
          <a:solidFill>
            <a:schemeClr val="bg2"/>
          </a:solidFill>
          <a:ln w="12700">
            <a:solidFill>
              <a:schemeClr val="accent6"/>
            </a:solidFill>
            <a:prstDash val="solid"/>
          </a:ln>
        </p:spPr>
      </p:sp>
      <p:sp>
        <p:nvSpPr>
          <p:cNvPr id="27" name="Text 21"/>
          <p:cNvSpPr txBox="1"/>
          <p:nvPr/>
        </p:nvSpPr>
        <p:spPr>
          <a:xfrm>
            <a:off x="7040880" y="3081528"/>
            <a:ext cx="1828800" cy="685800"/>
          </a:xfrm>
          <a:prstGeom prst="rect">
            <a:avLst/>
          </a:prstGeom>
          <a:noFill/>
          <a:ln/>
        </p:spPr>
        <p:txBody>
          <a:bodyPr wrap="square" lIns="0" tIns="0" rIns="0" bIns="0" rtlCol="0" anchor="t"/>
          <a:lstStyle/>
          <a:p>
            <a:pPr indent="0" marL="0">
              <a:buNone/>
            </a:pPr>
            <a:r>
              <a:rPr lang="en-US" sz="4000" b="1" dirty="0">
                <a:solidFill>
                  <a:schemeClr val="accent1"/>
                </a:solidFill>
              </a:rPr>
              <a:t>9</a:t>
            </a:r>
            <a:endParaRPr lang="en-US" sz="4000" dirty="0"/>
          </a:p>
        </p:txBody>
      </p:sp>
      <p:sp>
        <p:nvSpPr>
          <p:cNvPr id="28" name="Text 22"/>
          <p:cNvSpPr txBox="1"/>
          <p:nvPr/>
        </p:nvSpPr>
        <p:spPr>
          <a:xfrm>
            <a:off x="7040880" y="3749040"/>
            <a:ext cx="1920240" cy="548640"/>
          </a:xfrm>
          <a:prstGeom prst="rect">
            <a:avLst/>
          </a:prstGeom>
          <a:noFill/>
          <a:ln/>
        </p:spPr>
        <p:txBody>
          <a:bodyPr wrap="square" lIns="0" tIns="0" rIns="0" bIns="0" rtlCol="0" anchor="t"/>
          <a:lstStyle/>
          <a:p>
            <a:pPr indent="0" marL="0">
              <a:buNone/>
            </a:pPr>
            <a:r>
              <a:rPr lang="en-US" sz="1200" dirty="0">
                <a:solidFill>
                  <a:schemeClr val="tx1"/>
                </a:solidFill>
              </a:rPr>
              <a:t>PL/SQL units: 4 procs,</a:t>
            </a:r>
            <a:endParaRPr lang="en-US" sz="1200" dirty="0"/>
          </a:p>
          <a:p>
            <a:pPr indent="0" marL="0">
              <a:buNone/>
            </a:pPr>
            <a:r>
              <a:rPr lang="en-US" sz="1200" dirty="0">
                <a:solidFill>
                  <a:schemeClr val="tx1"/>
                </a:solidFill>
              </a:rPr>
              <a:t>2 functions, 3 triggers</a:t>
            </a:r>
            <a:endParaRPr lang="en-US" sz="1200" dirty="0"/>
          </a:p>
        </p:txBody>
      </p:sp>
      <p:sp>
        <p:nvSpPr>
          <p:cNvPr id="29" name="card"/>
          <p:cNvSpPr/>
          <p:nvPr/>
        </p:nvSpPr>
        <p:spPr>
          <a:xfrm>
            <a:off x="9281160" y="2971800"/>
            <a:ext cx="2286000" cy="1417320"/>
          </a:xfrm>
          <a:prstGeom prst="roundRect">
            <a:avLst>
              <a:gd name="adj" fmla="val 6452"/>
            </a:avLst>
          </a:prstGeom>
          <a:solidFill>
            <a:schemeClr val="bg2"/>
          </a:solidFill>
          <a:ln w="12700">
            <a:solidFill>
              <a:schemeClr val="accent6"/>
            </a:solidFill>
            <a:prstDash val="solid"/>
          </a:ln>
        </p:spPr>
      </p:sp>
      <p:sp>
        <p:nvSpPr>
          <p:cNvPr id="30" name="Text 24"/>
          <p:cNvSpPr txBox="1"/>
          <p:nvPr/>
        </p:nvSpPr>
        <p:spPr>
          <a:xfrm>
            <a:off x="9509760" y="3081528"/>
            <a:ext cx="1828800" cy="685800"/>
          </a:xfrm>
          <a:prstGeom prst="rect">
            <a:avLst/>
          </a:prstGeom>
          <a:noFill/>
          <a:ln/>
        </p:spPr>
        <p:txBody>
          <a:bodyPr wrap="square" lIns="0" tIns="0" rIns="0" bIns="0" rtlCol="0" anchor="t"/>
          <a:lstStyle/>
          <a:p>
            <a:pPr indent="0" marL="0">
              <a:buNone/>
            </a:pPr>
            <a:r>
              <a:rPr lang="en-US" sz="4000" b="1" dirty="0">
                <a:solidFill>
                  <a:schemeClr val="accent1"/>
                </a:solidFill>
              </a:rPr>
              <a:t>15</a:t>
            </a:r>
            <a:endParaRPr lang="en-US" sz="4000" dirty="0"/>
          </a:p>
        </p:txBody>
      </p:sp>
      <p:sp>
        <p:nvSpPr>
          <p:cNvPr id="31" name="Text 25"/>
          <p:cNvSpPr txBox="1"/>
          <p:nvPr/>
        </p:nvSpPr>
        <p:spPr>
          <a:xfrm>
            <a:off x="9509760" y="3749040"/>
            <a:ext cx="1920240" cy="548640"/>
          </a:xfrm>
          <a:prstGeom prst="rect">
            <a:avLst/>
          </a:prstGeom>
          <a:noFill/>
          <a:ln/>
        </p:spPr>
        <p:txBody>
          <a:bodyPr wrap="square" lIns="0" tIns="0" rIns="0" bIns="0" rtlCol="0" anchor="t"/>
          <a:lstStyle/>
          <a:p>
            <a:pPr indent="0" marL="0">
              <a:buNone/>
            </a:pPr>
            <a:r>
              <a:rPr lang="en-US" sz="1200" dirty="0">
                <a:solidFill>
                  <a:schemeClr val="tx1"/>
                </a:solidFill>
              </a:rPr>
              <a:t>queries, each mapped</a:t>
            </a:r>
            <a:endParaRPr lang="en-US" sz="1200" dirty="0"/>
          </a:p>
          <a:p>
            <a:pPr indent="0" marL="0">
              <a:buNone/>
            </a:pPr>
            <a:r>
              <a:rPr lang="en-US" sz="1200" dirty="0">
                <a:solidFill>
                  <a:schemeClr val="tx1"/>
                </a:solidFill>
              </a:rPr>
              <a:t>to a requirement</a:t>
            </a:r>
            <a:endParaRPr lang="en-US" sz="1200" dirty="0"/>
          </a:p>
        </p:txBody>
      </p:sp>
      <p:sp>
        <p:nvSpPr>
          <p:cNvPr id="32" name="card"/>
          <p:cNvSpPr/>
          <p:nvPr/>
        </p:nvSpPr>
        <p:spPr>
          <a:xfrm>
            <a:off x="6812280" y="4572000"/>
            <a:ext cx="2286000" cy="1417320"/>
          </a:xfrm>
          <a:prstGeom prst="roundRect">
            <a:avLst>
              <a:gd name="adj" fmla="val 6452"/>
            </a:avLst>
          </a:prstGeom>
          <a:solidFill>
            <a:schemeClr val="bg2"/>
          </a:solidFill>
          <a:ln w="12700">
            <a:solidFill>
              <a:schemeClr val="accent6"/>
            </a:solidFill>
            <a:prstDash val="solid"/>
          </a:ln>
        </p:spPr>
      </p:sp>
      <p:sp>
        <p:nvSpPr>
          <p:cNvPr id="33" name="Text 27"/>
          <p:cNvSpPr txBox="1"/>
          <p:nvPr/>
        </p:nvSpPr>
        <p:spPr>
          <a:xfrm>
            <a:off x="7040880" y="4681728"/>
            <a:ext cx="1828800" cy="685800"/>
          </a:xfrm>
          <a:prstGeom prst="rect">
            <a:avLst/>
          </a:prstGeom>
          <a:noFill/>
          <a:ln/>
        </p:spPr>
        <p:txBody>
          <a:bodyPr wrap="square" lIns="0" tIns="0" rIns="0" bIns="0" rtlCol="0" anchor="t"/>
          <a:lstStyle/>
          <a:p>
            <a:pPr indent="0" marL="0">
              <a:buNone/>
            </a:pPr>
            <a:r>
              <a:rPr lang="en-US" sz="4000" b="1" dirty="0">
                <a:solidFill>
                  <a:schemeClr val="accent1"/>
                </a:solidFill>
              </a:rPr>
              <a:t>7</a:t>
            </a:r>
            <a:endParaRPr lang="en-US" sz="4000" dirty="0"/>
          </a:p>
        </p:txBody>
      </p:sp>
      <p:sp>
        <p:nvSpPr>
          <p:cNvPr id="34" name="Text 28"/>
          <p:cNvSpPr txBox="1"/>
          <p:nvPr/>
        </p:nvSpPr>
        <p:spPr>
          <a:xfrm>
            <a:off x="7040880" y="5349240"/>
            <a:ext cx="1920240" cy="548640"/>
          </a:xfrm>
          <a:prstGeom prst="rect">
            <a:avLst/>
          </a:prstGeom>
          <a:noFill/>
          <a:ln/>
        </p:spPr>
        <p:txBody>
          <a:bodyPr wrap="square" lIns="0" tIns="0" rIns="0" bIns="0" rtlCol="0" anchor="t"/>
          <a:lstStyle/>
          <a:p>
            <a:pPr indent="0" marL="0">
              <a:buNone/>
            </a:pPr>
            <a:r>
              <a:rPr lang="en-US" sz="1200" dirty="0">
                <a:solidFill>
                  <a:schemeClr val="tx1"/>
                </a:solidFill>
              </a:rPr>
              <a:t>transactions T1–T7</a:t>
            </a:r>
            <a:endParaRPr lang="en-US" sz="1200" dirty="0"/>
          </a:p>
          <a:p>
            <a:pPr indent="0" marL="0">
              <a:buNone/>
            </a:pPr>
            <a:r>
              <a:rPr lang="en-US" sz="1200" dirty="0">
                <a:solidFill>
                  <a:schemeClr val="tx1"/>
                </a:solidFill>
              </a:rPr>
              <a:t>in the app</a:t>
            </a:r>
            <a:endParaRPr lang="en-US" sz="1200" dirty="0"/>
          </a:p>
        </p:txBody>
      </p:sp>
      <p:sp>
        <p:nvSpPr>
          <p:cNvPr id="35" name="card"/>
          <p:cNvSpPr/>
          <p:nvPr/>
        </p:nvSpPr>
        <p:spPr>
          <a:xfrm>
            <a:off x="9281160" y="4572000"/>
            <a:ext cx="2286000" cy="1417320"/>
          </a:xfrm>
          <a:prstGeom prst="roundRect">
            <a:avLst>
              <a:gd name="adj" fmla="val 6452"/>
            </a:avLst>
          </a:prstGeom>
          <a:solidFill>
            <a:schemeClr val="bg2"/>
          </a:solidFill>
          <a:ln w="12700">
            <a:solidFill>
              <a:schemeClr val="accent6"/>
            </a:solidFill>
            <a:prstDash val="solid"/>
          </a:ln>
        </p:spPr>
      </p:sp>
      <p:sp>
        <p:nvSpPr>
          <p:cNvPr id="36" name="Text 30"/>
          <p:cNvSpPr txBox="1"/>
          <p:nvPr/>
        </p:nvSpPr>
        <p:spPr>
          <a:xfrm>
            <a:off x="9509760" y="4681728"/>
            <a:ext cx="1828800" cy="685800"/>
          </a:xfrm>
          <a:prstGeom prst="rect">
            <a:avLst/>
          </a:prstGeom>
          <a:noFill/>
          <a:ln/>
        </p:spPr>
        <p:txBody>
          <a:bodyPr wrap="square" lIns="0" tIns="0" rIns="0" bIns="0" rtlCol="0" anchor="t"/>
          <a:lstStyle/>
          <a:p>
            <a:pPr indent="0" marL="0">
              <a:buNone/>
            </a:pPr>
            <a:r>
              <a:rPr lang="en-US" sz="4000" b="1" dirty="0">
                <a:solidFill>
                  <a:schemeClr val="accent1"/>
                </a:solidFill>
              </a:rPr>
              <a:t>17</a:t>
            </a:r>
            <a:endParaRPr lang="en-US" sz="4000" dirty="0"/>
          </a:p>
        </p:txBody>
      </p:sp>
      <p:sp>
        <p:nvSpPr>
          <p:cNvPr id="37" name="Text 31"/>
          <p:cNvSpPr txBox="1"/>
          <p:nvPr/>
        </p:nvSpPr>
        <p:spPr>
          <a:xfrm>
            <a:off x="9509760" y="5349240"/>
            <a:ext cx="1920240" cy="548640"/>
          </a:xfrm>
          <a:prstGeom prst="rect">
            <a:avLst/>
          </a:prstGeom>
          <a:noFill/>
          <a:ln/>
        </p:spPr>
        <p:txBody>
          <a:bodyPr wrap="square" lIns="0" tIns="0" rIns="0" bIns="0" rtlCol="0" anchor="t"/>
          <a:lstStyle/>
          <a:p>
            <a:pPr indent="0" marL="0">
              <a:buNone/>
            </a:pPr>
            <a:r>
              <a:rPr lang="en-US" sz="1200" dirty="0">
                <a:solidFill>
                  <a:schemeClr val="tx1"/>
                </a:solidFill>
              </a:rPr>
              <a:t>pages across</a:t>
            </a:r>
            <a:endParaRPr lang="en-US" sz="1200" dirty="0"/>
          </a:p>
          <a:p>
            <a:pPr indent="0" marL="0">
              <a:buNone/>
            </a:pPr>
            <a:r>
              <a:rPr lang="en-US" sz="1200" dirty="0">
                <a:solidFill>
                  <a:schemeClr val="tx1"/>
                </a:solidFill>
              </a:rPr>
              <a:t>3 portals</a:t>
            </a:r>
            <a:endParaRPr lang="en-US" sz="12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lIns="0" tIns="0" rIns="0" bIns="0" rtlCol="0" anchor="ctr"/>
          <a:lstStyle/>
          <a:p>
            <a:pPr algn="l" indent="0" marL="0">
              <a:buNone/>
            </a:pPr>
            <a:r>
              <a:rPr lang="en-US" sz="3200" b="1" dirty="0">
                <a:solidFill>
                  <a:schemeClr val="tx1"/>
                </a:solidFill>
              </a:rPr>
              <a:t>Architecture: two front ends, one service layer</a:t>
            </a:r>
            <a:endParaRPr lang="en-US" sz="3200" dirty="0"/>
          </a:p>
        </p:txBody>
      </p:sp>
      <p:sp>
        <p:nvSpPr>
          <p:cNvPr id="3" name="card"/>
          <p:cNvSpPr/>
          <p:nvPr/>
        </p:nvSpPr>
        <p:spPr>
          <a:xfrm>
            <a:off x="548640" y="1417320"/>
            <a:ext cx="2514600" cy="3566160"/>
          </a:xfrm>
          <a:prstGeom prst="roundRect">
            <a:avLst>
              <a:gd name="adj" fmla="val 3636"/>
            </a:avLst>
          </a:prstGeom>
          <a:solidFill>
            <a:schemeClr val="bg1"/>
          </a:solidFill>
          <a:ln w="12700">
            <a:solidFill>
              <a:schemeClr val="accent6"/>
            </a:solidFill>
            <a:prstDash val="solid"/>
          </a:ln>
        </p:spPr>
      </p:sp>
      <p:sp>
        <p:nvSpPr>
          <p:cNvPr id="4" name="icon circle"/>
          <p:cNvSpPr/>
          <p:nvPr/>
        </p:nvSpPr>
        <p:spPr>
          <a:xfrm>
            <a:off x="822960" y="1691640"/>
            <a:ext cx="640080" cy="640080"/>
          </a:xfrm>
          <a:prstGeom prst="ellipse">
            <a:avLst/>
          </a:prstGeom>
          <a:solidFill>
            <a:srgbClr val="F1F7FD"/>
          </a:solidFill>
          <a:ln w="12700">
            <a:solidFill>
              <a:srgbClr val="F1F7FD"/>
            </a:solidFill>
            <a:prstDash val="solid"/>
          </a:ln>
        </p:spPr>
      </p:sp>
      <p:pic>
        <p:nvPicPr>
          <p:cNvPr id="5" name="icon" descr="preencoded.png">    </p:cNvPr>
          <p:cNvPicPr>
            <a:picLocks noChangeAspect="1"/>
          </p:cNvPicPr>
          <p:nvPr/>
        </p:nvPicPr>
        <p:blipFill>
          <a:blip r:embed="rId1"/>
          <a:stretch>
            <a:fillRect/>
          </a:stretch>
        </p:blipFill>
        <p:spPr>
          <a:xfrm>
            <a:off x="963778" y="1832458"/>
            <a:ext cx="358445" cy="358445"/>
          </a:xfrm>
          <a:prstGeom prst="rect">
            <a:avLst/>
          </a:prstGeom>
        </p:spPr>
      </p:pic>
      <p:sp>
        <p:nvSpPr>
          <p:cNvPr id="6" name="Text 3"/>
          <p:cNvSpPr txBox="1"/>
          <p:nvPr/>
        </p:nvSpPr>
        <p:spPr>
          <a:xfrm>
            <a:off x="822960" y="2468880"/>
            <a:ext cx="2057400" cy="411480"/>
          </a:xfrm>
          <a:prstGeom prst="rect">
            <a:avLst/>
          </a:prstGeom>
          <a:noFill/>
          <a:ln/>
        </p:spPr>
        <p:txBody>
          <a:bodyPr wrap="square" lIns="0" tIns="0" rIns="0" bIns="0" rtlCol="0" anchor="t"/>
          <a:lstStyle/>
          <a:p>
            <a:pPr indent="0" marL="0">
              <a:buNone/>
            </a:pPr>
            <a:r>
              <a:rPr lang="en-US" sz="1900" b="1" dirty="0">
                <a:solidFill>
                  <a:schemeClr val="tx1"/>
                </a:solidFill>
              </a:rPr>
              <a:t>Front ends</a:t>
            </a:r>
            <a:endParaRPr lang="en-US" sz="1900" dirty="0"/>
          </a:p>
        </p:txBody>
      </p:sp>
      <p:sp>
        <p:nvSpPr>
          <p:cNvPr id="7" name="Text 4"/>
          <p:cNvSpPr txBox="1"/>
          <p:nvPr/>
        </p:nvSpPr>
        <p:spPr>
          <a:xfrm>
            <a:off x="822960" y="2971800"/>
            <a:ext cx="2057400" cy="182880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chemeClr val="tx1"/>
                </a:solidFill>
              </a:rPr>
              <a:t>Streamlit site: Patient, Doctor, Administration portals</a:t>
            </a:r>
            <a:endParaRPr lang="en-US" sz="1300" dirty="0"/>
          </a:p>
          <a:p>
            <a:pPr marL="342900" indent="-342900">
              <a:spcAft>
                <a:spcPts val="600"/>
              </a:spcAft>
              <a:buSzPct val="100000"/>
              <a:buChar char="•"/>
            </a:pPr>
            <a:r>
              <a:rPr lang="en-US" sz="1300" dirty="0">
                <a:solidFill>
                  <a:schemeClr val="tx1"/>
                </a:solidFill>
              </a:rPr>
              <a:t>CLI menu (app/main.py)</a:t>
            </a:r>
            <a:endParaRPr lang="en-US" sz="1300" dirty="0"/>
          </a:p>
          <a:p>
            <a:pPr marL="342900" indent="-342900">
              <a:spcAft>
                <a:spcPts val="600"/>
              </a:spcAft>
              <a:buSzPct val="100000"/>
              <a:buChar char="•"/>
            </a:pPr>
            <a:r>
              <a:rPr lang="en-US" sz="1300" dirty="0">
                <a:solidFill>
                  <a:schemeClr val="tx1"/>
                </a:solidFill>
              </a:rPr>
              <a:t>Both call the same functions</a:t>
            </a:r>
            <a:endParaRPr lang="en-US" sz="1300" dirty="0"/>
          </a:p>
        </p:txBody>
      </p:sp>
      <p:sp>
        <p:nvSpPr>
          <p:cNvPr id="8" name="flow arrow"/>
          <p:cNvSpPr/>
          <p:nvPr/>
        </p:nvSpPr>
        <p:spPr>
          <a:xfrm>
            <a:off x="3127248" y="3017520"/>
            <a:ext cx="219456" cy="320040"/>
          </a:xfrm>
          <a:prstGeom prst="rightArrow">
            <a:avLst/>
          </a:prstGeom>
          <a:solidFill>
            <a:schemeClr val="accent1"/>
          </a:solidFill>
          <a:ln w="12700">
            <a:solidFill>
              <a:schemeClr val="accent1"/>
            </a:solidFill>
            <a:prstDash val="solid"/>
          </a:ln>
        </p:spPr>
      </p:sp>
      <p:sp>
        <p:nvSpPr>
          <p:cNvPr id="9" name="card"/>
          <p:cNvSpPr/>
          <p:nvPr/>
        </p:nvSpPr>
        <p:spPr>
          <a:xfrm>
            <a:off x="3410712" y="1417320"/>
            <a:ext cx="2514600" cy="3566160"/>
          </a:xfrm>
          <a:prstGeom prst="roundRect">
            <a:avLst>
              <a:gd name="adj" fmla="val 3636"/>
            </a:avLst>
          </a:prstGeom>
          <a:solidFill>
            <a:schemeClr val="bg1"/>
          </a:solidFill>
          <a:ln w="12700">
            <a:solidFill>
              <a:schemeClr val="accent6"/>
            </a:solidFill>
            <a:prstDash val="solid"/>
          </a:ln>
        </p:spPr>
      </p:sp>
      <p:sp>
        <p:nvSpPr>
          <p:cNvPr id="10" name="icon circle"/>
          <p:cNvSpPr/>
          <p:nvPr/>
        </p:nvSpPr>
        <p:spPr>
          <a:xfrm>
            <a:off x="3685032" y="1691640"/>
            <a:ext cx="640080" cy="640080"/>
          </a:xfrm>
          <a:prstGeom prst="ellipse">
            <a:avLst/>
          </a:prstGeom>
          <a:solidFill>
            <a:srgbClr val="F1F7FD"/>
          </a:solidFill>
          <a:ln w="12700">
            <a:solidFill>
              <a:srgbClr val="F1F7FD"/>
            </a:solidFill>
            <a:prstDash val="solid"/>
          </a:ln>
        </p:spPr>
      </p:sp>
      <p:pic>
        <p:nvPicPr>
          <p:cNvPr id="11" name="icon" descr="preencoded.png">    </p:cNvPr>
          <p:cNvPicPr>
            <a:picLocks noChangeAspect="1"/>
          </p:cNvPicPr>
          <p:nvPr/>
        </p:nvPicPr>
        <p:blipFill>
          <a:blip r:embed="rId2"/>
          <a:stretch>
            <a:fillRect/>
          </a:stretch>
        </p:blipFill>
        <p:spPr>
          <a:xfrm>
            <a:off x="3825850" y="1832458"/>
            <a:ext cx="358445" cy="358445"/>
          </a:xfrm>
          <a:prstGeom prst="rect">
            <a:avLst/>
          </a:prstGeom>
        </p:spPr>
      </p:pic>
      <p:sp>
        <p:nvSpPr>
          <p:cNvPr id="12" name="Text 8"/>
          <p:cNvSpPr txBox="1"/>
          <p:nvPr/>
        </p:nvSpPr>
        <p:spPr>
          <a:xfrm>
            <a:off x="3685032" y="2468880"/>
            <a:ext cx="2057400" cy="411480"/>
          </a:xfrm>
          <a:prstGeom prst="rect">
            <a:avLst/>
          </a:prstGeom>
          <a:noFill/>
          <a:ln/>
        </p:spPr>
        <p:txBody>
          <a:bodyPr wrap="square" lIns="0" tIns="0" rIns="0" bIns="0" rtlCol="0" anchor="t"/>
          <a:lstStyle/>
          <a:p>
            <a:pPr indent="0" marL="0">
              <a:buNone/>
            </a:pPr>
            <a:r>
              <a:rPr lang="en-US" sz="1900" b="1" dirty="0">
                <a:solidFill>
                  <a:schemeClr val="tx1"/>
                </a:solidFill>
              </a:rPr>
              <a:t>Service layer</a:t>
            </a:r>
            <a:endParaRPr lang="en-US" sz="1900" dirty="0"/>
          </a:p>
        </p:txBody>
      </p:sp>
      <p:sp>
        <p:nvSpPr>
          <p:cNvPr id="13" name="Text 9"/>
          <p:cNvSpPr txBox="1"/>
          <p:nvPr/>
        </p:nvSpPr>
        <p:spPr>
          <a:xfrm>
            <a:off x="3685032" y="2971800"/>
            <a:ext cx="2057400" cy="182880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chemeClr val="tx1"/>
                </a:solidFill>
              </a:rPr>
              <a:t>services.py: one function per T1–T7</a:t>
            </a:r>
            <a:endParaRPr lang="en-US" sz="1300" dirty="0"/>
          </a:p>
          <a:p>
            <a:pPr marL="342900" indent="-342900">
              <a:spcAft>
                <a:spcPts val="600"/>
              </a:spcAft>
              <a:buSzPct val="100000"/>
              <a:buChar char="•"/>
            </a:pPr>
            <a:r>
              <a:rPr lang="en-US" sz="1300" dirty="0">
                <a:solidFill>
                  <a:schemeClr val="tx1"/>
                </a:solidFill>
              </a:rPr>
              <a:t>Bind variables only, one COMMIT per unit</a:t>
            </a:r>
            <a:endParaRPr lang="en-US" sz="1300" dirty="0"/>
          </a:p>
          <a:p>
            <a:pPr marL="342900" indent="-342900">
              <a:spcAft>
                <a:spcPts val="600"/>
              </a:spcAft>
              <a:buSzPct val="100000"/>
              <a:buChar char="•"/>
            </a:pPr>
            <a:r>
              <a:rPr lang="en-US" sz="1300" dirty="0">
                <a:solidFill>
                  <a:schemeClr val="tx1"/>
                </a:solidFill>
              </a:rPr>
              <a:t>explain.py: ORA code → reason</a:t>
            </a:r>
            <a:endParaRPr lang="en-US" sz="1300" dirty="0"/>
          </a:p>
        </p:txBody>
      </p:sp>
      <p:sp>
        <p:nvSpPr>
          <p:cNvPr id="14" name="flow arrow"/>
          <p:cNvSpPr/>
          <p:nvPr/>
        </p:nvSpPr>
        <p:spPr>
          <a:xfrm>
            <a:off x="5989320" y="3017520"/>
            <a:ext cx="219456" cy="320040"/>
          </a:xfrm>
          <a:prstGeom prst="rightArrow">
            <a:avLst/>
          </a:prstGeom>
          <a:solidFill>
            <a:schemeClr val="accent1"/>
          </a:solidFill>
          <a:ln w="12700">
            <a:solidFill>
              <a:schemeClr val="accent1"/>
            </a:solidFill>
            <a:prstDash val="solid"/>
          </a:ln>
        </p:spPr>
      </p:sp>
      <p:sp>
        <p:nvSpPr>
          <p:cNvPr id="15" name="card"/>
          <p:cNvSpPr/>
          <p:nvPr/>
        </p:nvSpPr>
        <p:spPr>
          <a:xfrm>
            <a:off x="6272784" y="1417320"/>
            <a:ext cx="2514600" cy="3566160"/>
          </a:xfrm>
          <a:prstGeom prst="roundRect">
            <a:avLst>
              <a:gd name="adj" fmla="val 3636"/>
            </a:avLst>
          </a:prstGeom>
          <a:solidFill>
            <a:schemeClr val="bg1"/>
          </a:solidFill>
          <a:ln w="12700">
            <a:solidFill>
              <a:schemeClr val="accent6"/>
            </a:solidFill>
            <a:prstDash val="solid"/>
          </a:ln>
        </p:spPr>
      </p:sp>
      <p:sp>
        <p:nvSpPr>
          <p:cNvPr id="16" name="icon circle"/>
          <p:cNvSpPr/>
          <p:nvPr/>
        </p:nvSpPr>
        <p:spPr>
          <a:xfrm>
            <a:off x="6547104" y="1691640"/>
            <a:ext cx="640080" cy="640080"/>
          </a:xfrm>
          <a:prstGeom prst="ellipse">
            <a:avLst/>
          </a:prstGeom>
          <a:solidFill>
            <a:srgbClr val="F1F7FD"/>
          </a:solidFill>
          <a:ln w="12700">
            <a:solidFill>
              <a:srgbClr val="F1F7FD"/>
            </a:solidFill>
            <a:prstDash val="solid"/>
          </a:ln>
        </p:spPr>
      </p:sp>
      <p:pic>
        <p:nvPicPr>
          <p:cNvPr id="17" name="icon" descr="preencoded.png">    </p:cNvPr>
          <p:cNvPicPr>
            <a:picLocks noChangeAspect="1"/>
          </p:cNvPicPr>
          <p:nvPr/>
        </p:nvPicPr>
        <p:blipFill>
          <a:blip r:embed="rId3"/>
          <a:stretch>
            <a:fillRect/>
          </a:stretch>
        </p:blipFill>
        <p:spPr>
          <a:xfrm>
            <a:off x="6687922" y="1832458"/>
            <a:ext cx="358445" cy="358445"/>
          </a:xfrm>
          <a:prstGeom prst="rect">
            <a:avLst/>
          </a:prstGeom>
        </p:spPr>
      </p:pic>
      <p:sp>
        <p:nvSpPr>
          <p:cNvPr id="18" name="Text 13"/>
          <p:cNvSpPr txBox="1"/>
          <p:nvPr/>
        </p:nvSpPr>
        <p:spPr>
          <a:xfrm>
            <a:off x="6547104" y="2468880"/>
            <a:ext cx="2057400" cy="411480"/>
          </a:xfrm>
          <a:prstGeom prst="rect">
            <a:avLst/>
          </a:prstGeom>
          <a:noFill/>
          <a:ln/>
        </p:spPr>
        <p:txBody>
          <a:bodyPr wrap="square" lIns="0" tIns="0" rIns="0" bIns="0" rtlCol="0" anchor="t"/>
          <a:lstStyle/>
          <a:p>
            <a:pPr indent="0" marL="0">
              <a:buNone/>
            </a:pPr>
            <a:r>
              <a:rPr lang="en-US" sz="1900" b="1" dirty="0">
                <a:solidFill>
                  <a:schemeClr val="tx1"/>
                </a:solidFill>
              </a:rPr>
              <a:t>Driver</a:t>
            </a:r>
            <a:endParaRPr lang="en-US" sz="1900" dirty="0"/>
          </a:p>
        </p:txBody>
      </p:sp>
      <p:sp>
        <p:nvSpPr>
          <p:cNvPr id="19" name="Text 14"/>
          <p:cNvSpPr txBox="1"/>
          <p:nvPr/>
        </p:nvSpPr>
        <p:spPr>
          <a:xfrm>
            <a:off x="6547104" y="2971800"/>
            <a:ext cx="2057400" cy="182880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chemeClr val="tx1"/>
                </a:solidFill>
              </a:rPr>
              <a:t>python-oracledb, thin mode</a:t>
            </a:r>
            <a:endParaRPr lang="en-US" sz="1300" dirty="0"/>
          </a:p>
          <a:p>
            <a:pPr marL="342900" indent="-342900">
              <a:spcAft>
                <a:spcPts val="600"/>
              </a:spcAft>
              <a:buSzPct val="100000"/>
              <a:buChar char="•"/>
            </a:pPr>
            <a:r>
              <a:rPr lang="en-US" sz="1300" dirty="0">
                <a:solidFill>
                  <a:schemeClr val="tx1"/>
                </a:solidFill>
              </a:rPr>
              <a:t>callproc for procedures</a:t>
            </a:r>
            <a:endParaRPr lang="en-US" sz="1300" dirty="0"/>
          </a:p>
          <a:p>
            <a:pPr marL="342900" indent="-342900">
              <a:spcAft>
                <a:spcPts val="600"/>
              </a:spcAft>
              <a:buSzPct val="100000"/>
              <a:buChar char="•"/>
            </a:pPr>
            <a:r>
              <a:rPr lang="en-US" sz="1300" dirty="0">
                <a:solidFill>
                  <a:schemeClr val="tx1"/>
                </a:solidFill>
              </a:rPr>
              <a:t>callfunc for functions</a:t>
            </a:r>
            <a:endParaRPr lang="en-US" sz="1300" dirty="0"/>
          </a:p>
        </p:txBody>
      </p:sp>
      <p:sp>
        <p:nvSpPr>
          <p:cNvPr id="20" name="flow arrow"/>
          <p:cNvSpPr/>
          <p:nvPr/>
        </p:nvSpPr>
        <p:spPr>
          <a:xfrm>
            <a:off x="8851392" y="3017520"/>
            <a:ext cx="219456" cy="320040"/>
          </a:xfrm>
          <a:prstGeom prst="rightArrow">
            <a:avLst/>
          </a:prstGeom>
          <a:solidFill>
            <a:schemeClr val="accent1"/>
          </a:solidFill>
          <a:ln w="12700">
            <a:solidFill>
              <a:schemeClr val="accent1"/>
            </a:solidFill>
            <a:prstDash val="solid"/>
          </a:ln>
        </p:spPr>
      </p:sp>
      <p:sp>
        <p:nvSpPr>
          <p:cNvPr id="21" name="card"/>
          <p:cNvSpPr/>
          <p:nvPr/>
        </p:nvSpPr>
        <p:spPr>
          <a:xfrm>
            <a:off x="9134856" y="1417320"/>
            <a:ext cx="2514600" cy="3566160"/>
          </a:xfrm>
          <a:prstGeom prst="roundRect">
            <a:avLst>
              <a:gd name="adj" fmla="val 3636"/>
            </a:avLst>
          </a:prstGeom>
          <a:solidFill>
            <a:schemeClr val="tx1"/>
          </a:solidFill>
          <a:ln w="12700">
            <a:solidFill>
              <a:schemeClr val="tx1"/>
            </a:solidFill>
            <a:prstDash val="solid"/>
          </a:ln>
        </p:spPr>
      </p:sp>
      <p:sp>
        <p:nvSpPr>
          <p:cNvPr id="22" name="icon circle"/>
          <p:cNvSpPr/>
          <p:nvPr/>
        </p:nvSpPr>
        <p:spPr>
          <a:xfrm>
            <a:off x="9409176" y="1691640"/>
            <a:ext cx="640080" cy="640080"/>
          </a:xfrm>
          <a:prstGeom prst="ellipse">
            <a:avLst/>
          </a:prstGeom>
          <a:solidFill>
            <a:srgbClr val="17375F"/>
          </a:solidFill>
          <a:ln w="12700">
            <a:solidFill>
              <a:srgbClr val="17375F"/>
            </a:solidFill>
            <a:prstDash val="solid"/>
          </a:ln>
        </p:spPr>
      </p:sp>
      <p:pic>
        <p:nvPicPr>
          <p:cNvPr id="23" name="icon" descr="preencoded.png">    </p:cNvPr>
          <p:cNvPicPr>
            <a:picLocks noChangeAspect="1"/>
          </p:cNvPicPr>
          <p:nvPr/>
        </p:nvPicPr>
        <p:blipFill>
          <a:blip r:embed="rId4"/>
          <a:stretch>
            <a:fillRect/>
          </a:stretch>
        </p:blipFill>
        <p:spPr>
          <a:xfrm>
            <a:off x="9549994" y="1832458"/>
            <a:ext cx="358445" cy="358445"/>
          </a:xfrm>
          <a:prstGeom prst="rect">
            <a:avLst/>
          </a:prstGeom>
        </p:spPr>
      </p:pic>
      <p:sp>
        <p:nvSpPr>
          <p:cNvPr id="24" name="Text 18"/>
          <p:cNvSpPr txBox="1"/>
          <p:nvPr/>
        </p:nvSpPr>
        <p:spPr>
          <a:xfrm>
            <a:off x="9409176" y="2468880"/>
            <a:ext cx="2057400" cy="411480"/>
          </a:xfrm>
          <a:prstGeom prst="rect">
            <a:avLst/>
          </a:prstGeom>
          <a:noFill/>
          <a:ln/>
        </p:spPr>
        <p:txBody>
          <a:bodyPr wrap="square" lIns="0" tIns="0" rIns="0" bIns="0" rtlCol="0" anchor="t"/>
          <a:lstStyle/>
          <a:p>
            <a:pPr indent="0" marL="0">
              <a:buNone/>
            </a:pPr>
            <a:r>
              <a:rPr lang="en-US" sz="1900" b="1" dirty="0">
                <a:solidFill>
                  <a:schemeClr val="bg1"/>
                </a:solidFill>
              </a:rPr>
              <a:t>Oracle database</a:t>
            </a:r>
            <a:endParaRPr lang="en-US" sz="1900" dirty="0"/>
          </a:p>
        </p:txBody>
      </p:sp>
      <p:sp>
        <p:nvSpPr>
          <p:cNvPr id="25" name="Text 19"/>
          <p:cNvSpPr txBox="1"/>
          <p:nvPr/>
        </p:nvSpPr>
        <p:spPr>
          <a:xfrm>
            <a:off x="9409176" y="2971800"/>
            <a:ext cx="2057400" cy="182880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chemeClr val="accent6"/>
                </a:solidFill>
              </a:rPr>
              <a:t>7 tables, 85 constraints, 1 view</a:t>
            </a:r>
            <a:endParaRPr lang="en-US" sz="1300" dirty="0"/>
          </a:p>
          <a:p>
            <a:pPr marL="342900" indent="-342900">
              <a:spcAft>
                <a:spcPts val="600"/>
              </a:spcAft>
              <a:buSzPct val="100000"/>
              <a:buChar char="•"/>
            </a:pPr>
            <a:r>
              <a:rPr lang="en-US" sz="1300" dirty="0">
                <a:solidFill>
                  <a:schemeClr val="accent6"/>
                </a:solidFill>
              </a:rPr>
              <a:t>4 procedures, 2 functions, 3 triggers</a:t>
            </a:r>
            <a:endParaRPr lang="en-US" sz="1300" dirty="0"/>
          </a:p>
          <a:p>
            <a:pPr marL="342900" indent="-342900">
              <a:spcAft>
                <a:spcPts val="600"/>
              </a:spcAft>
              <a:buSzPct val="100000"/>
              <a:buChar char="•"/>
            </a:pPr>
            <a:r>
              <a:rPr lang="en-US" sz="1300" dirty="0">
                <a:solidFill>
                  <a:schemeClr val="accent6"/>
                </a:solidFill>
              </a:rPr>
              <a:t>Business rules enforced here</a:t>
            </a:r>
            <a:endParaRPr lang="en-US" sz="1300" dirty="0"/>
          </a:p>
        </p:txBody>
      </p:sp>
      <p:sp>
        <p:nvSpPr>
          <p:cNvPr id="26" name="card"/>
          <p:cNvSpPr/>
          <p:nvPr/>
        </p:nvSpPr>
        <p:spPr>
          <a:xfrm>
            <a:off x="548640" y="5257800"/>
            <a:ext cx="11064240" cy="868680"/>
          </a:xfrm>
          <a:prstGeom prst="roundRect">
            <a:avLst>
              <a:gd name="adj" fmla="val 10526"/>
            </a:avLst>
          </a:prstGeom>
          <a:solidFill>
            <a:schemeClr val="bg2"/>
          </a:solidFill>
          <a:ln w="12700">
            <a:solidFill>
              <a:schemeClr val="accent6"/>
            </a:solidFill>
            <a:prstDash val="solid"/>
          </a:ln>
        </p:spPr>
      </p:sp>
      <p:sp>
        <p:nvSpPr>
          <p:cNvPr id="27" name="Text 21"/>
          <p:cNvSpPr txBox="1"/>
          <p:nvPr/>
        </p:nvSpPr>
        <p:spPr>
          <a:xfrm>
            <a:off x="822960" y="5257800"/>
            <a:ext cx="10515600" cy="868680"/>
          </a:xfrm>
          <a:prstGeom prst="rect">
            <a:avLst/>
          </a:prstGeom>
          <a:noFill/>
          <a:ln/>
        </p:spPr>
        <p:txBody>
          <a:bodyPr wrap="square" lIns="0" tIns="0" rIns="0" bIns="0" rtlCol="0" anchor="ctr"/>
          <a:lstStyle/>
          <a:p>
            <a:pPr indent="0" marL="0">
              <a:buNone/>
            </a:pPr>
            <a:r>
              <a:rPr lang="en-US" sz="1400" b="1" dirty="0">
                <a:solidFill>
                  <a:schemeClr val="accent1"/>
                </a:solidFill>
              </a:rPr>
              <a:t>Why this split matters: </a:t>
            </a:r>
            <a:pPr indent="0" marL="0">
              <a:buNone/>
            </a:pPr>
            <a:r>
              <a:rPr lang="en-US" sz="1400" dirty="0">
                <a:solidFill>
                  <a:schemeClr val="tx1"/>
                </a:solidFill>
              </a:rPr>
              <a:t>the UI only collects input and shows results. Every rule (no double booking, bill totals, payment status, result flags) is a constraint, trigger or procedure, so it holds for the CLI, the website and raw SQL alike.</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731520" y="2651760"/>
            <a:ext cx="10698480" cy="914400"/>
          </a:xfrm>
          <a:prstGeom prst="rect">
            <a:avLst/>
          </a:prstGeom>
          <a:noFill/>
          <a:ln/>
        </p:spPr>
        <p:txBody>
          <a:bodyPr wrap="square" lIns="0" tIns="0" rIns="0" bIns="0" rtlCol="0" anchor="b"/>
          <a:lstStyle/>
          <a:p>
            <a:pPr algn="l" indent="0" marL="0">
              <a:buNone/>
            </a:pPr>
            <a:r>
              <a:rPr lang="en-US" sz="4400" b="1" dirty="0">
                <a:solidFill>
                  <a:schemeClr val="bg1"/>
                </a:solidFill>
              </a:rPr>
              <a:t>The new frontend</a:t>
            </a:r>
            <a:endParaRPr lang="en-US" sz="4400" dirty="0"/>
          </a:p>
        </p:txBody>
      </p:sp>
      <p:sp>
        <p:nvSpPr>
          <p:cNvPr id="3" name="Text 0"/>
          <p:cNvSpPr/>
          <p:nvPr>
            <p:ph idx="101" type="body" hasCustomPrompt="1"/>
          </p:nvPr>
        </p:nvSpPr>
        <p:spPr>
          <a:xfrm>
            <a:off x="731520" y="3703320"/>
            <a:ext cx="10698480" cy="731520"/>
          </a:xfrm>
          <a:prstGeom prst="rect">
            <a:avLst/>
          </a:prstGeom>
          <a:noFill/>
          <a:ln/>
        </p:spPr>
        <p:txBody>
          <a:bodyPr wrap="square" lIns="0" tIns="0" rIns="0" bIns="0" rtlCol="0" anchor="t"/>
          <a:lstStyle/>
          <a:p>
            <a:pPr algn="l" indent="0" marL="0">
              <a:buNone/>
            </a:pPr>
            <a:r>
              <a:rPr lang="en-US" sz="2000" dirty="0">
                <a:solidFill>
                  <a:schemeClr val="accent6"/>
                </a:solidFill>
              </a:rPr>
              <a:t>A clinic website with three portals, built in Streamlit over the same service layer</a:t>
            </a:r>
            <a:endParaRPr lang="en-US" sz="2000" dirty="0"/>
          </a:p>
        </p:txBody>
      </p:sp>
      <p:pic>
        <p:nvPicPr>
          <p:cNvPr id="4" name="logo" descr="preencoded.png">    </p:cNvPr>
          <p:cNvPicPr>
            <a:picLocks noChangeAspect="1"/>
          </p:cNvPicPr>
          <p:nvPr/>
        </p:nvPicPr>
        <p:blipFill>
          <a:blip r:embed="rId1"/>
          <a:stretch>
            <a:fillRect/>
          </a:stretch>
        </p:blipFill>
        <p:spPr>
          <a:xfrm>
            <a:off x="731520" y="1463040"/>
            <a:ext cx="914400" cy="914400"/>
          </a:xfrm>
          <a:prstGeom prst="rect">
            <a:avLst/>
          </a:prstGeom>
        </p:spPr>
      </p:pic>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lIns="0" tIns="0" rIns="0" bIns="0" rtlCol="0" anchor="ctr"/>
          <a:lstStyle/>
          <a:p>
            <a:pPr algn="l" indent="0" marL="0">
              <a:buNone/>
            </a:pPr>
            <a:r>
              <a:rPr lang="en-US" sz="3200" b="1" dirty="0">
                <a:solidFill>
                  <a:schemeClr val="tx1"/>
                </a:solidFill>
              </a:rPr>
              <a:t>Three portals, one connected record</a:t>
            </a:r>
            <a:endParaRPr lang="en-US" sz="3200" dirty="0"/>
          </a:p>
        </p:txBody>
      </p:sp>
      <p:sp>
        <p:nvSpPr>
          <p:cNvPr id="3" name="Home page screenshot frame"/>
          <p:cNvSpPr/>
          <p:nvPr/>
        </p:nvSpPr>
        <p:spPr>
          <a:xfrm>
            <a:off x="548640" y="1316736"/>
            <a:ext cx="5230368" cy="4453128"/>
          </a:xfrm>
          <a:prstGeom prst="roundRect">
            <a:avLst>
              <a:gd name="adj" fmla="val 1643"/>
            </a:avLst>
          </a:prstGeom>
          <a:solidFill>
            <a:schemeClr val="bg1"/>
          </a:solidFill>
          <a:ln w="12700">
            <a:solidFill>
              <a:schemeClr val="accent6"/>
            </a:solidFill>
            <a:prstDash val="solid"/>
          </a:ln>
        </p:spPr>
      </p:sp>
      <p:pic>
        <p:nvPicPr>
          <p:cNvPr id="4" name="Home page screenshot" descr="Home page screenshot">    </p:cNvPr>
          <p:cNvPicPr>
            <a:picLocks noChangeAspect="1"/>
          </p:cNvPicPr>
          <p:nvPr/>
        </p:nvPicPr>
        <p:blipFill>
          <a:blip r:embed="rId1"/>
          <a:stretch>
            <a:fillRect/>
          </a:stretch>
        </p:blipFill>
        <p:spPr>
          <a:xfrm>
            <a:off x="603504" y="1371600"/>
            <a:ext cx="5120640" cy="4343400"/>
          </a:xfrm>
          <a:prstGeom prst="rect">
            <a:avLst/>
          </a:prstGeom>
        </p:spPr>
      </p:pic>
      <p:sp>
        <p:nvSpPr>
          <p:cNvPr id="5" name="card"/>
          <p:cNvSpPr/>
          <p:nvPr/>
        </p:nvSpPr>
        <p:spPr>
          <a:xfrm>
            <a:off x="6263640" y="1325880"/>
            <a:ext cx="5349240" cy="1298448"/>
          </a:xfrm>
          <a:prstGeom prst="roundRect">
            <a:avLst>
              <a:gd name="adj" fmla="val 7042"/>
            </a:avLst>
          </a:prstGeom>
          <a:solidFill>
            <a:schemeClr val="bg1"/>
          </a:solidFill>
          <a:ln w="12700">
            <a:solidFill>
              <a:schemeClr val="accent6"/>
            </a:solidFill>
            <a:prstDash val="solid"/>
          </a:ln>
        </p:spPr>
      </p:sp>
      <p:sp>
        <p:nvSpPr>
          <p:cNvPr id="6" name="icon circle"/>
          <p:cNvSpPr/>
          <p:nvPr/>
        </p:nvSpPr>
        <p:spPr>
          <a:xfrm>
            <a:off x="6446520" y="1600200"/>
            <a:ext cx="731520" cy="731520"/>
          </a:xfrm>
          <a:prstGeom prst="ellipse">
            <a:avLst/>
          </a:prstGeom>
          <a:solidFill>
            <a:srgbClr val="F1F7FD"/>
          </a:solidFill>
          <a:ln w="12700">
            <a:solidFill>
              <a:srgbClr val="F1F7FD"/>
            </a:solidFill>
            <a:prstDash val="solid"/>
          </a:ln>
        </p:spPr>
      </p:sp>
      <p:pic>
        <p:nvPicPr>
          <p:cNvPr id="7" name="icon" descr="preencoded.png">    </p:cNvPr>
          <p:cNvPicPr>
            <a:picLocks noChangeAspect="1"/>
          </p:cNvPicPr>
          <p:nvPr/>
        </p:nvPicPr>
        <p:blipFill>
          <a:blip r:embed="rId2"/>
          <a:stretch>
            <a:fillRect/>
          </a:stretch>
        </p:blipFill>
        <p:spPr>
          <a:xfrm>
            <a:off x="6607454" y="1761134"/>
            <a:ext cx="409651" cy="409651"/>
          </a:xfrm>
          <a:prstGeom prst="rect">
            <a:avLst/>
          </a:prstGeom>
        </p:spPr>
      </p:pic>
      <p:sp>
        <p:nvSpPr>
          <p:cNvPr id="8" name="Text 4"/>
          <p:cNvSpPr txBox="1"/>
          <p:nvPr/>
        </p:nvSpPr>
        <p:spPr>
          <a:xfrm>
            <a:off x="7360920" y="1453896"/>
            <a:ext cx="4114800" cy="329184"/>
          </a:xfrm>
          <a:prstGeom prst="rect">
            <a:avLst/>
          </a:prstGeom>
          <a:noFill/>
          <a:ln/>
        </p:spPr>
        <p:txBody>
          <a:bodyPr wrap="square" lIns="0" tIns="0" rIns="0" bIns="0" rtlCol="0" anchor="t"/>
          <a:lstStyle/>
          <a:p>
            <a:pPr indent="0" marL="0">
              <a:buNone/>
            </a:pPr>
            <a:r>
              <a:rPr lang="en-US" sz="1700" b="1" dirty="0">
                <a:solidFill>
                  <a:schemeClr val="tx1"/>
                </a:solidFill>
              </a:rPr>
              <a:t>Patient</a:t>
            </a:r>
            <a:endParaRPr lang="en-US" sz="1700" dirty="0"/>
          </a:p>
        </p:txBody>
      </p:sp>
      <p:sp>
        <p:nvSpPr>
          <p:cNvPr id="9" name="Text 5"/>
          <p:cNvSpPr txBox="1"/>
          <p:nvPr/>
        </p:nvSpPr>
        <p:spPr>
          <a:xfrm>
            <a:off x="7360920" y="1783080"/>
            <a:ext cx="4114800" cy="457200"/>
          </a:xfrm>
          <a:prstGeom prst="rect">
            <a:avLst/>
          </a:prstGeom>
          <a:noFill/>
          <a:ln/>
        </p:spPr>
        <p:txBody>
          <a:bodyPr wrap="square" lIns="0" tIns="0" rIns="0" bIns="0" rtlCol="0" anchor="t"/>
          <a:lstStyle/>
          <a:p>
            <a:pPr indent="0" marL="0">
              <a:buNone/>
            </a:pPr>
            <a:r>
              <a:rPr lang="en-US" sz="1200" dirty="0">
                <a:solidFill>
                  <a:schemeClr val="accent5"/>
                </a:solidFill>
              </a:rPr>
              <a:t>My health · Book a visit · My visits · Lab reports · Bills · New patient</a:t>
            </a:r>
            <a:endParaRPr lang="en-US" sz="1200" dirty="0"/>
          </a:p>
        </p:txBody>
      </p:sp>
      <p:sp>
        <p:nvSpPr>
          <p:cNvPr id="10" name="Text 6"/>
          <p:cNvSpPr txBox="1"/>
          <p:nvPr/>
        </p:nvSpPr>
        <p:spPr>
          <a:xfrm>
            <a:off x="7360920" y="2240280"/>
            <a:ext cx="4114800" cy="274320"/>
          </a:xfrm>
          <a:prstGeom prst="rect">
            <a:avLst/>
          </a:prstGeom>
          <a:noFill/>
          <a:ln/>
        </p:spPr>
        <p:txBody>
          <a:bodyPr wrap="square" lIns="0" tIns="0" rIns="0" bIns="0" rtlCol="0" anchor="t"/>
          <a:lstStyle/>
          <a:p>
            <a:pPr indent="0" marL="0">
              <a:buNone/>
            </a:pPr>
            <a:r>
              <a:rPr lang="en-US" sz="1200" b="1" dirty="0">
                <a:solidFill>
                  <a:schemeClr val="accent2"/>
                </a:solidFill>
              </a:rPr>
              <a:t>T1 register + book · T5 pay · T7a cancel</a:t>
            </a:r>
            <a:endParaRPr lang="en-US" sz="1200" dirty="0"/>
          </a:p>
        </p:txBody>
      </p:sp>
      <p:sp>
        <p:nvSpPr>
          <p:cNvPr id="11" name="card"/>
          <p:cNvSpPr/>
          <p:nvPr/>
        </p:nvSpPr>
        <p:spPr>
          <a:xfrm>
            <a:off x="6263640" y="2807208"/>
            <a:ext cx="5349240" cy="1298448"/>
          </a:xfrm>
          <a:prstGeom prst="roundRect">
            <a:avLst>
              <a:gd name="adj" fmla="val 7042"/>
            </a:avLst>
          </a:prstGeom>
          <a:solidFill>
            <a:schemeClr val="bg1"/>
          </a:solidFill>
          <a:ln w="12700">
            <a:solidFill>
              <a:schemeClr val="accent6"/>
            </a:solidFill>
            <a:prstDash val="solid"/>
          </a:ln>
        </p:spPr>
      </p:sp>
      <p:sp>
        <p:nvSpPr>
          <p:cNvPr id="12" name="icon circle"/>
          <p:cNvSpPr/>
          <p:nvPr/>
        </p:nvSpPr>
        <p:spPr>
          <a:xfrm>
            <a:off x="6446520" y="3081528"/>
            <a:ext cx="731520" cy="731520"/>
          </a:xfrm>
          <a:prstGeom prst="ellipse">
            <a:avLst/>
          </a:prstGeom>
          <a:solidFill>
            <a:srgbClr val="F1F7FD"/>
          </a:solidFill>
          <a:ln w="12700">
            <a:solidFill>
              <a:srgbClr val="F1F7FD"/>
            </a:solidFill>
            <a:prstDash val="solid"/>
          </a:ln>
        </p:spPr>
      </p:sp>
      <p:pic>
        <p:nvPicPr>
          <p:cNvPr id="13" name="icon" descr="preencoded.png">    </p:cNvPr>
          <p:cNvPicPr>
            <a:picLocks noChangeAspect="1"/>
          </p:cNvPicPr>
          <p:nvPr/>
        </p:nvPicPr>
        <p:blipFill>
          <a:blip r:embed="rId3"/>
          <a:stretch>
            <a:fillRect/>
          </a:stretch>
        </p:blipFill>
        <p:spPr>
          <a:xfrm>
            <a:off x="6607454" y="3242462"/>
            <a:ext cx="409651" cy="409651"/>
          </a:xfrm>
          <a:prstGeom prst="rect">
            <a:avLst/>
          </a:prstGeom>
        </p:spPr>
      </p:pic>
      <p:sp>
        <p:nvSpPr>
          <p:cNvPr id="14" name="Text 9"/>
          <p:cNvSpPr txBox="1"/>
          <p:nvPr/>
        </p:nvSpPr>
        <p:spPr>
          <a:xfrm>
            <a:off x="7360920" y="2935224"/>
            <a:ext cx="4114800" cy="329184"/>
          </a:xfrm>
          <a:prstGeom prst="rect">
            <a:avLst/>
          </a:prstGeom>
          <a:noFill/>
          <a:ln/>
        </p:spPr>
        <p:txBody>
          <a:bodyPr wrap="square" lIns="0" tIns="0" rIns="0" bIns="0" rtlCol="0" anchor="t"/>
          <a:lstStyle/>
          <a:p>
            <a:pPr indent="0" marL="0">
              <a:buNone/>
            </a:pPr>
            <a:r>
              <a:rPr lang="en-US" sz="1700" b="1" dirty="0">
                <a:solidFill>
                  <a:schemeClr val="tx1"/>
                </a:solidFill>
              </a:rPr>
              <a:t>Doctor</a:t>
            </a:r>
            <a:endParaRPr lang="en-US" sz="1700" dirty="0"/>
          </a:p>
        </p:txBody>
      </p:sp>
      <p:sp>
        <p:nvSpPr>
          <p:cNvPr id="15" name="Text 10"/>
          <p:cNvSpPr txBox="1"/>
          <p:nvPr/>
        </p:nvSpPr>
        <p:spPr>
          <a:xfrm>
            <a:off x="7360920" y="3264408"/>
            <a:ext cx="4114800" cy="457200"/>
          </a:xfrm>
          <a:prstGeom prst="rect">
            <a:avLst/>
          </a:prstGeom>
          <a:noFill/>
          <a:ln/>
        </p:spPr>
        <p:txBody>
          <a:bodyPr wrap="square" lIns="0" tIns="0" rIns="0" bIns="0" rtlCol="0" anchor="t"/>
          <a:lstStyle/>
          <a:p>
            <a:pPr indent="0" marL="0">
              <a:buNone/>
            </a:pPr>
            <a:r>
              <a:rPr lang="en-US" sz="1200" dirty="0">
                <a:solidFill>
                  <a:schemeClr val="accent5"/>
                </a:solidFill>
              </a:rPr>
              <a:t>My day · Order tests · Complete visit · Patient results</a:t>
            </a:r>
            <a:endParaRPr lang="en-US" sz="1200" dirty="0"/>
          </a:p>
        </p:txBody>
      </p:sp>
      <p:sp>
        <p:nvSpPr>
          <p:cNvPr id="16" name="Text 11"/>
          <p:cNvSpPr txBox="1"/>
          <p:nvPr/>
        </p:nvSpPr>
        <p:spPr>
          <a:xfrm>
            <a:off x="7360920" y="3721608"/>
            <a:ext cx="4114800" cy="274320"/>
          </a:xfrm>
          <a:prstGeom prst="rect">
            <a:avLst/>
          </a:prstGeom>
          <a:noFill/>
          <a:ln/>
        </p:spPr>
        <p:txBody>
          <a:bodyPr wrap="square" lIns="0" tIns="0" rIns="0" bIns="0" rtlCol="0" anchor="t"/>
          <a:lstStyle/>
          <a:p>
            <a:pPr indent="0" marL="0">
              <a:buNone/>
            </a:pPr>
            <a:r>
              <a:rPr lang="en-US" sz="1200" b="1" dirty="0">
                <a:solidFill>
                  <a:schemeClr val="accent2"/>
                </a:solidFill>
              </a:rPr>
              <a:t>T2a order tests · T4 complete + bill</a:t>
            </a:r>
            <a:endParaRPr lang="en-US" sz="1200" dirty="0"/>
          </a:p>
        </p:txBody>
      </p:sp>
      <p:sp>
        <p:nvSpPr>
          <p:cNvPr id="17" name="card"/>
          <p:cNvSpPr/>
          <p:nvPr/>
        </p:nvSpPr>
        <p:spPr>
          <a:xfrm>
            <a:off x="6263640" y="4288536"/>
            <a:ext cx="5349240" cy="1298448"/>
          </a:xfrm>
          <a:prstGeom prst="roundRect">
            <a:avLst>
              <a:gd name="adj" fmla="val 7042"/>
            </a:avLst>
          </a:prstGeom>
          <a:solidFill>
            <a:schemeClr val="bg1"/>
          </a:solidFill>
          <a:ln w="12700">
            <a:solidFill>
              <a:schemeClr val="accent6"/>
            </a:solidFill>
            <a:prstDash val="solid"/>
          </a:ln>
        </p:spPr>
      </p:sp>
      <p:sp>
        <p:nvSpPr>
          <p:cNvPr id="18" name="icon circle"/>
          <p:cNvSpPr/>
          <p:nvPr/>
        </p:nvSpPr>
        <p:spPr>
          <a:xfrm>
            <a:off x="6446520" y="4562856"/>
            <a:ext cx="731520" cy="731520"/>
          </a:xfrm>
          <a:prstGeom prst="ellipse">
            <a:avLst/>
          </a:prstGeom>
          <a:solidFill>
            <a:srgbClr val="F1F7FD"/>
          </a:solidFill>
          <a:ln w="12700">
            <a:solidFill>
              <a:srgbClr val="F1F7FD"/>
            </a:solidFill>
            <a:prstDash val="solid"/>
          </a:ln>
        </p:spPr>
      </p:sp>
      <p:pic>
        <p:nvPicPr>
          <p:cNvPr id="19" name="icon" descr="preencoded.png">    </p:cNvPr>
          <p:cNvPicPr>
            <a:picLocks noChangeAspect="1"/>
          </p:cNvPicPr>
          <p:nvPr/>
        </p:nvPicPr>
        <p:blipFill>
          <a:blip r:embed="rId4"/>
          <a:stretch>
            <a:fillRect/>
          </a:stretch>
        </p:blipFill>
        <p:spPr>
          <a:xfrm>
            <a:off x="6607454" y="4723790"/>
            <a:ext cx="409651" cy="409651"/>
          </a:xfrm>
          <a:prstGeom prst="rect">
            <a:avLst/>
          </a:prstGeom>
        </p:spPr>
      </p:pic>
      <p:sp>
        <p:nvSpPr>
          <p:cNvPr id="20" name="Text 14"/>
          <p:cNvSpPr txBox="1"/>
          <p:nvPr/>
        </p:nvSpPr>
        <p:spPr>
          <a:xfrm>
            <a:off x="7360920" y="4416552"/>
            <a:ext cx="4114800" cy="329184"/>
          </a:xfrm>
          <a:prstGeom prst="rect">
            <a:avLst/>
          </a:prstGeom>
          <a:noFill/>
          <a:ln/>
        </p:spPr>
        <p:txBody>
          <a:bodyPr wrap="square" lIns="0" tIns="0" rIns="0" bIns="0" rtlCol="0" anchor="t"/>
          <a:lstStyle/>
          <a:p>
            <a:pPr indent="0" marL="0">
              <a:buNone/>
            </a:pPr>
            <a:r>
              <a:rPr lang="en-US" sz="1700" b="1" dirty="0">
                <a:solidFill>
                  <a:schemeClr val="tx1"/>
                </a:solidFill>
              </a:rPr>
              <a:t>Administration</a:t>
            </a:r>
            <a:endParaRPr lang="en-US" sz="1700" dirty="0"/>
          </a:p>
        </p:txBody>
      </p:sp>
      <p:sp>
        <p:nvSpPr>
          <p:cNvPr id="21" name="Text 15"/>
          <p:cNvSpPr txBox="1"/>
          <p:nvPr/>
        </p:nvSpPr>
        <p:spPr>
          <a:xfrm>
            <a:off x="7360920" y="4745736"/>
            <a:ext cx="4114800" cy="457200"/>
          </a:xfrm>
          <a:prstGeom prst="rect">
            <a:avLst/>
          </a:prstGeom>
          <a:noFill/>
          <a:ln/>
        </p:spPr>
        <p:txBody>
          <a:bodyPr wrap="square" lIns="0" tIns="0" rIns="0" bIns="0" rtlCol="0" anchor="t"/>
          <a:lstStyle/>
          <a:p>
            <a:pPr indent="0" marL="0">
              <a:buNone/>
            </a:pPr>
            <a:r>
              <a:rPr lang="en-US" sz="1200" dirty="0">
                <a:solidFill>
                  <a:schemeClr val="accent5"/>
                </a:solidFill>
              </a:rPr>
              <a:t>Dashboard · Lab desk · Billing · Reports · Database · Activity log</a:t>
            </a:r>
            <a:endParaRPr lang="en-US" sz="1200" dirty="0"/>
          </a:p>
        </p:txBody>
      </p:sp>
      <p:sp>
        <p:nvSpPr>
          <p:cNvPr id="22" name="Text 16"/>
          <p:cNvSpPr txBox="1"/>
          <p:nvPr/>
        </p:nvSpPr>
        <p:spPr>
          <a:xfrm>
            <a:off x="7360920" y="5202936"/>
            <a:ext cx="4114800" cy="274320"/>
          </a:xfrm>
          <a:prstGeom prst="rect">
            <a:avLst/>
          </a:prstGeom>
          <a:noFill/>
          <a:ln/>
        </p:spPr>
        <p:txBody>
          <a:bodyPr wrap="square" lIns="0" tIns="0" rIns="0" bIns="0" rtlCol="0" anchor="t"/>
          <a:lstStyle/>
          <a:p>
            <a:pPr indent="0" marL="0">
              <a:buNone/>
            </a:pPr>
            <a:r>
              <a:rPr lang="en-US" sz="1200" b="1" dirty="0">
                <a:solidFill>
                  <a:schemeClr val="accent2"/>
                </a:solidFill>
              </a:rPr>
              <a:t>T2b · T3 · T5 · T6 · T7b</a:t>
            </a:r>
            <a:endParaRPr lang="en-US" sz="1200" dirty="0"/>
          </a:p>
        </p:txBody>
      </p:sp>
      <p:sp>
        <p:nvSpPr>
          <p:cNvPr id="23" name="Text 17"/>
          <p:cNvSpPr txBox="1"/>
          <p:nvPr/>
        </p:nvSpPr>
        <p:spPr>
          <a:xfrm>
            <a:off x="548640" y="5897880"/>
            <a:ext cx="11064240" cy="320040"/>
          </a:xfrm>
          <a:prstGeom prst="rect">
            <a:avLst/>
          </a:prstGeom>
          <a:noFill/>
          <a:ln/>
        </p:spPr>
        <p:txBody>
          <a:bodyPr wrap="square" lIns="0" tIns="0" rIns="0" bIns="0" rtlCol="0" anchor="t"/>
          <a:lstStyle/>
          <a:p>
            <a:pPr indent="0" marL="0">
              <a:buNone/>
            </a:pPr>
            <a:r>
              <a:rPr lang="en-US" sz="1200" i="1" dirty="0">
                <a:solidFill>
                  <a:schemeClr val="accent5"/>
                </a:solidFill>
              </a:rPr>
              <a:t>Demo only: a 'Signed in as' picker replaces login. Every visit runs T1 → T7, one transaction per step.</a:t>
            </a:r>
            <a:endParaRPr lang="en-US" sz="12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lIns="0" tIns="0" rIns="0" bIns="0" rtlCol="0" anchor="ctr"/>
          <a:lstStyle/>
          <a:p>
            <a:pPr algn="l" indent="0" marL="0">
              <a:buNone/>
            </a:pPr>
            <a:r>
              <a:rPr lang="en-US" sz="3200" b="1" dirty="0">
                <a:solidFill>
                  <a:schemeClr val="tx1"/>
                </a:solidFill>
              </a:rPr>
              <a:t>Patient portal: booking checks the rules before and after</a:t>
            </a:r>
            <a:endParaRPr lang="en-US" sz="3200" dirty="0"/>
          </a:p>
        </p:txBody>
      </p:sp>
      <p:sp>
        <p:nvSpPr>
          <p:cNvPr id="3" name="Book a visit screenshot frame"/>
          <p:cNvSpPr/>
          <p:nvPr/>
        </p:nvSpPr>
        <p:spPr>
          <a:xfrm>
            <a:off x="548640" y="1316736"/>
            <a:ext cx="6144768" cy="3584448"/>
          </a:xfrm>
          <a:prstGeom prst="roundRect">
            <a:avLst>
              <a:gd name="adj" fmla="val 2041"/>
            </a:avLst>
          </a:prstGeom>
          <a:solidFill>
            <a:schemeClr val="bg1"/>
          </a:solidFill>
          <a:ln w="12700">
            <a:solidFill>
              <a:schemeClr val="accent6"/>
            </a:solidFill>
            <a:prstDash val="solid"/>
          </a:ln>
        </p:spPr>
      </p:sp>
      <p:pic>
        <p:nvPicPr>
          <p:cNvPr id="4" name="Book a visit screenshot" descr="Book a visit screenshot">    </p:cNvPr>
          <p:cNvPicPr>
            <a:picLocks noChangeAspect="1"/>
          </p:cNvPicPr>
          <p:nvPr/>
        </p:nvPicPr>
        <p:blipFill>
          <a:blip r:embed="rId1"/>
          <a:stretch>
            <a:fillRect/>
          </a:stretch>
        </p:blipFill>
        <p:spPr>
          <a:xfrm>
            <a:off x="603504" y="1371600"/>
            <a:ext cx="6035040" cy="3474720"/>
          </a:xfrm>
          <a:prstGeom prst="rect">
            <a:avLst/>
          </a:prstGeom>
        </p:spPr>
      </p:pic>
      <p:sp>
        <p:nvSpPr>
          <p:cNvPr id="5" name="step"/>
          <p:cNvSpPr/>
          <p:nvPr/>
        </p:nvSpPr>
        <p:spPr>
          <a:xfrm>
            <a:off x="6995160" y="1389888"/>
            <a:ext cx="384048" cy="384048"/>
          </a:xfrm>
          <a:prstGeom prst="ellipse">
            <a:avLst/>
          </a:prstGeom>
          <a:solidFill>
            <a:schemeClr val="accent1"/>
          </a:solidFill>
          <a:ln w="12700">
            <a:solidFill>
              <a:schemeClr val="accent1"/>
            </a:solidFill>
            <a:prstDash val="solid"/>
          </a:ln>
        </p:spPr>
      </p:sp>
      <p:sp>
        <p:nvSpPr>
          <p:cNvPr id="6" name="Text 3"/>
          <p:cNvSpPr txBox="1"/>
          <p:nvPr/>
        </p:nvSpPr>
        <p:spPr>
          <a:xfrm>
            <a:off x="6995160" y="1389888"/>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7" name="Text 4"/>
          <p:cNvSpPr txBox="1"/>
          <p:nvPr/>
        </p:nvSpPr>
        <p:spPr>
          <a:xfrm>
            <a:off x="7589520" y="1371600"/>
            <a:ext cx="4023360" cy="292608"/>
          </a:xfrm>
          <a:prstGeom prst="rect">
            <a:avLst/>
          </a:prstGeom>
          <a:noFill/>
          <a:ln/>
        </p:spPr>
        <p:txBody>
          <a:bodyPr wrap="square" lIns="0" tIns="0" rIns="0" bIns="0" rtlCol="0" anchor="t"/>
          <a:lstStyle/>
          <a:p>
            <a:pPr indent="0" marL="0">
              <a:buNone/>
            </a:pPr>
            <a:r>
              <a:rPr lang="en-US" sz="1600" b="1" dirty="0">
                <a:solidFill>
                  <a:schemeClr val="tx1"/>
                </a:solidFill>
              </a:rPr>
              <a:t>Slot list is live</a:t>
            </a:r>
            <a:endParaRPr lang="en-US" sz="1600" dirty="0"/>
          </a:p>
        </p:txBody>
      </p:sp>
      <p:sp>
        <p:nvSpPr>
          <p:cNvPr id="8" name="Text 5"/>
          <p:cNvSpPr txBox="1"/>
          <p:nvPr/>
        </p:nvSpPr>
        <p:spPr>
          <a:xfrm>
            <a:off x="7589520" y="1682496"/>
            <a:ext cx="4023360" cy="548640"/>
          </a:xfrm>
          <a:prstGeom prst="rect">
            <a:avLst/>
          </a:prstGeom>
          <a:noFill/>
          <a:ln/>
        </p:spPr>
        <p:txBody>
          <a:bodyPr wrap="square" lIns="0" tIns="0" rIns="0" bIns="0" rtlCol="0" anchor="t"/>
          <a:lstStyle/>
          <a:p>
            <a:pPr indent="0" marL="0">
              <a:buNone/>
            </a:pPr>
            <a:r>
              <a:rPr lang="en-US" sz="1300" dirty="0">
                <a:solidFill>
                  <a:schemeClr val="accent5"/>
                </a:solidFill>
              </a:rPr>
              <a:t>Slots held by this doctor or this patient are marked taken (read from APPOINTMENT).</a:t>
            </a:r>
            <a:endParaRPr lang="en-US" sz="1300" dirty="0"/>
          </a:p>
        </p:txBody>
      </p:sp>
      <p:sp>
        <p:nvSpPr>
          <p:cNvPr id="9" name="step"/>
          <p:cNvSpPr/>
          <p:nvPr/>
        </p:nvSpPr>
        <p:spPr>
          <a:xfrm>
            <a:off x="6995160" y="2322576"/>
            <a:ext cx="384048" cy="384048"/>
          </a:xfrm>
          <a:prstGeom prst="ellipse">
            <a:avLst/>
          </a:prstGeom>
          <a:solidFill>
            <a:schemeClr val="accent1"/>
          </a:solidFill>
          <a:ln w="12700">
            <a:solidFill>
              <a:schemeClr val="accent1"/>
            </a:solidFill>
            <a:prstDash val="solid"/>
          </a:ln>
        </p:spPr>
      </p:sp>
      <p:sp>
        <p:nvSpPr>
          <p:cNvPr id="10" name="Text 7"/>
          <p:cNvSpPr txBox="1"/>
          <p:nvPr/>
        </p:nvSpPr>
        <p:spPr>
          <a:xfrm>
            <a:off x="6995160" y="2322576"/>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1" name="Text 8"/>
          <p:cNvSpPr txBox="1"/>
          <p:nvPr/>
        </p:nvSpPr>
        <p:spPr>
          <a:xfrm>
            <a:off x="7589520" y="2304288"/>
            <a:ext cx="4023360" cy="292608"/>
          </a:xfrm>
          <a:prstGeom prst="rect">
            <a:avLst/>
          </a:prstGeom>
          <a:noFill/>
          <a:ln/>
        </p:spPr>
        <p:txBody>
          <a:bodyPr wrap="square" lIns="0" tIns="0" rIns="0" bIns="0" rtlCol="0" anchor="t"/>
          <a:lstStyle/>
          <a:p>
            <a:pPr indent="0" marL="0">
              <a:buNone/>
            </a:pPr>
            <a:r>
              <a:rPr lang="en-US" sz="1600" b="1" dirty="0">
                <a:solidFill>
                  <a:schemeClr val="tx1"/>
                </a:solidFill>
              </a:rPr>
              <a:t>“2 of 20 booked”</a:t>
            </a:r>
            <a:endParaRPr lang="en-US" sz="1600" dirty="0"/>
          </a:p>
        </p:txBody>
      </p:sp>
      <p:sp>
        <p:nvSpPr>
          <p:cNvPr id="12" name="Text 9"/>
          <p:cNvSpPr txBox="1"/>
          <p:nvPr/>
        </p:nvSpPr>
        <p:spPr>
          <a:xfrm>
            <a:off x="7589520" y="2615184"/>
            <a:ext cx="4023360" cy="548640"/>
          </a:xfrm>
          <a:prstGeom prst="rect">
            <a:avLst/>
          </a:prstGeom>
          <a:noFill/>
          <a:ln/>
        </p:spPr>
        <p:txBody>
          <a:bodyPr wrap="square" lIns="0" tIns="0" rIns="0" bIns="0" rtlCol="0" anchor="t"/>
          <a:lstStyle/>
          <a:p>
            <a:pPr indent="0" marL="0">
              <a:buNone/>
            </a:pPr>
            <a:r>
              <a:rPr lang="en-US" sz="1300" dirty="0">
                <a:solidFill>
                  <a:schemeClr val="accent5"/>
                </a:solidFill>
              </a:rPr>
              <a:t>Comes from doctor_daily_load() against the doctor's max_daily_appts.</a:t>
            </a:r>
            <a:endParaRPr lang="en-US" sz="1300" dirty="0"/>
          </a:p>
        </p:txBody>
      </p:sp>
      <p:sp>
        <p:nvSpPr>
          <p:cNvPr id="13" name="step"/>
          <p:cNvSpPr/>
          <p:nvPr/>
        </p:nvSpPr>
        <p:spPr>
          <a:xfrm>
            <a:off x="6995160" y="3255264"/>
            <a:ext cx="384048" cy="384048"/>
          </a:xfrm>
          <a:prstGeom prst="ellipse">
            <a:avLst/>
          </a:prstGeom>
          <a:solidFill>
            <a:schemeClr val="accent1"/>
          </a:solidFill>
          <a:ln w="12700">
            <a:solidFill>
              <a:schemeClr val="accent1"/>
            </a:solidFill>
            <a:prstDash val="solid"/>
          </a:ln>
        </p:spPr>
      </p:sp>
      <p:sp>
        <p:nvSpPr>
          <p:cNvPr id="14" name="Text 11"/>
          <p:cNvSpPr txBox="1"/>
          <p:nvPr/>
        </p:nvSpPr>
        <p:spPr>
          <a:xfrm>
            <a:off x="6995160" y="3255264"/>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5" name="Text 12"/>
          <p:cNvSpPr txBox="1"/>
          <p:nvPr/>
        </p:nvSpPr>
        <p:spPr>
          <a:xfrm>
            <a:off x="7589520" y="3236976"/>
            <a:ext cx="4023360" cy="292608"/>
          </a:xfrm>
          <a:prstGeom prst="rect">
            <a:avLst/>
          </a:prstGeom>
          <a:noFill/>
          <a:ln/>
        </p:spPr>
        <p:txBody>
          <a:bodyPr wrap="square" lIns="0" tIns="0" rIns="0" bIns="0" rtlCol="0" anchor="t"/>
          <a:lstStyle/>
          <a:p>
            <a:pPr indent="0" marL="0">
              <a:buNone/>
            </a:pPr>
            <a:r>
              <a:rPr lang="en-US" sz="1600" b="1" dirty="0">
                <a:solidFill>
                  <a:schemeClr val="tx1"/>
                </a:solidFill>
              </a:rPr>
              <a:t>Confirm booking</a:t>
            </a:r>
            <a:endParaRPr lang="en-US" sz="1600" dirty="0"/>
          </a:p>
        </p:txBody>
      </p:sp>
      <p:sp>
        <p:nvSpPr>
          <p:cNvPr id="16" name="Text 13"/>
          <p:cNvSpPr txBox="1"/>
          <p:nvPr/>
        </p:nvSpPr>
        <p:spPr>
          <a:xfrm>
            <a:off x="7589520" y="3547872"/>
            <a:ext cx="4023360" cy="548640"/>
          </a:xfrm>
          <a:prstGeom prst="rect">
            <a:avLst/>
          </a:prstGeom>
          <a:noFill/>
          <a:ln/>
        </p:spPr>
        <p:txBody>
          <a:bodyPr wrap="square" lIns="0" tIns="0" rIns="0" bIns="0" rtlCol="0" anchor="t"/>
          <a:lstStyle/>
          <a:p>
            <a:pPr indent="0" marL="0">
              <a:buNone/>
            </a:pPr>
            <a:r>
              <a:rPr lang="en-US" sz="1300" dirty="0">
                <a:solidFill>
                  <a:schemeClr val="accent5"/>
                </a:solidFill>
              </a:rPr>
              <a:t>Calls book_appointment; the INSERT fires trg_no_double_booking.</a:t>
            </a:r>
            <a:endParaRPr lang="en-US" sz="1300" dirty="0"/>
          </a:p>
        </p:txBody>
      </p:sp>
      <p:sp>
        <p:nvSpPr>
          <p:cNvPr id="17" name="step"/>
          <p:cNvSpPr/>
          <p:nvPr/>
        </p:nvSpPr>
        <p:spPr>
          <a:xfrm>
            <a:off x="6995160" y="4187952"/>
            <a:ext cx="384048" cy="384048"/>
          </a:xfrm>
          <a:prstGeom prst="ellipse">
            <a:avLst/>
          </a:prstGeom>
          <a:solidFill>
            <a:schemeClr val="accent1"/>
          </a:solidFill>
          <a:ln w="12700">
            <a:solidFill>
              <a:schemeClr val="accent1"/>
            </a:solidFill>
            <a:prstDash val="solid"/>
          </a:ln>
        </p:spPr>
      </p:sp>
      <p:sp>
        <p:nvSpPr>
          <p:cNvPr id="18" name="Text 15"/>
          <p:cNvSpPr txBox="1"/>
          <p:nvPr/>
        </p:nvSpPr>
        <p:spPr>
          <a:xfrm>
            <a:off x="6995160" y="4187952"/>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19" name="Text 16"/>
          <p:cNvSpPr txBox="1"/>
          <p:nvPr/>
        </p:nvSpPr>
        <p:spPr>
          <a:xfrm>
            <a:off x="7589520" y="4169664"/>
            <a:ext cx="4023360" cy="292608"/>
          </a:xfrm>
          <a:prstGeom prst="rect">
            <a:avLst/>
          </a:prstGeom>
          <a:noFill/>
          <a:ln/>
        </p:spPr>
        <p:txBody>
          <a:bodyPr wrap="square" lIns="0" tIns="0" rIns="0" bIns="0" rtlCol="0" anchor="t"/>
          <a:lstStyle/>
          <a:p>
            <a:pPr indent="0" marL="0">
              <a:buNone/>
            </a:pPr>
            <a:r>
              <a:rPr lang="en-US" sz="1600" b="1" dirty="0">
                <a:solidFill>
                  <a:schemeClr val="tx1"/>
                </a:solidFill>
              </a:rPr>
              <a:t>Lab reports and bills</a:t>
            </a:r>
            <a:endParaRPr lang="en-US" sz="1600" dirty="0"/>
          </a:p>
        </p:txBody>
      </p:sp>
      <p:sp>
        <p:nvSpPr>
          <p:cNvPr id="20" name="Text 17"/>
          <p:cNvSpPr txBox="1"/>
          <p:nvPr/>
        </p:nvSpPr>
        <p:spPr>
          <a:xfrm>
            <a:off x="7589520" y="4480560"/>
            <a:ext cx="4023360" cy="548640"/>
          </a:xfrm>
          <a:prstGeom prst="rect">
            <a:avLst/>
          </a:prstGeom>
          <a:noFill/>
          <a:ln/>
        </p:spPr>
        <p:txBody>
          <a:bodyPr wrap="square" lIns="0" tIns="0" rIns="0" bIns="0" rtlCol="0" anchor="t"/>
          <a:lstStyle/>
          <a:p>
            <a:pPr indent="0" marL="0">
              <a:buNone/>
            </a:pPr>
            <a:r>
              <a:rPr lang="en-US" sz="1300" dirty="0">
                <a:solidFill>
                  <a:schemeClr val="accent5"/>
                </a:solidFill>
              </a:rPr>
              <a:t>Flags come from trg_flag_result; the amount due from patient_total_due().</a:t>
            </a:r>
            <a:endParaRPr lang="en-US" sz="1300" dirty="0"/>
          </a:p>
        </p:txBody>
      </p:sp>
      <p:sp>
        <p:nvSpPr>
          <p:cNvPr id="21" name="chip"/>
          <p:cNvSpPr/>
          <p:nvPr/>
        </p:nvSpPr>
        <p:spPr>
          <a:xfrm>
            <a:off x="603504" y="5166360"/>
            <a:ext cx="640080" cy="292608"/>
          </a:xfrm>
          <a:prstGeom prst="roundRect">
            <a:avLst>
              <a:gd name="adj" fmla="val 50000"/>
            </a:avLst>
          </a:prstGeom>
          <a:solidFill>
            <a:schemeClr val="tx1"/>
          </a:solidFill>
          <a:ln w="9525">
            <a:solidFill>
              <a:schemeClr val="tx1"/>
            </a:solidFill>
            <a:prstDash val="solid"/>
          </a:ln>
        </p:spPr>
      </p:sp>
      <p:sp>
        <p:nvSpPr>
          <p:cNvPr id="22" name="Text 19"/>
          <p:cNvSpPr txBox="1"/>
          <p:nvPr/>
        </p:nvSpPr>
        <p:spPr>
          <a:xfrm>
            <a:off x="603504" y="5166360"/>
            <a:ext cx="640080" cy="292608"/>
          </a:xfrm>
          <a:prstGeom prst="rect">
            <a:avLst/>
          </a:prstGeom>
          <a:noFill/>
          <a:ln/>
        </p:spPr>
        <p:txBody>
          <a:bodyPr wrap="square" lIns="0" tIns="0" rIns="0" bIns="0" rtlCol="0" anchor="ctr"/>
          <a:lstStyle/>
          <a:p>
            <a:pPr algn="ctr" indent="0" marL="0">
              <a:buNone/>
            </a:pPr>
            <a:r>
              <a:rPr lang="en-US" sz="1100" b="1" dirty="0">
                <a:solidFill>
                  <a:schemeClr val="bg1"/>
                </a:solidFill>
              </a:rPr>
              <a:t>T1b</a:t>
            </a:r>
            <a:endParaRPr lang="en-US" sz="1100" dirty="0"/>
          </a:p>
        </p:txBody>
      </p:sp>
      <p:sp>
        <p:nvSpPr>
          <p:cNvPr id="23" name="chip"/>
          <p:cNvSpPr/>
          <p:nvPr/>
        </p:nvSpPr>
        <p:spPr>
          <a:xfrm>
            <a:off x="1335024" y="5166360"/>
            <a:ext cx="1737360" cy="292608"/>
          </a:xfrm>
          <a:prstGeom prst="roundRect">
            <a:avLst>
              <a:gd name="adj" fmla="val 50000"/>
            </a:avLst>
          </a:prstGeom>
          <a:solidFill>
            <a:schemeClr val="bg2"/>
          </a:solidFill>
          <a:ln w="9525">
            <a:solidFill>
              <a:schemeClr val="accent6"/>
            </a:solidFill>
            <a:prstDash val="solid"/>
          </a:ln>
        </p:spPr>
      </p:sp>
      <p:sp>
        <p:nvSpPr>
          <p:cNvPr id="24" name="Text 21"/>
          <p:cNvSpPr txBox="1"/>
          <p:nvPr/>
        </p:nvSpPr>
        <p:spPr>
          <a:xfrm>
            <a:off x="1335024" y="5166360"/>
            <a:ext cx="1737360" cy="292608"/>
          </a:xfrm>
          <a:prstGeom prst="rect">
            <a:avLst/>
          </a:prstGeom>
          <a:noFill/>
          <a:ln/>
        </p:spPr>
        <p:txBody>
          <a:bodyPr wrap="square" lIns="0" tIns="0" rIns="0" bIns="0" rtlCol="0" anchor="ctr"/>
          <a:lstStyle/>
          <a:p>
            <a:pPr algn="ctr" indent="0" marL="0">
              <a:buNone/>
            </a:pPr>
            <a:r>
              <a:rPr lang="en-US" sz="1100" b="1" dirty="0">
                <a:solidFill>
                  <a:schemeClr val="accent1"/>
                </a:solidFill>
                <a:latin typeface="Courier New" pitchFamily="34" charset="0"/>
                <a:ea typeface="Courier New" pitchFamily="34" charset="-122"/>
                <a:cs typeface="Courier New" pitchFamily="34" charset="-120"/>
              </a:rPr>
              <a:t>book_appointment</a:t>
            </a:r>
            <a:endParaRPr lang="en-US" sz="1100" dirty="0"/>
          </a:p>
        </p:txBody>
      </p:sp>
      <p:sp>
        <p:nvSpPr>
          <p:cNvPr id="25" name="chip"/>
          <p:cNvSpPr/>
          <p:nvPr/>
        </p:nvSpPr>
        <p:spPr>
          <a:xfrm>
            <a:off x="3163824" y="5166360"/>
            <a:ext cx="1828800" cy="292608"/>
          </a:xfrm>
          <a:prstGeom prst="roundRect">
            <a:avLst>
              <a:gd name="adj" fmla="val 50000"/>
            </a:avLst>
          </a:prstGeom>
          <a:solidFill>
            <a:schemeClr val="bg2"/>
          </a:solidFill>
          <a:ln w="9525">
            <a:solidFill>
              <a:schemeClr val="accent6"/>
            </a:solidFill>
            <a:prstDash val="solid"/>
          </a:ln>
        </p:spPr>
      </p:sp>
      <p:sp>
        <p:nvSpPr>
          <p:cNvPr id="26" name="Text 23"/>
          <p:cNvSpPr txBox="1"/>
          <p:nvPr/>
        </p:nvSpPr>
        <p:spPr>
          <a:xfrm>
            <a:off x="3163824" y="5166360"/>
            <a:ext cx="1828800" cy="292608"/>
          </a:xfrm>
          <a:prstGeom prst="rect">
            <a:avLst/>
          </a:prstGeom>
          <a:noFill/>
          <a:ln/>
        </p:spPr>
        <p:txBody>
          <a:bodyPr wrap="square" lIns="0" tIns="0" rIns="0" bIns="0" rtlCol="0" anchor="ctr"/>
          <a:lstStyle/>
          <a:p>
            <a:pPr algn="ctr" indent="0" marL="0">
              <a:buNone/>
            </a:pPr>
            <a:r>
              <a:rPr lang="en-US" sz="1100" b="1" dirty="0">
                <a:solidFill>
                  <a:schemeClr val="accent1"/>
                </a:solidFill>
                <a:latin typeface="Courier New" pitchFamily="34" charset="0"/>
                <a:ea typeface="Courier New" pitchFamily="34" charset="-122"/>
                <a:cs typeface="Courier New" pitchFamily="34" charset="-120"/>
              </a:rPr>
              <a:t>doctor_daily_load</a:t>
            </a:r>
            <a:endParaRPr lang="en-US" sz="1100" dirty="0"/>
          </a:p>
        </p:txBody>
      </p:sp>
      <p:sp>
        <p:nvSpPr>
          <p:cNvPr id="27" name="chip"/>
          <p:cNvSpPr/>
          <p:nvPr/>
        </p:nvSpPr>
        <p:spPr>
          <a:xfrm>
            <a:off x="5084064" y="5166360"/>
            <a:ext cx="2240280" cy="292608"/>
          </a:xfrm>
          <a:prstGeom prst="roundRect">
            <a:avLst>
              <a:gd name="adj" fmla="val 50000"/>
            </a:avLst>
          </a:prstGeom>
          <a:solidFill>
            <a:schemeClr val="bg2"/>
          </a:solidFill>
          <a:ln w="9525">
            <a:solidFill>
              <a:schemeClr val="accent6"/>
            </a:solidFill>
            <a:prstDash val="solid"/>
          </a:ln>
        </p:spPr>
      </p:sp>
      <p:sp>
        <p:nvSpPr>
          <p:cNvPr id="28" name="Text 25"/>
          <p:cNvSpPr txBox="1"/>
          <p:nvPr/>
        </p:nvSpPr>
        <p:spPr>
          <a:xfrm>
            <a:off x="5084064" y="5166360"/>
            <a:ext cx="2240280" cy="292608"/>
          </a:xfrm>
          <a:prstGeom prst="rect">
            <a:avLst/>
          </a:prstGeom>
          <a:noFill/>
          <a:ln/>
        </p:spPr>
        <p:txBody>
          <a:bodyPr wrap="square" lIns="0" tIns="0" rIns="0" bIns="0" rtlCol="0" anchor="ctr"/>
          <a:lstStyle/>
          <a:p>
            <a:pPr algn="ctr" indent="0" marL="0">
              <a:buNone/>
            </a:pPr>
            <a:r>
              <a:rPr lang="en-US" sz="1100" b="1" dirty="0">
                <a:solidFill>
                  <a:schemeClr val="accent1"/>
                </a:solidFill>
                <a:latin typeface="Courier New" pitchFamily="34" charset="0"/>
                <a:ea typeface="Courier New" pitchFamily="34" charset="-122"/>
                <a:cs typeface="Courier New" pitchFamily="34" charset="-120"/>
              </a:rPr>
              <a:t>trg_no_double_booking</a:t>
            </a:r>
            <a:endParaRPr lang="en-US" sz="1100" dirty="0"/>
          </a:p>
        </p:txBody>
      </p:sp>
      <p:sp>
        <p:nvSpPr>
          <p:cNvPr id="29" name="Text 26"/>
          <p:cNvSpPr txBox="1"/>
          <p:nvPr/>
        </p:nvSpPr>
        <p:spPr>
          <a:xfrm>
            <a:off x="603504" y="5577840"/>
            <a:ext cx="6858000" cy="320040"/>
          </a:xfrm>
          <a:prstGeom prst="rect">
            <a:avLst/>
          </a:prstGeom>
          <a:noFill/>
          <a:ln/>
        </p:spPr>
        <p:txBody>
          <a:bodyPr wrap="square" lIns="0" tIns="0" rIns="0" bIns="0" rtlCol="0" anchor="t"/>
          <a:lstStyle/>
          <a:p>
            <a:pPr indent="0" marL="0">
              <a:buNone/>
            </a:pPr>
            <a:r>
              <a:rPr lang="en-US" sz="1200" i="1" dirty="0">
                <a:solidFill>
                  <a:schemeClr val="accent5"/>
                </a:solidFill>
              </a:rPr>
              <a:t>Each page header lists the transaction and the database objects it exercises.</a:t>
            </a:r>
            <a:endParaRPr lang="en-US" sz="12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lIns="0" tIns="0" rIns="0" bIns="0" rtlCol="0" anchor="ctr"/>
          <a:lstStyle/>
          <a:p>
            <a:pPr algn="l" indent="0" marL="0">
              <a:buNone/>
            </a:pPr>
            <a:r>
              <a:rPr lang="en-US" sz="3200" b="1" dirty="0">
                <a:solidFill>
                  <a:schemeClr val="tx1"/>
                </a:solidFill>
              </a:rPr>
              <a:t>Doctor portal: closing a visit raises the bill</a:t>
            </a:r>
            <a:endParaRPr lang="en-US" sz="3200" dirty="0"/>
          </a:p>
        </p:txBody>
      </p:sp>
      <p:sp>
        <p:nvSpPr>
          <p:cNvPr id="3" name="Doctor My day screenshot frame"/>
          <p:cNvSpPr/>
          <p:nvPr/>
        </p:nvSpPr>
        <p:spPr>
          <a:xfrm>
            <a:off x="548640" y="1316736"/>
            <a:ext cx="5458968" cy="3456432"/>
          </a:xfrm>
          <a:prstGeom prst="roundRect">
            <a:avLst>
              <a:gd name="adj" fmla="val 2116"/>
            </a:avLst>
          </a:prstGeom>
          <a:solidFill>
            <a:schemeClr val="bg1"/>
          </a:solidFill>
          <a:ln w="12700">
            <a:solidFill>
              <a:schemeClr val="accent6"/>
            </a:solidFill>
            <a:prstDash val="solid"/>
          </a:ln>
        </p:spPr>
      </p:sp>
      <p:pic>
        <p:nvPicPr>
          <p:cNvPr id="4" name="Doctor My day screenshot" descr="Doctor My day screenshot">    </p:cNvPr>
          <p:cNvPicPr>
            <a:picLocks noChangeAspect="1"/>
          </p:cNvPicPr>
          <p:nvPr/>
        </p:nvPicPr>
        <p:blipFill>
          <a:blip r:embed="rId1"/>
          <a:stretch>
            <a:fillRect/>
          </a:stretch>
        </p:blipFill>
        <p:spPr>
          <a:xfrm>
            <a:off x="603504" y="1371600"/>
            <a:ext cx="5349240" cy="3346704"/>
          </a:xfrm>
          <a:prstGeom prst="rect">
            <a:avLst/>
          </a:prstGeom>
        </p:spPr>
      </p:pic>
      <p:sp>
        <p:nvSpPr>
          <p:cNvPr id="5" name="Complete a visit screenshot frame"/>
          <p:cNvSpPr/>
          <p:nvPr/>
        </p:nvSpPr>
        <p:spPr>
          <a:xfrm>
            <a:off x="6208776" y="1316736"/>
            <a:ext cx="5458968" cy="3456432"/>
          </a:xfrm>
          <a:prstGeom prst="roundRect">
            <a:avLst>
              <a:gd name="adj" fmla="val 2116"/>
            </a:avLst>
          </a:prstGeom>
          <a:solidFill>
            <a:schemeClr val="bg1"/>
          </a:solidFill>
          <a:ln w="12700">
            <a:solidFill>
              <a:schemeClr val="accent6"/>
            </a:solidFill>
            <a:prstDash val="solid"/>
          </a:ln>
        </p:spPr>
      </p:sp>
      <p:pic>
        <p:nvPicPr>
          <p:cNvPr id="6" name="Complete a visit screenshot" descr="Complete a visit screenshot">    </p:cNvPr>
          <p:cNvPicPr>
            <a:picLocks noChangeAspect="1"/>
          </p:cNvPicPr>
          <p:nvPr/>
        </p:nvPicPr>
        <p:blipFill>
          <a:blip r:embed="rId2"/>
          <a:stretch>
            <a:fillRect/>
          </a:stretch>
        </p:blipFill>
        <p:spPr>
          <a:xfrm>
            <a:off x="6263640" y="1371600"/>
            <a:ext cx="5349240" cy="3346704"/>
          </a:xfrm>
          <a:prstGeom prst="rect">
            <a:avLst/>
          </a:prstGeom>
        </p:spPr>
      </p:pic>
      <p:sp>
        <p:nvSpPr>
          <p:cNvPr id="7" name="Text 3"/>
          <p:cNvSpPr txBox="1"/>
          <p:nvPr/>
        </p:nvSpPr>
        <p:spPr>
          <a:xfrm>
            <a:off x="603504" y="4892040"/>
            <a:ext cx="5349240" cy="320040"/>
          </a:xfrm>
          <a:prstGeom prst="rect">
            <a:avLst/>
          </a:prstGeom>
          <a:noFill/>
          <a:ln/>
        </p:spPr>
        <p:txBody>
          <a:bodyPr wrap="square" lIns="0" tIns="0" rIns="0" bIns="0" rtlCol="0" anchor="t"/>
          <a:lstStyle/>
          <a:p>
            <a:pPr indent="0" marL="0">
              <a:buNone/>
            </a:pPr>
            <a:r>
              <a:rPr lang="en-US" sz="1600" b="1" dirty="0">
                <a:solidFill>
                  <a:schemeClr val="tx1"/>
                </a:solidFill>
              </a:rPr>
              <a:t>My day</a:t>
            </a:r>
            <a:endParaRPr lang="en-US" sz="1600" dirty="0"/>
          </a:p>
        </p:txBody>
      </p:sp>
      <p:sp>
        <p:nvSpPr>
          <p:cNvPr id="8" name="Text 4"/>
          <p:cNvSpPr txBox="1"/>
          <p:nvPr/>
        </p:nvSpPr>
        <p:spPr>
          <a:xfrm>
            <a:off x="603504" y="5230368"/>
            <a:ext cx="5349240" cy="640080"/>
          </a:xfrm>
          <a:prstGeom prst="rect">
            <a:avLst/>
          </a:prstGeom>
          <a:noFill/>
          <a:ln/>
        </p:spPr>
        <p:txBody>
          <a:bodyPr wrap="square" lIns="0" tIns="0" rIns="0" bIns="0" rtlCol="0" anchor="t"/>
          <a:lstStyle/>
          <a:p>
            <a:pPr indent="0" marL="0">
              <a:buNone/>
            </a:pPr>
            <a:r>
              <a:rPr lang="en-US" sz="1300" dirty="0">
                <a:solidFill>
                  <a:schemeClr val="accent5"/>
                </a:solidFill>
              </a:rPr>
              <a:t>Today's schedule (Q1), load vs limit from doctor_daily_load(), and LOW / HIGH results that need a look.</a:t>
            </a:r>
            <a:endParaRPr lang="en-US" sz="1300" dirty="0"/>
          </a:p>
        </p:txBody>
      </p:sp>
      <p:sp>
        <p:nvSpPr>
          <p:cNvPr id="9" name="Text 5"/>
          <p:cNvSpPr txBox="1"/>
          <p:nvPr/>
        </p:nvSpPr>
        <p:spPr>
          <a:xfrm>
            <a:off x="6263640" y="4892040"/>
            <a:ext cx="5349240" cy="320040"/>
          </a:xfrm>
          <a:prstGeom prst="rect">
            <a:avLst/>
          </a:prstGeom>
          <a:noFill/>
          <a:ln/>
        </p:spPr>
        <p:txBody>
          <a:bodyPr wrap="square" lIns="0" tIns="0" rIns="0" bIns="0" rtlCol="0" anchor="t"/>
          <a:lstStyle/>
          <a:p>
            <a:pPr indent="0" marL="0">
              <a:buNone/>
            </a:pPr>
            <a:r>
              <a:rPr lang="en-US" sz="1600" b="1" dirty="0">
                <a:solidFill>
                  <a:schemeClr val="tx1"/>
                </a:solidFill>
              </a:rPr>
              <a:t>Complete visit  (T4)</a:t>
            </a:r>
            <a:endParaRPr lang="en-US" sz="1600" dirty="0"/>
          </a:p>
        </p:txBody>
      </p:sp>
      <p:sp>
        <p:nvSpPr>
          <p:cNvPr id="10" name="Text 6"/>
          <p:cNvSpPr txBox="1"/>
          <p:nvPr/>
        </p:nvSpPr>
        <p:spPr>
          <a:xfrm>
            <a:off x="6263640" y="5230368"/>
            <a:ext cx="5349240" cy="685800"/>
          </a:xfrm>
          <a:prstGeom prst="rect">
            <a:avLst/>
          </a:prstGeom>
          <a:noFill/>
          <a:ln/>
        </p:spPr>
        <p:txBody>
          <a:bodyPr wrap="square" lIns="0" tIns="0" rIns="0" bIns="0" rtlCol="0" anchor="t"/>
          <a:lstStyle/>
          <a:p>
            <a:pPr indent="0" marL="0">
              <a:buNone/>
            </a:pPr>
            <a:r>
              <a:rPr lang="en-US" sz="1300" dirty="0">
                <a:solidFill>
                  <a:schemeClr val="accent5"/>
                </a:solidFill>
              </a:rPr>
              <a:t>UPDATE APPOINTMENT to COMPLETED and generate_bill run in one unit of work with a single COMMIT; the preview shows exactly what the procedure will charge.</a:t>
            </a:r>
            <a:endParaRPr lang="en-US" sz="13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lIns="0" tIns="0" rIns="0" bIns="0" rtlCol="0" anchor="ctr"/>
          <a:lstStyle/>
          <a:p>
            <a:pPr algn="l" indent="0" marL="0">
              <a:buNone/>
            </a:pPr>
            <a:r>
              <a:rPr lang="en-US" sz="3200" b="1" dirty="0">
                <a:solidFill>
                  <a:schemeClr val="tx1"/>
                </a:solidFill>
              </a:rPr>
              <a:t>Administration: the clinic dashboard runs our queries</a:t>
            </a:r>
            <a:endParaRPr lang="en-US" sz="3200" dirty="0"/>
          </a:p>
        </p:txBody>
      </p:sp>
      <p:sp>
        <p:nvSpPr>
          <p:cNvPr id="3" name="Clinic dashboard screenshot frame"/>
          <p:cNvSpPr/>
          <p:nvPr/>
        </p:nvSpPr>
        <p:spPr>
          <a:xfrm>
            <a:off x="548640" y="1316736"/>
            <a:ext cx="5458968" cy="4352544"/>
          </a:xfrm>
          <a:prstGeom prst="roundRect">
            <a:avLst>
              <a:gd name="adj" fmla="val 1681"/>
            </a:avLst>
          </a:prstGeom>
          <a:solidFill>
            <a:schemeClr val="bg1"/>
          </a:solidFill>
          <a:ln w="12700">
            <a:solidFill>
              <a:schemeClr val="accent6"/>
            </a:solidFill>
            <a:prstDash val="solid"/>
          </a:ln>
        </p:spPr>
      </p:sp>
      <p:pic>
        <p:nvPicPr>
          <p:cNvPr id="4" name="Clinic dashboard screenshot" descr="Clinic dashboard screenshot">    </p:cNvPr>
          <p:cNvPicPr>
            <a:picLocks noChangeAspect="1"/>
          </p:cNvPicPr>
          <p:nvPr/>
        </p:nvPicPr>
        <p:blipFill>
          <a:blip r:embed="rId1"/>
          <a:stretch>
            <a:fillRect/>
          </a:stretch>
        </p:blipFill>
        <p:spPr>
          <a:xfrm>
            <a:off x="603504" y="1371600"/>
            <a:ext cx="5349240" cy="4242816"/>
          </a:xfrm>
          <a:prstGeom prst="rect">
            <a:avLst/>
          </a:prstGeom>
        </p:spPr>
      </p:pic>
      <p:sp>
        <p:nvSpPr>
          <p:cNvPr id="5" name="icon circle"/>
          <p:cNvSpPr/>
          <p:nvPr/>
        </p:nvSpPr>
        <p:spPr>
          <a:xfrm>
            <a:off x="6355080" y="1371600"/>
            <a:ext cx="566928" cy="566928"/>
          </a:xfrm>
          <a:prstGeom prst="ellipse">
            <a:avLst/>
          </a:prstGeom>
          <a:solidFill>
            <a:srgbClr val="F1F7FD"/>
          </a:solidFill>
          <a:ln w="12700">
            <a:solidFill>
              <a:srgbClr val="F1F7FD"/>
            </a:solidFill>
            <a:prstDash val="solid"/>
          </a:ln>
        </p:spPr>
      </p:sp>
      <p:pic>
        <p:nvPicPr>
          <p:cNvPr id="6" name="icon" descr="preencoded.png">    </p:cNvPr>
          <p:cNvPicPr>
            <a:picLocks noChangeAspect="1"/>
          </p:cNvPicPr>
          <p:nvPr/>
        </p:nvPicPr>
        <p:blipFill>
          <a:blip r:embed="rId2"/>
          <a:stretch>
            <a:fillRect/>
          </a:stretch>
        </p:blipFill>
        <p:spPr>
          <a:xfrm>
            <a:off x="6479804" y="1496324"/>
            <a:ext cx="317480" cy="317480"/>
          </a:xfrm>
          <a:prstGeom prst="rect">
            <a:avLst/>
          </a:prstGeom>
        </p:spPr>
      </p:pic>
      <p:sp>
        <p:nvSpPr>
          <p:cNvPr id="7" name="Text 3"/>
          <p:cNvSpPr txBox="1"/>
          <p:nvPr/>
        </p:nvSpPr>
        <p:spPr>
          <a:xfrm>
            <a:off x="7086600" y="1353312"/>
            <a:ext cx="4572000" cy="292608"/>
          </a:xfrm>
          <a:prstGeom prst="rect">
            <a:avLst/>
          </a:prstGeom>
          <a:noFill/>
          <a:ln/>
        </p:spPr>
        <p:txBody>
          <a:bodyPr wrap="square" lIns="0" tIns="0" rIns="0" bIns="0" rtlCol="0" anchor="t"/>
          <a:lstStyle/>
          <a:p>
            <a:pPr indent="0" marL="0">
              <a:buNone/>
            </a:pPr>
            <a:r>
              <a:rPr lang="en-US" sz="1600" b="1" dirty="0">
                <a:solidFill>
                  <a:schemeClr val="tx1"/>
                </a:solidFill>
              </a:rPr>
              <a:t>Dashboard</a:t>
            </a:r>
            <a:endParaRPr lang="en-US" sz="1600" dirty="0"/>
          </a:p>
        </p:txBody>
      </p:sp>
      <p:sp>
        <p:nvSpPr>
          <p:cNvPr id="8" name="Text 4"/>
          <p:cNvSpPr txBox="1"/>
          <p:nvPr/>
        </p:nvSpPr>
        <p:spPr>
          <a:xfrm>
            <a:off x="7086600" y="1645920"/>
            <a:ext cx="4572000" cy="457200"/>
          </a:xfrm>
          <a:prstGeom prst="rect">
            <a:avLst/>
          </a:prstGeom>
          <a:noFill/>
          <a:ln/>
        </p:spPr>
        <p:txBody>
          <a:bodyPr wrap="square" lIns="0" tIns="0" rIns="0" bIns="0" rtlCol="0" anchor="t"/>
          <a:lstStyle/>
          <a:p>
            <a:pPr indent="0" marL="0">
              <a:buNone/>
            </a:pPr>
            <a:r>
              <a:rPr lang="en-US" sz="1250" dirty="0">
                <a:solidFill>
                  <a:schemeClr val="accent5"/>
                </a:solidFill>
              </a:rPr>
              <a:t>KPIs + Q1 today's schedule, Q2 overdue samples, Q10 unbilled visits</a:t>
            </a:r>
            <a:endParaRPr lang="en-US" sz="1250" dirty="0"/>
          </a:p>
        </p:txBody>
      </p:sp>
      <p:sp>
        <p:nvSpPr>
          <p:cNvPr id="9" name="icon circle"/>
          <p:cNvSpPr/>
          <p:nvPr/>
        </p:nvSpPr>
        <p:spPr>
          <a:xfrm>
            <a:off x="6355080" y="2240280"/>
            <a:ext cx="566928" cy="566928"/>
          </a:xfrm>
          <a:prstGeom prst="ellipse">
            <a:avLst/>
          </a:prstGeom>
          <a:solidFill>
            <a:srgbClr val="F1F7FD"/>
          </a:solidFill>
          <a:ln w="12700">
            <a:solidFill>
              <a:srgbClr val="F1F7FD"/>
            </a:solidFill>
            <a:prstDash val="solid"/>
          </a:ln>
        </p:spPr>
      </p:sp>
      <p:pic>
        <p:nvPicPr>
          <p:cNvPr id="10" name="icon" descr="preencoded.png">    </p:cNvPr>
          <p:cNvPicPr>
            <a:picLocks noChangeAspect="1"/>
          </p:cNvPicPr>
          <p:nvPr/>
        </p:nvPicPr>
        <p:blipFill>
          <a:blip r:embed="rId3"/>
          <a:stretch>
            <a:fillRect/>
          </a:stretch>
        </p:blipFill>
        <p:spPr>
          <a:xfrm>
            <a:off x="6479804" y="2365004"/>
            <a:ext cx="317480" cy="317480"/>
          </a:xfrm>
          <a:prstGeom prst="rect">
            <a:avLst/>
          </a:prstGeom>
        </p:spPr>
      </p:pic>
      <p:sp>
        <p:nvSpPr>
          <p:cNvPr id="11" name="Text 6"/>
          <p:cNvSpPr txBox="1"/>
          <p:nvPr/>
        </p:nvSpPr>
        <p:spPr>
          <a:xfrm>
            <a:off x="7086600" y="2221992"/>
            <a:ext cx="4572000" cy="292608"/>
          </a:xfrm>
          <a:prstGeom prst="rect">
            <a:avLst/>
          </a:prstGeom>
          <a:noFill/>
          <a:ln/>
        </p:spPr>
        <p:txBody>
          <a:bodyPr wrap="square" lIns="0" tIns="0" rIns="0" bIns="0" rtlCol="0" anchor="t"/>
          <a:lstStyle/>
          <a:p>
            <a:pPr indent="0" marL="0">
              <a:buNone/>
            </a:pPr>
            <a:r>
              <a:rPr lang="en-US" sz="1600" b="1" dirty="0">
                <a:solidFill>
                  <a:schemeClr val="tx1"/>
                </a:solidFill>
              </a:rPr>
              <a:t>Lab desk</a:t>
            </a:r>
            <a:endParaRPr lang="en-US" sz="1600" dirty="0"/>
          </a:p>
        </p:txBody>
      </p:sp>
      <p:sp>
        <p:nvSpPr>
          <p:cNvPr id="12" name="Text 7"/>
          <p:cNvSpPr txBox="1"/>
          <p:nvPr/>
        </p:nvSpPr>
        <p:spPr>
          <a:xfrm>
            <a:off x="7086600" y="2514600"/>
            <a:ext cx="4572000" cy="457200"/>
          </a:xfrm>
          <a:prstGeom prst="rect">
            <a:avLst/>
          </a:prstGeom>
          <a:noFill/>
          <a:ln/>
        </p:spPr>
        <p:txBody>
          <a:bodyPr wrap="square" lIns="0" tIns="0" rIns="0" bIns="0" rtlCol="0" anchor="t"/>
          <a:lstStyle/>
          <a:p>
            <a:pPr indent="0" marL="0">
              <a:buNone/>
            </a:pPr>
            <a:r>
              <a:rPr lang="en-US" sz="1250" dirty="0">
                <a:solidFill>
                  <a:schemeClr val="accent5"/>
                </a:solidFill>
              </a:rPr>
              <a:t>T2b sample status, T3 enter result, T7b delete a REJECTED sample</a:t>
            </a:r>
            <a:endParaRPr lang="en-US" sz="1250" dirty="0"/>
          </a:p>
        </p:txBody>
      </p:sp>
      <p:sp>
        <p:nvSpPr>
          <p:cNvPr id="13" name="icon circle"/>
          <p:cNvSpPr/>
          <p:nvPr/>
        </p:nvSpPr>
        <p:spPr>
          <a:xfrm>
            <a:off x="6355080" y="3108960"/>
            <a:ext cx="566928" cy="566928"/>
          </a:xfrm>
          <a:prstGeom prst="ellipse">
            <a:avLst/>
          </a:prstGeom>
          <a:solidFill>
            <a:srgbClr val="F1F7FD"/>
          </a:solidFill>
          <a:ln w="12700">
            <a:solidFill>
              <a:srgbClr val="F1F7FD"/>
            </a:solidFill>
            <a:prstDash val="solid"/>
          </a:ln>
        </p:spPr>
      </p:sp>
      <p:pic>
        <p:nvPicPr>
          <p:cNvPr id="14" name="icon" descr="preencoded.png">    </p:cNvPr>
          <p:cNvPicPr>
            <a:picLocks noChangeAspect="1"/>
          </p:cNvPicPr>
          <p:nvPr/>
        </p:nvPicPr>
        <p:blipFill>
          <a:blip r:embed="rId4"/>
          <a:stretch>
            <a:fillRect/>
          </a:stretch>
        </p:blipFill>
        <p:spPr>
          <a:xfrm>
            <a:off x="6479804" y="3233684"/>
            <a:ext cx="317480" cy="317480"/>
          </a:xfrm>
          <a:prstGeom prst="rect">
            <a:avLst/>
          </a:prstGeom>
        </p:spPr>
      </p:pic>
      <p:sp>
        <p:nvSpPr>
          <p:cNvPr id="15" name="Text 9"/>
          <p:cNvSpPr txBox="1"/>
          <p:nvPr/>
        </p:nvSpPr>
        <p:spPr>
          <a:xfrm>
            <a:off x="7086600" y="3090672"/>
            <a:ext cx="4572000" cy="292608"/>
          </a:xfrm>
          <a:prstGeom prst="rect">
            <a:avLst/>
          </a:prstGeom>
          <a:noFill/>
          <a:ln/>
        </p:spPr>
        <p:txBody>
          <a:bodyPr wrap="square" lIns="0" tIns="0" rIns="0" bIns="0" rtlCol="0" anchor="t"/>
          <a:lstStyle/>
          <a:p>
            <a:pPr indent="0" marL="0">
              <a:buNone/>
            </a:pPr>
            <a:r>
              <a:rPr lang="en-US" sz="1600" b="1" dirty="0">
                <a:solidFill>
                  <a:schemeClr val="tx1"/>
                </a:solidFill>
              </a:rPr>
              <a:t>Billing</a:t>
            </a:r>
            <a:endParaRPr lang="en-US" sz="1600" dirty="0"/>
          </a:p>
        </p:txBody>
      </p:sp>
      <p:sp>
        <p:nvSpPr>
          <p:cNvPr id="16" name="Text 10"/>
          <p:cNvSpPr txBox="1"/>
          <p:nvPr/>
        </p:nvSpPr>
        <p:spPr>
          <a:xfrm>
            <a:off x="7086600" y="3383280"/>
            <a:ext cx="4572000" cy="457200"/>
          </a:xfrm>
          <a:prstGeom prst="rect">
            <a:avLst/>
          </a:prstGeom>
          <a:noFill/>
          <a:ln/>
        </p:spPr>
        <p:txBody>
          <a:bodyPr wrap="square" lIns="0" tIns="0" rIns="0" bIns="0" rtlCol="0" anchor="t"/>
          <a:lstStyle/>
          <a:p>
            <a:pPr indent="0" marL="0">
              <a:buNone/>
            </a:pPr>
            <a:r>
              <a:rPr lang="en-US" sz="1250" dirty="0">
                <a:solidFill>
                  <a:schemeClr val="accent5"/>
                </a:solidFill>
              </a:rPr>
              <a:t>T5 record payment, T6 end-of-day billing (cursor)</a:t>
            </a:r>
            <a:endParaRPr lang="en-US" sz="1250" dirty="0"/>
          </a:p>
        </p:txBody>
      </p:sp>
      <p:sp>
        <p:nvSpPr>
          <p:cNvPr id="17" name="icon circle"/>
          <p:cNvSpPr/>
          <p:nvPr/>
        </p:nvSpPr>
        <p:spPr>
          <a:xfrm>
            <a:off x="6355080" y="3977640"/>
            <a:ext cx="566928" cy="566928"/>
          </a:xfrm>
          <a:prstGeom prst="ellipse">
            <a:avLst/>
          </a:prstGeom>
          <a:solidFill>
            <a:srgbClr val="F1F7FD"/>
          </a:solidFill>
          <a:ln w="12700">
            <a:solidFill>
              <a:srgbClr val="F1F7FD"/>
            </a:solidFill>
            <a:prstDash val="solid"/>
          </a:ln>
        </p:spPr>
      </p:sp>
      <p:pic>
        <p:nvPicPr>
          <p:cNvPr id="18" name="icon" descr="preencoded.png">    </p:cNvPr>
          <p:cNvPicPr>
            <a:picLocks noChangeAspect="1"/>
          </p:cNvPicPr>
          <p:nvPr/>
        </p:nvPicPr>
        <p:blipFill>
          <a:blip r:embed="rId5"/>
          <a:stretch>
            <a:fillRect/>
          </a:stretch>
        </p:blipFill>
        <p:spPr>
          <a:xfrm>
            <a:off x="6479804" y="4102364"/>
            <a:ext cx="317480" cy="317480"/>
          </a:xfrm>
          <a:prstGeom prst="rect">
            <a:avLst/>
          </a:prstGeom>
        </p:spPr>
      </p:pic>
      <p:sp>
        <p:nvSpPr>
          <p:cNvPr id="19" name="Text 12"/>
          <p:cNvSpPr txBox="1"/>
          <p:nvPr/>
        </p:nvSpPr>
        <p:spPr>
          <a:xfrm>
            <a:off x="7086600" y="3959352"/>
            <a:ext cx="4572000" cy="292608"/>
          </a:xfrm>
          <a:prstGeom prst="rect">
            <a:avLst/>
          </a:prstGeom>
          <a:noFill/>
          <a:ln/>
        </p:spPr>
        <p:txBody>
          <a:bodyPr wrap="square" lIns="0" tIns="0" rIns="0" bIns="0" rtlCol="0" anchor="t"/>
          <a:lstStyle/>
          <a:p>
            <a:pPr indent="0" marL="0">
              <a:buNone/>
            </a:pPr>
            <a:r>
              <a:rPr lang="en-US" sz="1600" b="1" dirty="0">
                <a:solidFill>
                  <a:schemeClr val="tx1"/>
                </a:solidFill>
              </a:rPr>
              <a:t>Reports</a:t>
            </a:r>
            <a:endParaRPr lang="en-US" sz="1600" dirty="0"/>
          </a:p>
        </p:txBody>
      </p:sp>
      <p:sp>
        <p:nvSpPr>
          <p:cNvPr id="20" name="Text 13"/>
          <p:cNvSpPr txBox="1"/>
          <p:nvPr/>
        </p:nvSpPr>
        <p:spPr>
          <a:xfrm>
            <a:off x="7086600" y="4251960"/>
            <a:ext cx="4572000" cy="457200"/>
          </a:xfrm>
          <a:prstGeom prst="rect">
            <a:avLst/>
          </a:prstGeom>
          <a:noFill/>
          <a:ln/>
        </p:spPr>
        <p:txBody>
          <a:bodyPr wrap="square" lIns="0" tIns="0" rIns="0" bIns="0" rtlCol="0" anchor="t"/>
          <a:lstStyle/>
          <a:p>
            <a:pPr indent="0" marL="0">
              <a:buNone/>
            </a:pPr>
            <a:r>
              <a:rPr lang="en-US" sz="1250" dirty="0">
                <a:solidFill>
                  <a:schemeClr val="accent5"/>
                </a:solidFill>
              </a:rPr>
              <a:t>All 15 queries, read live from sql/03_queries.sql</a:t>
            </a:r>
            <a:endParaRPr lang="en-US" sz="1250" dirty="0"/>
          </a:p>
        </p:txBody>
      </p:sp>
      <p:sp>
        <p:nvSpPr>
          <p:cNvPr id="21" name="icon circle"/>
          <p:cNvSpPr/>
          <p:nvPr/>
        </p:nvSpPr>
        <p:spPr>
          <a:xfrm>
            <a:off x="6355080" y="4846320"/>
            <a:ext cx="566928" cy="566928"/>
          </a:xfrm>
          <a:prstGeom prst="ellipse">
            <a:avLst/>
          </a:prstGeom>
          <a:solidFill>
            <a:srgbClr val="F1F7FD"/>
          </a:solidFill>
          <a:ln w="12700">
            <a:solidFill>
              <a:srgbClr val="F1F7FD"/>
            </a:solidFill>
            <a:prstDash val="solid"/>
          </a:ln>
        </p:spPr>
      </p:sp>
      <p:pic>
        <p:nvPicPr>
          <p:cNvPr id="22" name="icon" descr="preencoded.png">    </p:cNvPr>
          <p:cNvPicPr>
            <a:picLocks noChangeAspect="1"/>
          </p:cNvPicPr>
          <p:nvPr/>
        </p:nvPicPr>
        <p:blipFill>
          <a:blip r:embed="rId6"/>
          <a:stretch>
            <a:fillRect/>
          </a:stretch>
        </p:blipFill>
        <p:spPr>
          <a:xfrm>
            <a:off x="6479804" y="4971044"/>
            <a:ext cx="317480" cy="317480"/>
          </a:xfrm>
          <a:prstGeom prst="rect">
            <a:avLst/>
          </a:prstGeom>
        </p:spPr>
      </p:pic>
      <p:sp>
        <p:nvSpPr>
          <p:cNvPr id="23" name="Text 15"/>
          <p:cNvSpPr txBox="1"/>
          <p:nvPr/>
        </p:nvSpPr>
        <p:spPr>
          <a:xfrm>
            <a:off x="7086600" y="4828032"/>
            <a:ext cx="4572000" cy="292608"/>
          </a:xfrm>
          <a:prstGeom prst="rect">
            <a:avLst/>
          </a:prstGeom>
          <a:noFill/>
          <a:ln/>
        </p:spPr>
        <p:txBody>
          <a:bodyPr wrap="square" lIns="0" tIns="0" rIns="0" bIns="0" rtlCol="0" anchor="t"/>
          <a:lstStyle/>
          <a:p>
            <a:pPr indent="0" marL="0">
              <a:buNone/>
            </a:pPr>
            <a:r>
              <a:rPr lang="en-US" sz="1600" b="1" dirty="0">
                <a:solidFill>
                  <a:schemeClr val="tx1"/>
                </a:solidFill>
              </a:rPr>
              <a:t>Database</a:t>
            </a:r>
            <a:endParaRPr lang="en-US" sz="1600" dirty="0"/>
          </a:p>
        </p:txBody>
      </p:sp>
      <p:sp>
        <p:nvSpPr>
          <p:cNvPr id="24" name="Text 16"/>
          <p:cNvSpPr txBox="1"/>
          <p:nvPr/>
        </p:nvSpPr>
        <p:spPr>
          <a:xfrm>
            <a:off x="7086600" y="5120640"/>
            <a:ext cx="4572000" cy="457200"/>
          </a:xfrm>
          <a:prstGeom prst="rect">
            <a:avLst/>
          </a:prstGeom>
          <a:noFill/>
          <a:ln/>
        </p:spPr>
        <p:txBody>
          <a:bodyPr wrap="square" lIns="0" tIns="0" rIns="0" bIns="0" rtlCol="0" anchor="t"/>
          <a:lstStyle/>
          <a:p>
            <a:pPr indent="0" marL="0">
              <a:buNone/>
            </a:pPr>
            <a:r>
              <a:rPr lang="en-US" sz="1250" dirty="0">
                <a:solidFill>
                  <a:schemeClr val="accent5"/>
                </a:solidFill>
              </a:rPr>
              <a:t>Columns, constraints and PL/SQL source from the data dictionary; constraint lab</a:t>
            </a:r>
            <a:endParaRPr lang="en-US" sz="125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lIns="0" tIns="0" rIns="0" bIns="0" rtlCol="0" anchor="ctr"/>
          <a:lstStyle/>
          <a:p>
            <a:pPr algn="l" indent="0" marL="0">
              <a:buNone/>
            </a:pPr>
            <a:r>
              <a:rPr lang="en-US" sz="3200" b="1" dirty="0">
                <a:solidFill>
                  <a:schemeClr val="tx1"/>
                </a:solidFill>
              </a:rPr>
              <a:t>Every action shows its SQL: operation → database → result</a:t>
            </a:r>
            <a:endParaRPr lang="en-US" sz="3200" dirty="0"/>
          </a:p>
        </p:txBody>
      </p:sp>
      <p:sp>
        <p:nvSpPr>
          <p:cNvPr id="3" name="Behind the scenes trace screenshot frame"/>
          <p:cNvSpPr/>
          <p:nvPr/>
        </p:nvSpPr>
        <p:spPr>
          <a:xfrm>
            <a:off x="548640" y="1362456"/>
            <a:ext cx="6876288" cy="2487168"/>
          </a:xfrm>
          <a:prstGeom prst="roundRect">
            <a:avLst>
              <a:gd name="adj" fmla="val 2941"/>
            </a:avLst>
          </a:prstGeom>
          <a:solidFill>
            <a:schemeClr val="bg1"/>
          </a:solidFill>
          <a:ln w="12700">
            <a:solidFill>
              <a:schemeClr val="accent6"/>
            </a:solidFill>
            <a:prstDash val="solid"/>
          </a:ln>
        </p:spPr>
      </p:sp>
      <p:pic>
        <p:nvPicPr>
          <p:cNvPr id="4" name="Behind the scenes trace screenshot" descr="Behind the scenes trace screenshot">    </p:cNvPr>
          <p:cNvPicPr>
            <a:picLocks noChangeAspect="1"/>
          </p:cNvPicPr>
          <p:nvPr/>
        </p:nvPicPr>
        <p:blipFill>
          <a:blip r:embed="rId1"/>
          <a:stretch>
            <a:fillRect/>
          </a:stretch>
        </p:blipFill>
        <p:spPr>
          <a:xfrm>
            <a:off x="603504" y="1417320"/>
            <a:ext cx="6766560" cy="2377440"/>
          </a:xfrm>
          <a:prstGeom prst="rect">
            <a:avLst/>
          </a:prstGeom>
        </p:spPr>
      </p:pic>
      <p:sp>
        <p:nvSpPr>
          <p:cNvPr id="5" name="flow step"/>
          <p:cNvSpPr/>
          <p:nvPr/>
        </p:nvSpPr>
        <p:spPr>
          <a:xfrm>
            <a:off x="603504" y="4206240"/>
            <a:ext cx="1645920" cy="548640"/>
          </a:xfrm>
          <a:prstGeom prst="chevron">
            <a:avLst/>
          </a:prstGeom>
          <a:solidFill>
            <a:schemeClr val="tx1"/>
          </a:solidFill>
          <a:ln w="12700">
            <a:solidFill>
              <a:schemeClr val="bg1"/>
            </a:solidFill>
            <a:prstDash val="solid"/>
          </a:ln>
        </p:spPr>
      </p:sp>
      <p:sp>
        <p:nvSpPr>
          <p:cNvPr id="6" name="Text 3"/>
          <p:cNvSpPr txBox="1"/>
          <p:nvPr/>
        </p:nvSpPr>
        <p:spPr>
          <a:xfrm>
            <a:off x="832104" y="4206240"/>
            <a:ext cx="1280160" cy="548640"/>
          </a:xfrm>
          <a:prstGeom prst="rect">
            <a:avLst/>
          </a:prstGeom>
          <a:noFill/>
          <a:ln/>
        </p:spPr>
        <p:txBody>
          <a:bodyPr wrap="square" lIns="0" tIns="0" rIns="0" bIns="0" rtlCol="0" anchor="ctr"/>
          <a:lstStyle/>
          <a:p>
            <a:pPr algn="ctr" indent="0" marL="0">
              <a:buNone/>
            </a:pPr>
            <a:r>
              <a:rPr lang="en-US" sz="1150" b="1" dirty="0">
                <a:solidFill>
                  <a:schemeClr val="bg1"/>
                </a:solidFill>
              </a:rPr>
              <a:t>User operation</a:t>
            </a:r>
            <a:endParaRPr lang="en-US" sz="1150" dirty="0"/>
          </a:p>
        </p:txBody>
      </p:sp>
      <p:sp>
        <p:nvSpPr>
          <p:cNvPr id="7" name="flow step"/>
          <p:cNvSpPr/>
          <p:nvPr/>
        </p:nvSpPr>
        <p:spPr>
          <a:xfrm>
            <a:off x="2322576" y="4206240"/>
            <a:ext cx="1645920" cy="548640"/>
          </a:xfrm>
          <a:prstGeom prst="chevron">
            <a:avLst/>
          </a:prstGeom>
          <a:solidFill>
            <a:schemeClr val="accent1"/>
          </a:solidFill>
          <a:ln w="12700">
            <a:solidFill>
              <a:schemeClr val="bg1"/>
            </a:solidFill>
            <a:prstDash val="solid"/>
          </a:ln>
        </p:spPr>
      </p:sp>
      <p:sp>
        <p:nvSpPr>
          <p:cNvPr id="8" name="Text 5"/>
          <p:cNvSpPr txBox="1"/>
          <p:nvPr/>
        </p:nvSpPr>
        <p:spPr>
          <a:xfrm>
            <a:off x="2551176" y="4206240"/>
            <a:ext cx="1280160" cy="548640"/>
          </a:xfrm>
          <a:prstGeom prst="rect">
            <a:avLst/>
          </a:prstGeom>
          <a:noFill/>
          <a:ln/>
        </p:spPr>
        <p:txBody>
          <a:bodyPr wrap="square" lIns="0" tIns="0" rIns="0" bIns="0" rtlCol="0" anchor="ctr"/>
          <a:lstStyle/>
          <a:p>
            <a:pPr algn="ctr" indent="0" marL="0">
              <a:buNone/>
            </a:pPr>
            <a:r>
              <a:rPr lang="en-US" sz="1150" b="1" dirty="0">
                <a:solidFill>
                  <a:schemeClr val="bg1"/>
                </a:solidFill>
              </a:rPr>
              <a:t>SQL / PL-SQL run</a:t>
            </a:r>
            <a:endParaRPr lang="en-US" sz="1150" dirty="0"/>
          </a:p>
        </p:txBody>
      </p:sp>
      <p:sp>
        <p:nvSpPr>
          <p:cNvPr id="9" name="flow step"/>
          <p:cNvSpPr/>
          <p:nvPr/>
        </p:nvSpPr>
        <p:spPr>
          <a:xfrm>
            <a:off x="4041648" y="4206240"/>
            <a:ext cx="1645920" cy="548640"/>
          </a:xfrm>
          <a:prstGeom prst="chevron">
            <a:avLst/>
          </a:prstGeom>
          <a:solidFill>
            <a:schemeClr val="tx1"/>
          </a:solidFill>
          <a:ln w="12700">
            <a:solidFill>
              <a:schemeClr val="bg1"/>
            </a:solidFill>
            <a:prstDash val="solid"/>
          </a:ln>
        </p:spPr>
      </p:sp>
      <p:sp>
        <p:nvSpPr>
          <p:cNvPr id="10" name="Text 7"/>
          <p:cNvSpPr txBox="1"/>
          <p:nvPr/>
        </p:nvSpPr>
        <p:spPr>
          <a:xfrm>
            <a:off x="4270248" y="4206240"/>
            <a:ext cx="1280160" cy="548640"/>
          </a:xfrm>
          <a:prstGeom prst="rect">
            <a:avLst/>
          </a:prstGeom>
          <a:noFill/>
          <a:ln/>
        </p:spPr>
        <p:txBody>
          <a:bodyPr wrap="square" lIns="0" tIns="0" rIns="0" bIns="0" rtlCol="0" anchor="ctr"/>
          <a:lstStyle/>
          <a:p>
            <a:pPr algn="ctr" indent="0" marL="0">
              <a:buNone/>
            </a:pPr>
            <a:r>
              <a:rPr lang="en-US" sz="1150" b="1" dirty="0">
                <a:solidFill>
                  <a:schemeClr val="bg1"/>
                </a:solidFill>
              </a:rPr>
              <a:t>Tables touched</a:t>
            </a:r>
            <a:endParaRPr lang="en-US" sz="1150" dirty="0"/>
          </a:p>
        </p:txBody>
      </p:sp>
      <p:sp>
        <p:nvSpPr>
          <p:cNvPr id="11" name="flow step"/>
          <p:cNvSpPr/>
          <p:nvPr/>
        </p:nvSpPr>
        <p:spPr>
          <a:xfrm>
            <a:off x="5760720" y="4206240"/>
            <a:ext cx="1645920" cy="548640"/>
          </a:xfrm>
          <a:prstGeom prst="chevron">
            <a:avLst/>
          </a:prstGeom>
          <a:solidFill>
            <a:schemeClr val="accent1"/>
          </a:solidFill>
          <a:ln w="12700">
            <a:solidFill>
              <a:schemeClr val="bg1"/>
            </a:solidFill>
            <a:prstDash val="solid"/>
          </a:ln>
        </p:spPr>
      </p:sp>
      <p:sp>
        <p:nvSpPr>
          <p:cNvPr id="12" name="Text 9"/>
          <p:cNvSpPr txBox="1"/>
          <p:nvPr/>
        </p:nvSpPr>
        <p:spPr>
          <a:xfrm>
            <a:off x="5989320" y="4206240"/>
            <a:ext cx="1280160" cy="548640"/>
          </a:xfrm>
          <a:prstGeom prst="rect">
            <a:avLst/>
          </a:prstGeom>
          <a:noFill/>
          <a:ln/>
        </p:spPr>
        <p:txBody>
          <a:bodyPr wrap="square" lIns="0" tIns="0" rIns="0" bIns="0" rtlCol="0" anchor="ctr"/>
          <a:lstStyle/>
          <a:p>
            <a:pPr algn="ctr" indent="0" marL="0">
              <a:buNone/>
            </a:pPr>
            <a:r>
              <a:rPr lang="en-US" sz="1150" b="1" dirty="0">
                <a:solidFill>
                  <a:schemeClr val="bg1"/>
                </a:solidFill>
              </a:rPr>
              <a:t>Rows affected</a:t>
            </a:r>
            <a:endParaRPr lang="en-US" sz="1150" dirty="0"/>
          </a:p>
        </p:txBody>
      </p:sp>
      <p:sp>
        <p:nvSpPr>
          <p:cNvPr id="13" name="Text 10"/>
          <p:cNvSpPr txBox="1"/>
          <p:nvPr/>
        </p:nvSpPr>
        <p:spPr>
          <a:xfrm>
            <a:off x="603504" y="4983480"/>
            <a:ext cx="6766560" cy="731520"/>
          </a:xfrm>
          <a:prstGeom prst="rect">
            <a:avLst/>
          </a:prstGeom>
          <a:noFill/>
          <a:ln/>
        </p:spPr>
        <p:txBody>
          <a:bodyPr wrap="square" lIns="0" tIns="0" rIns="0" bIns="0" rtlCol="0" anchor="t"/>
          <a:lstStyle/>
          <a:p>
            <a:pPr indent="0" marL="0">
              <a:buNone/>
            </a:pPr>
            <a:r>
              <a:rPr lang="en-US" sz="1300" dirty="0">
                <a:solidFill>
                  <a:schemeClr val="accent5"/>
                </a:solidFill>
              </a:rPr>
              <a:t>This is the “User Operation → SQL/PL-SQL → Database → Result” flow the evaluators ask about, printed after every transaction in both front ends.</a:t>
            </a:r>
            <a:endParaRPr lang="en-US" sz="1300" dirty="0"/>
          </a:p>
        </p:txBody>
      </p:sp>
      <p:sp>
        <p:nvSpPr>
          <p:cNvPr id="14" name="card"/>
          <p:cNvSpPr/>
          <p:nvPr/>
        </p:nvSpPr>
        <p:spPr>
          <a:xfrm>
            <a:off x="7818120" y="1417320"/>
            <a:ext cx="3794760" cy="4297680"/>
          </a:xfrm>
          <a:prstGeom prst="roundRect">
            <a:avLst>
              <a:gd name="adj" fmla="val 2410"/>
            </a:avLst>
          </a:prstGeom>
          <a:solidFill>
            <a:schemeClr val="bg2"/>
          </a:solidFill>
          <a:ln w="12700">
            <a:solidFill>
              <a:schemeClr val="accent6"/>
            </a:solidFill>
            <a:prstDash val="solid"/>
          </a:ln>
        </p:spPr>
      </p:sp>
      <p:sp>
        <p:nvSpPr>
          <p:cNvPr id="15" name="Text 12"/>
          <p:cNvSpPr txBox="1"/>
          <p:nvPr/>
        </p:nvSpPr>
        <p:spPr>
          <a:xfrm>
            <a:off x="8092440" y="1645920"/>
            <a:ext cx="3383280" cy="365760"/>
          </a:xfrm>
          <a:prstGeom prst="rect">
            <a:avLst/>
          </a:prstGeom>
          <a:noFill/>
          <a:ln/>
        </p:spPr>
        <p:txBody>
          <a:bodyPr wrap="square" lIns="0" tIns="0" rIns="0" bIns="0" rtlCol="0" anchor="t"/>
          <a:lstStyle/>
          <a:p>
            <a:pPr indent="0" marL="0">
              <a:buNone/>
            </a:pPr>
            <a:r>
              <a:rPr lang="en-US" sz="1600" b="1" dirty="0">
                <a:solidFill>
                  <a:schemeClr val="tx1"/>
                </a:solidFill>
              </a:rPr>
              <a:t>TxResult (services.py)</a:t>
            </a:r>
            <a:endParaRPr lang="en-US" sz="1600" dirty="0"/>
          </a:p>
        </p:txBody>
      </p:sp>
      <p:sp>
        <p:nvSpPr>
          <p:cNvPr id="16" name="Text 13"/>
          <p:cNvSpPr txBox="1"/>
          <p:nvPr/>
        </p:nvSpPr>
        <p:spPr>
          <a:xfrm>
            <a:off x="8092440" y="2148840"/>
            <a:ext cx="3383280" cy="256032"/>
          </a:xfrm>
          <a:prstGeom prst="rect">
            <a:avLst/>
          </a:prstGeom>
          <a:noFill/>
          <a:ln/>
        </p:spPr>
        <p:txBody>
          <a:bodyPr wrap="square" lIns="0" tIns="0" rIns="0" bIns="0" rtlCol="0" anchor="t"/>
          <a:lstStyle/>
          <a:p>
            <a:pPr indent="0" marL="0">
              <a:buNone/>
            </a:pPr>
            <a:r>
              <a:rPr lang="en-US" sz="1200" b="1" dirty="0">
                <a:solidFill>
                  <a:schemeClr val="accent1"/>
                </a:solidFill>
                <a:latin typeface="Courier New" pitchFamily="34" charset="0"/>
                <a:ea typeface="Courier New" pitchFamily="34" charset="-122"/>
                <a:cs typeface="Courier New" pitchFamily="34" charset="-120"/>
              </a:rPr>
              <a:t>operation</a:t>
            </a:r>
            <a:endParaRPr lang="en-US" sz="1200" dirty="0"/>
          </a:p>
        </p:txBody>
      </p:sp>
      <p:sp>
        <p:nvSpPr>
          <p:cNvPr id="17" name="Text 14"/>
          <p:cNvSpPr txBox="1"/>
          <p:nvPr/>
        </p:nvSpPr>
        <p:spPr>
          <a:xfrm>
            <a:off x="8092440" y="2395728"/>
            <a:ext cx="3383280" cy="274320"/>
          </a:xfrm>
          <a:prstGeom prst="rect">
            <a:avLst/>
          </a:prstGeom>
          <a:noFill/>
          <a:ln/>
        </p:spPr>
        <p:txBody>
          <a:bodyPr wrap="square" lIns="0" tIns="0" rIns="0" bIns="0" rtlCol="0" anchor="t"/>
          <a:lstStyle/>
          <a:p>
            <a:pPr indent="0" marL="0">
              <a:buNone/>
            </a:pPr>
            <a:r>
              <a:rPr lang="en-US" sz="1200" dirty="0">
                <a:solidFill>
                  <a:schemeClr val="tx1"/>
                </a:solidFill>
              </a:rPr>
              <a:t>e.g. T4. Complete visit and bill</a:t>
            </a:r>
            <a:endParaRPr lang="en-US" sz="1200" dirty="0"/>
          </a:p>
        </p:txBody>
      </p:sp>
      <p:sp>
        <p:nvSpPr>
          <p:cNvPr id="18" name="Text 15"/>
          <p:cNvSpPr txBox="1"/>
          <p:nvPr/>
        </p:nvSpPr>
        <p:spPr>
          <a:xfrm>
            <a:off x="8092440" y="2715768"/>
            <a:ext cx="3383280" cy="256032"/>
          </a:xfrm>
          <a:prstGeom prst="rect">
            <a:avLst/>
          </a:prstGeom>
          <a:noFill/>
          <a:ln/>
        </p:spPr>
        <p:txBody>
          <a:bodyPr wrap="square" lIns="0" tIns="0" rIns="0" bIns="0" rtlCol="0" anchor="t"/>
          <a:lstStyle/>
          <a:p>
            <a:pPr indent="0" marL="0">
              <a:buNone/>
            </a:pPr>
            <a:r>
              <a:rPr lang="en-US" sz="1200" b="1" dirty="0">
                <a:solidFill>
                  <a:schemeClr val="accent1"/>
                </a:solidFill>
                <a:latin typeface="Courier New" pitchFamily="34" charset="0"/>
                <a:ea typeface="Courier New" pitchFamily="34" charset="-122"/>
                <a:cs typeface="Courier New" pitchFamily="34" charset="-120"/>
              </a:rPr>
              <a:t>tables</a:t>
            </a:r>
            <a:endParaRPr lang="en-US" sz="1200" dirty="0"/>
          </a:p>
        </p:txBody>
      </p:sp>
      <p:sp>
        <p:nvSpPr>
          <p:cNvPr id="19" name="Text 16"/>
          <p:cNvSpPr txBox="1"/>
          <p:nvPr/>
        </p:nvSpPr>
        <p:spPr>
          <a:xfrm>
            <a:off x="8092440" y="2962656"/>
            <a:ext cx="3383280" cy="274320"/>
          </a:xfrm>
          <a:prstGeom prst="rect">
            <a:avLst/>
          </a:prstGeom>
          <a:noFill/>
          <a:ln/>
        </p:spPr>
        <p:txBody>
          <a:bodyPr wrap="square" lIns="0" tIns="0" rIns="0" bIns="0" rtlCol="0" anchor="t"/>
          <a:lstStyle/>
          <a:p>
            <a:pPr indent="0" marL="0">
              <a:buNone/>
            </a:pPr>
            <a:r>
              <a:rPr lang="en-US" sz="1200" dirty="0">
                <a:solidFill>
                  <a:schemeClr val="tx1"/>
                </a:solidFill>
              </a:rPr>
              <a:t>APPOINTMENT, DOCTOR, SAMPLE, …</a:t>
            </a:r>
            <a:endParaRPr lang="en-US" sz="1200" dirty="0"/>
          </a:p>
        </p:txBody>
      </p:sp>
      <p:sp>
        <p:nvSpPr>
          <p:cNvPr id="20" name="Text 17"/>
          <p:cNvSpPr txBox="1"/>
          <p:nvPr/>
        </p:nvSpPr>
        <p:spPr>
          <a:xfrm>
            <a:off x="8092440" y="3282696"/>
            <a:ext cx="3383280" cy="256032"/>
          </a:xfrm>
          <a:prstGeom prst="rect">
            <a:avLst/>
          </a:prstGeom>
          <a:noFill/>
          <a:ln/>
        </p:spPr>
        <p:txBody>
          <a:bodyPr wrap="square" lIns="0" tIns="0" rIns="0" bIns="0" rtlCol="0" anchor="t"/>
          <a:lstStyle/>
          <a:p>
            <a:pPr indent="0" marL="0">
              <a:buNone/>
            </a:pPr>
            <a:r>
              <a:rPr lang="en-US" sz="1200" b="1" dirty="0">
                <a:solidFill>
                  <a:schemeClr val="accent1"/>
                </a:solidFill>
                <a:latin typeface="Courier New" pitchFamily="34" charset="0"/>
                <a:ea typeface="Courier New" pitchFamily="34" charset="-122"/>
                <a:cs typeface="Courier New" pitchFamily="34" charset="-120"/>
              </a:rPr>
              <a:t>components</a:t>
            </a:r>
            <a:endParaRPr lang="en-US" sz="1200" dirty="0"/>
          </a:p>
        </p:txBody>
      </p:sp>
      <p:sp>
        <p:nvSpPr>
          <p:cNvPr id="21" name="Text 18"/>
          <p:cNvSpPr txBox="1"/>
          <p:nvPr/>
        </p:nvSpPr>
        <p:spPr>
          <a:xfrm>
            <a:off x="8092440" y="3529584"/>
            <a:ext cx="3383280" cy="274320"/>
          </a:xfrm>
          <a:prstGeom prst="rect">
            <a:avLst/>
          </a:prstGeom>
          <a:noFill/>
          <a:ln/>
        </p:spPr>
        <p:txBody>
          <a:bodyPr wrap="square" lIns="0" tIns="0" rIns="0" bIns="0" rtlCol="0" anchor="t"/>
          <a:lstStyle/>
          <a:p>
            <a:pPr indent="0" marL="0">
              <a:buNone/>
            </a:pPr>
            <a:r>
              <a:rPr lang="en-US" sz="1200" dirty="0">
                <a:solidFill>
                  <a:schemeClr val="tx1"/>
                </a:solidFill>
              </a:rPr>
              <a:t>generate_bill, ck_bill_total_amt</a:t>
            </a:r>
            <a:endParaRPr lang="en-US" sz="1200" dirty="0"/>
          </a:p>
        </p:txBody>
      </p:sp>
      <p:sp>
        <p:nvSpPr>
          <p:cNvPr id="22" name="Text 19"/>
          <p:cNvSpPr txBox="1"/>
          <p:nvPr/>
        </p:nvSpPr>
        <p:spPr>
          <a:xfrm>
            <a:off x="8092440" y="3849624"/>
            <a:ext cx="3383280" cy="256032"/>
          </a:xfrm>
          <a:prstGeom prst="rect">
            <a:avLst/>
          </a:prstGeom>
          <a:noFill/>
          <a:ln/>
        </p:spPr>
        <p:txBody>
          <a:bodyPr wrap="square" lIns="0" tIns="0" rIns="0" bIns="0" rtlCol="0" anchor="t"/>
          <a:lstStyle/>
          <a:p>
            <a:pPr indent="0" marL="0">
              <a:buNone/>
            </a:pPr>
            <a:r>
              <a:rPr lang="en-US" sz="1200" b="1" dirty="0">
                <a:solidFill>
                  <a:schemeClr val="accent1"/>
                </a:solidFill>
                <a:latin typeface="Courier New" pitchFamily="34" charset="0"/>
                <a:ea typeface="Courier New" pitchFamily="34" charset="-122"/>
                <a:cs typeface="Courier New" pitchFamily="34" charset="-120"/>
              </a:rPr>
              <a:t>statements</a:t>
            </a:r>
            <a:endParaRPr lang="en-US" sz="1200" dirty="0"/>
          </a:p>
        </p:txBody>
      </p:sp>
      <p:sp>
        <p:nvSpPr>
          <p:cNvPr id="23" name="Text 20"/>
          <p:cNvSpPr txBox="1"/>
          <p:nvPr/>
        </p:nvSpPr>
        <p:spPr>
          <a:xfrm>
            <a:off x="8092440" y="4096512"/>
            <a:ext cx="3383280" cy="274320"/>
          </a:xfrm>
          <a:prstGeom prst="rect">
            <a:avLst/>
          </a:prstGeom>
          <a:noFill/>
          <a:ln/>
        </p:spPr>
        <p:txBody>
          <a:bodyPr wrap="square" lIns="0" tIns="0" rIns="0" bIns="0" rtlCol="0" anchor="t"/>
          <a:lstStyle/>
          <a:p>
            <a:pPr indent="0" marL="0">
              <a:buNone/>
            </a:pPr>
            <a:r>
              <a:rPr lang="en-US" sz="1200" dirty="0">
                <a:solidFill>
                  <a:schemeClr val="tx1"/>
                </a:solidFill>
              </a:rPr>
              <a:t>the SQL actually executed</a:t>
            </a:r>
            <a:endParaRPr lang="en-US" sz="1200" dirty="0"/>
          </a:p>
        </p:txBody>
      </p:sp>
      <p:sp>
        <p:nvSpPr>
          <p:cNvPr id="24" name="Text 21"/>
          <p:cNvSpPr txBox="1"/>
          <p:nvPr/>
        </p:nvSpPr>
        <p:spPr>
          <a:xfrm>
            <a:off x="8092440" y="4416552"/>
            <a:ext cx="3383280" cy="256032"/>
          </a:xfrm>
          <a:prstGeom prst="rect">
            <a:avLst/>
          </a:prstGeom>
          <a:noFill/>
          <a:ln/>
        </p:spPr>
        <p:txBody>
          <a:bodyPr wrap="square" lIns="0" tIns="0" rIns="0" bIns="0" rtlCol="0" anchor="t"/>
          <a:lstStyle/>
          <a:p>
            <a:pPr indent="0" marL="0">
              <a:buNone/>
            </a:pPr>
            <a:r>
              <a:rPr lang="en-US" sz="1200" b="1" dirty="0">
                <a:solidFill>
                  <a:schemeClr val="accent1"/>
                </a:solidFill>
                <a:latin typeface="Courier New" pitchFamily="34" charset="0"/>
                <a:ea typeface="Courier New" pitchFamily="34" charset="-122"/>
                <a:cs typeface="Courier New" pitchFamily="34" charset="-120"/>
              </a:rPr>
              <a:t>rows_affected</a:t>
            </a:r>
            <a:endParaRPr lang="en-US" sz="1200" dirty="0"/>
          </a:p>
        </p:txBody>
      </p:sp>
      <p:sp>
        <p:nvSpPr>
          <p:cNvPr id="25" name="Text 22"/>
          <p:cNvSpPr txBox="1"/>
          <p:nvPr/>
        </p:nvSpPr>
        <p:spPr>
          <a:xfrm>
            <a:off x="8092440" y="4663440"/>
            <a:ext cx="3383280" cy="274320"/>
          </a:xfrm>
          <a:prstGeom prst="rect">
            <a:avLst/>
          </a:prstGeom>
          <a:noFill/>
          <a:ln/>
        </p:spPr>
        <p:txBody>
          <a:bodyPr wrap="square" lIns="0" tIns="0" rIns="0" bIns="0" rtlCol="0" anchor="t"/>
          <a:lstStyle/>
          <a:p>
            <a:pPr indent="0" marL="0">
              <a:buNone/>
            </a:pPr>
            <a:r>
              <a:rPr lang="en-US" sz="1200" dirty="0">
                <a:solidFill>
                  <a:schemeClr val="tx1"/>
                </a:solidFill>
              </a:rPr>
              <a:t>APPOINTMENT updated: 1, BILL inserted: 1</a:t>
            </a:r>
            <a:endParaRPr lang="en-US" sz="1200" dirty="0"/>
          </a:p>
        </p:txBody>
      </p:sp>
      <p:sp>
        <p:nvSpPr>
          <p:cNvPr id="26" name="Text 23"/>
          <p:cNvSpPr txBox="1"/>
          <p:nvPr/>
        </p:nvSpPr>
        <p:spPr>
          <a:xfrm>
            <a:off x="8092440" y="4983480"/>
            <a:ext cx="3383280" cy="256032"/>
          </a:xfrm>
          <a:prstGeom prst="rect">
            <a:avLst/>
          </a:prstGeom>
          <a:noFill/>
          <a:ln/>
        </p:spPr>
        <p:txBody>
          <a:bodyPr wrap="square" lIns="0" tIns="0" rIns="0" bIns="0" rtlCol="0" anchor="t"/>
          <a:lstStyle/>
          <a:p>
            <a:pPr indent="0" marL="0">
              <a:buNone/>
            </a:pPr>
            <a:r>
              <a:rPr lang="en-US" sz="1200" b="1" dirty="0">
                <a:solidFill>
                  <a:schemeClr val="accent1"/>
                </a:solidFill>
                <a:latin typeface="Courier New" pitchFamily="34" charset="0"/>
                <a:ea typeface="Courier New" pitchFamily="34" charset="-122"/>
                <a:cs typeface="Courier New" pitchFamily="34" charset="-120"/>
              </a:rPr>
              <a:t>result / error_code</a:t>
            </a:r>
            <a:endParaRPr lang="en-US" sz="1200" dirty="0"/>
          </a:p>
        </p:txBody>
      </p:sp>
      <p:sp>
        <p:nvSpPr>
          <p:cNvPr id="27" name="Text 24"/>
          <p:cNvSpPr txBox="1"/>
          <p:nvPr/>
        </p:nvSpPr>
        <p:spPr>
          <a:xfrm>
            <a:off x="8092440" y="5230368"/>
            <a:ext cx="3383280" cy="274320"/>
          </a:xfrm>
          <a:prstGeom prst="rect">
            <a:avLst/>
          </a:prstGeom>
          <a:noFill/>
          <a:ln/>
        </p:spPr>
        <p:txBody>
          <a:bodyPr wrap="square" lIns="0" tIns="0" rIns="0" bIns="0" rtlCol="0" anchor="t"/>
          <a:lstStyle/>
          <a:p>
            <a:pPr indent="0" marL="0">
              <a:buNone/>
            </a:pPr>
            <a:r>
              <a:rPr lang="en-US" sz="1200" dirty="0">
                <a:solidFill>
                  <a:schemeClr val="tx1"/>
                </a:solidFill>
              </a:rPr>
              <a:t>outcome, or the ORA code</a:t>
            </a:r>
            <a:endParaRPr lang="en-US" sz="12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lIns="0" tIns="0" rIns="0" bIns="0" rtlCol="0" anchor="ctr"/>
          <a:lstStyle/>
          <a:p>
            <a:pPr algn="l" indent="0" marL="0">
              <a:buNone/>
            </a:pPr>
            <a:r>
              <a:rPr lang="en-US" sz="3200" b="1" dirty="0">
                <a:solidFill>
                  <a:schemeClr val="tx1"/>
                </a:solidFill>
              </a:rPr>
              <a:t>When the database says no, the screen says why</a:t>
            </a:r>
            <a:endParaRPr lang="en-US" sz="3200" dirty="0"/>
          </a:p>
        </p:txBody>
      </p:sp>
      <p:sp>
        <p:nvSpPr>
          <p:cNvPr id="3" name="Error panel screenshot frame"/>
          <p:cNvSpPr/>
          <p:nvPr/>
        </p:nvSpPr>
        <p:spPr>
          <a:xfrm>
            <a:off x="548640" y="1362456"/>
            <a:ext cx="6510528" cy="2962656"/>
          </a:xfrm>
          <a:prstGeom prst="roundRect">
            <a:avLst>
              <a:gd name="adj" fmla="val 2469"/>
            </a:avLst>
          </a:prstGeom>
          <a:solidFill>
            <a:schemeClr val="bg1"/>
          </a:solidFill>
          <a:ln w="12700">
            <a:solidFill>
              <a:schemeClr val="accent6"/>
            </a:solidFill>
            <a:prstDash val="solid"/>
          </a:ln>
        </p:spPr>
      </p:sp>
      <p:pic>
        <p:nvPicPr>
          <p:cNvPr id="4" name="Error panel screenshot" descr="Error panel screenshot">    </p:cNvPr>
          <p:cNvPicPr>
            <a:picLocks noChangeAspect="1"/>
          </p:cNvPicPr>
          <p:nvPr/>
        </p:nvPicPr>
        <p:blipFill>
          <a:blip r:embed="rId1"/>
          <a:stretch>
            <a:fillRect/>
          </a:stretch>
        </p:blipFill>
        <p:spPr>
          <a:xfrm>
            <a:off x="603504" y="1417320"/>
            <a:ext cx="6400800" cy="2852928"/>
          </a:xfrm>
          <a:prstGeom prst="rect">
            <a:avLst/>
          </a:prstGeom>
        </p:spPr>
      </p:pic>
      <p:sp>
        <p:nvSpPr>
          <p:cNvPr id="5" name="Text 2"/>
          <p:cNvSpPr txBox="1"/>
          <p:nvPr/>
        </p:nvSpPr>
        <p:spPr>
          <a:xfrm>
            <a:off x="603504" y="4526280"/>
            <a:ext cx="6400800" cy="548640"/>
          </a:xfrm>
          <a:prstGeom prst="rect">
            <a:avLst/>
          </a:prstGeom>
          <a:noFill/>
          <a:ln/>
        </p:spPr>
        <p:txBody>
          <a:bodyPr wrap="square" lIns="0" tIns="0" rIns="0" bIns="0" rtlCol="0" anchor="t"/>
          <a:lstStyle/>
          <a:p>
            <a:pPr indent="0" marL="0">
              <a:buNone/>
            </a:pPr>
            <a:r>
              <a:rPr lang="en-US" sz="1300" dirty="0">
                <a:solidFill>
                  <a:schemeClr val="accent5"/>
                </a:solidFill>
              </a:rPr>
              <a:t>Constraint lab: 10 statements that each break one rule. All 10 are refused and rolled back.</a:t>
            </a:r>
            <a:endParaRPr lang="en-US" sz="1300" dirty="0"/>
          </a:p>
        </p:txBody>
      </p:sp>
      <p:sp>
        <p:nvSpPr>
          <p:cNvPr id="6" name="step"/>
          <p:cNvSpPr/>
          <p:nvPr/>
        </p:nvSpPr>
        <p:spPr>
          <a:xfrm>
            <a:off x="7406640" y="1417320"/>
            <a:ext cx="411480" cy="411480"/>
          </a:xfrm>
          <a:prstGeom prst="ellipse">
            <a:avLst/>
          </a:prstGeom>
          <a:solidFill>
            <a:schemeClr val="accent4"/>
          </a:solidFill>
          <a:ln w="12700">
            <a:solidFill>
              <a:schemeClr val="accent4"/>
            </a:solidFill>
            <a:prstDash val="solid"/>
          </a:ln>
        </p:spPr>
      </p:sp>
      <p:sp>
        <p:nvSpPr>
          <p:cNvPr id="7" name="Text 4"/>
          <p:cNvSpPr txBox="1"/>
          <p:nvPr/>
        </p:nvSpPr>
        <p:spPr>
          <a:xfrm>
            <a:off x="7406640" y="1417320"/>
            <a:ext cx="411480" cy="411480"/>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8" name="Text 5"/>
          <p:cNvSpPr txBox="1"/>
          <p:nvPr/>
        </p:nvSpPr>
        <p:spPr>
          <a:xfrm>
            <a:off x="8001000" y="1399032"/>
            <a:ext cx="3611880" cy="274320"/>
          </a:xfrm>
          <a:prstGeom prst="rect">
            <a:avLst/>
          </a:prstGeom>
          <a:noFill/>
          <a:ln/>
        </p:spPr>
        <p:txBody>
          <a:bodyPr wrap="square" lIns="0" tIns="0" rIns="0" bIns="0" rtlCol="0" anchor="t"/>
          <a:lstStyle/>
          <a:p>
            <a:pPr indent="0" marL="0">
              <a:buNone/>
            </a:pPr>
            <a:r>
              <a:rPr lang="en-US" sz="1600" b="1" dirty="0">
                <a:solidFill>
                  <a:schemeClr val="tx1"/>
                </a:solidFill>
              </a:rPr>
              <a:t>Catch</a:t>
            </a:r>
            <a:endParaRPr lang="en-US" sz="1600" dirty="0"/>
          </a:p>
        </p:txBody>
      </p:sp>
      <p:sp>
        <p:nvSpPr>
          <p:cNvPr id="9" name="Text 6"/>
          <p:cNvSpPr txBox="1"/>
          <p:nvPr/>
        </p:nvSpPr>
        <p:spPr>
          <a:xfrm>
            <a:off x="8001000" y="1691640"/>
            <a:ext cx="3611880" cy="548640"/>
          </a:xfrm>
          <a:prstGeom prst="rect">
            <a:avLst/>
          </a:prstGeom>
          <a:noFill/>
          <a:ln/>
        </p:spPr>
        <p:txBody>
          <a:bodyPr wrap="square" lIns="0" tIns="0" rIns="0" bIns="0" rtlCol="0" anchor="t"/>
          <a:lstStyle/>
          <a:p>
            <a:pPr indent="0" marL="0">
              <a:buNone/>
            </a:pPr>
            <a:r>
              <a:rPr lang="en-US" sz="1250" dirty="0">
                <a:solidFill>
                  <a:schemeClr val="accent5"/>
                </a:solidFill>
              </a:rPr>
              <a:t>oracledb.DatabaseError; the whole unit is rolled back</a:t>
            </a:r>
            <a:endParaRPr lang="en-US" sz="1250" dirty="0"/>
          </a:p>
        </p:txBody>
      </p:sp>
      <p:sp>
        <p:nvSpPr>
          <p:cNvPr id="10" name="step"/>
          <p:cNvSpPr/>
          <p:nvPr/>
        </p:nvSpPr>
        <p:spPr>
          <a:xfrm>
            <a:off x="7406640" y="2331720"/>
            <a:ext cx="411480" cy="411480"/>
          </a:xfrm>
          <a:prstGeom prst="ellipse">
            <a:avLst/>
          </a:prstGeom>
          <a:solidFill>
            <a:schemeClr val="accent4"/>
          </a:solidFill>
          <a:ln w="12700">
            <a:solidFill>
              <a:schemeClr val="accent4"/>
            </a:solidFill>
            <a:prstDash val="solid"/>
          </a:ln>
        </p:spPr>
      </p:sp>
      <p:sp>
        <p:nvSpPr>
          <p:cNvPr id="11" name="Text 8"/>
          <p:cNvSpPr txBox="1"/>
          <p:nvPr/>
        </p:nvSpPr>
        <p:spPr>
          <a:xfrm>
            <a:off x="7406640" y="2331720"/>
            <a:ext cx="411480" cy="411480"/>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2" name="Text 9"/>
          <p:cNvSpPr txBox="1"/>
          <p:nvPr/>
        </p:nvSpPr>
        <p:spPr>
          <a:xfrm>
            <a:off x="8001000" y="2313432"/>
            <a:ext cx="3611880" cy="274320"/>
          </a:xfrm>
          <a:prstGeom prst="rect">
            <a:avLst/>
          </a:prstGeom>
          <a:noFill/>
          <a:ln/>
        </p:spPr>
        <p:txBody>
          <a:bodyPr wrap="square" lIns="0" tIns="0" rIns="0" bIns="0" rtlCol="0" anchor="t"/>
          <a:lstStyle/>
          <a:p>
            <a:pPr indent="0" marL="0">
              <a:buNone/>
            </a:pPr>
            <a:r>
              <a:rPr lang="en-US" sz="1600" b="1" dirty="0">
                <a:solidFill>
                  <a:schemeClr val="tx1"/>
                </a:solidFill>
              </a:rPr>
              <a:t>Extract</a:t>
            </a:r>
            <a:endParaRPr lang="en-US" sz="1600" dirty="0"/>
          </a:p>
        </p:txBody>
      </p:sp>
      <p:sp>
        <p:nvSpPr>
          <p:cNvPr id="13" name="Text 10"/>
          <p:cNvSpPr txBox="1"/>
          <p:nvPr/>
        </p:nvSpPr>
        <p:spPr>
          <a:xfrm>
            <a:off x="8001000" y="2606040"/>
            <a:ext cx="3611880" cy="548640"/>
          </a:xfrm>
          <a:prstGeom prst="rect">
            <a:avLst/>
          </a:prstGeom>
          <a:noFill/>
          <a:ln/>
        </p:spPr>
        <p:txBody>
          <a:bodyPr wrap="square" lIns="0" tIns="0" rIns="0" bIns="0" rtlCol="0" anchor="t"/>
          <a:lstStyle/>
          <a:p>
            <a:pPr indent="0" marL="0">
              <a:buNone/>
            </a:pPr>
            <a:r>
              <a:rPr lang="en-US" sz="1250" dirty="0">
                <a:solidFill>
                  <a:schemeClr val="accent5"/>
                </a:solidFill>
              </a:rPr>
              <a:t>ORA-200xx business code, or the constraint name for ORA-00001 / 02290 / 02291 / 02292</a:t>
            </a:r>
            <a:endParaRPr lang="en-US" sz="1250" dirty="0"/>
          </a:p>
        </p:txBody>
      </p:sp>
      <p:sp>
        <p:nvSpPr>
          <p:cNvPr id="14" name="step"/>
          <p:cNvSpPr/>
          <p:nvPr/>
        </p:nvSpPr>
        <p:spPr>
          <a:xfrm>
            <a:off x="7406640" y="3246120"/>
            <a:ext cx="411480" cy="411480"/>
          </a:xfrm>
          <a:prstGeom prst="ellipse">
            <a:avLst/>
          </a:prstGeom>
          <a:solidFill>
            <a:schemeClr val="accent4"/>
          </a:solidFill>
          <a:ln w="12700">
            <a:solidFill>
              <a:schemeClr val="accent4"/>
            </a:solidFill>
            <a:prstDash val="solid"/>
          </a:ln>
        </p:spPr>
      </p:sp>
      <p:sp>
        <p:nvSpPr>
          <p:cNvPr id="15" name="Text 12"/>
          <p:cNvSpPr txBox="1"/>
          <p:nvPr/>
        </p:nvSpPr>
        <p:spPr>
          <a:xfrm>
            <a:off x="7406640" y="3246120"/>
            <a:ext cx="411480" cy="411480"/>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6" name="Text 13"/>
          <p:cNvSpPr txBox="1"/>
          <p:nvPr/>
        </p:nvSpPr>
        <p:spPr>
          <a:xfrm>
            <a:off x="8001000" y="3227832"/>
            <a:ext cx="3611880" cy="274320"/>
          </a:xfrm>
          <a:prstGeom prst="rect">
            <a:avLst/>
          </a:prstGeom>
          <a:noFill/>
          <a:ln/>
        </p:spPr>
        <p:txBody>
          <a:bodyPr wrap="square" lIns="0" tIns="0" rIns="0" bIns="0" rtlCol="0" anchor="t"/>
          <a:lstStyle/>
          <a:p>
            <a:pPr indent="0" marL="0">
              <a:buNone/>
            </a:pPr>
            <a:r>
              <a:rPr lang="en-US" sz="1600" b="1" dirty="0">
                <a:solidFill>
                  <a:schemeClr val="tx1"/>
                </a:solidFill>
              </a:rPr>
              <a:t>Explain</a:t>
            </a:r>
            <a:endParaRPr lang="en-US" sz="1600" dirty="0"/>
          </a:p>
        </p:txBody>
      </p:sp>
      <p:sp>
        <p:nvSpPr>
          <p:cNvPr id="17" name="Text 14"/>
          <p:cNvSpPr txBox="1"/>
          <p:nvPr/>
        </p:nvSpPr>
        <p:spPr>
          <a:xfrm>
            <a:off x="8001000" y="3520440"/>
            <a:ext cx="3611880" cy="548640"/>
          </a:xfrm>
          <a:prstGeom prst="rect">
            <a:avLst/>
          </a:prstGeom>
          <a:noFill/>
          <a:ln/>
        </p:spPr>
        <p:txBody>
          <a:bodyPr wrap="square" lIns="0" tIns="0" rIns="0" bIns="0" rtlCol="0" anchor="t"/>
          <a:lstStyle/>
          <a:p>
            <a:pPr indent="0" marL="0">
              <a:buNone/>
            </a:pPr>
            <a:r>
              <a:rPr lang="en-US" sz="1250" dirty="0">
                <a:solidFill>
                  <a:schemeClr val="accent5"/>
                </a:solidFill>
              </a:rPr>
              <a:t>explain.py: title, why the rule exists, what enforced it, what to do next</a:t>
            </a:r>
            <a:endParaRPr lang="en-US" sz="1250" dirty="0"/>
          </a:p>
        </p:txBody>
      </p:sp>
      <p:sp>
        <p:nvSpPr>
          <p:cNvPr id="18" name="Text 15"/>
          <p:cNvSpPr txBox="1"/>
          <p:nvPr/>
        </p:nvSpPr>
        <p:spPr>
          <a:xfrm>
            <a:off x="7406640" y="4206240"/>
            <a:ext cx="2103120" cy="365760"/>
          </a:xfrm>
          <a:prstGeom prst="rect">
            <a:avLst/>
          </a:prstGeom>
          <a:noFill/>
          <a:ln/>
        </p:spPr>
        <p:txBody>
          <a:bodyPr wrap="square" lIns="0" tIns="0" rIns="0" bIns="0" rtlCol="0" anchor="ctr"/>
          <a:lstStyle/>
          <a:p>
            <a:pPr indent="0" marL="0">
              <a:buNone/>
            </a:pPr>
            <a:r>
              <a:rPr lang="en-US" sz="1200" b="1" dirty="0">
                <a:solidFill>
                  <a:schemeClr val="accent4"/>
                </a:solidFill>
                <a:latin typeface="Courier New" pitchFamily="34" charset="0"/>
                <a:ea typeface="Courier New" pitchFamily="34" charset="-122"/>
                <a:cs typeface="Courier New" pitchFamily="34" charset="-120"/>
              </a:rPr>
              <a:t>-20001 </a:t>
            </a:r>
            <a:pPr indent="0" marL="0">
              <a:buNone/>
            </a:pPr>
            <a:r>
              <a:rPr lang="en-US" sz="1200" dirty="0">
                <a:solidFill>
                  <a:schemeClr val="tx1"/>
                </a:solidFill>
              </a:rPr>
              <a:t>doctor INACTIVE</a:t>
            </a:r>
            <a:endParaRPr lang="en-US" sz="1200" dirty="0"/>
          </a:p>
        </p:txBody>
      </p:sp>
      <p:sp>
        <p:nvSpPr>
          <p:cNvPr id="19" name="Text 16"/>
          <p:cNvSpPr txBox="1"/>
          <p:nvPr/>
        </p:nvSpPr>
        <p:spPr>
          <a:xfrm>
            <a:off x="9537192" y="4206240"/>
            <a:ext cx="2103120" cy="365760"/>
          </a:xfrm>
          <a:prstGeom prst="rect">
            <a:avLst/>
          </a:prstGeom>
          <a:noFill/>
          <a:ln/>
        </p:spPr>
        <p:txBody>
          <a:bodyPr wrap="square" lIns="0" tIns="0" rIns="0" bIns="0" rtlCol="0" anchor="ctr"/>
          <a:lstStyle/>
          <a:p>
            <a:pPr indent="0" marL="0">
              <a:buNone/>
            </a:pPr>
            <a:r>
              <a:rPr lang="en-US" sz="1200" b="1" dirty="0">
                <a:solidFill>
                  <a:schemeClr val="accent4"/>
                </a:solidFill>
                <a:latin typeface="Courier New" pitchFamily="34" charset="0"/>
                <a:ea typeface="Courier New" pitchFamily="34" charset="-122"/>
                <a:cs typeface="Courier New" pitchFamily="34" charset="-120"/>
              </a:rPr>
              <a:t>-20002 </a:t>
            </a:r>
            <a:pPr indent="0" marL="0">
              <a:buNone/>
            </a:pPr>
            <a:r>
              <a:rPr lang="en-US" sz="1200" dirty="0">
                <a:solidFill>
                  <a:schemeClr val="tx1"/>
                </a:solidFill>
              </a:rPr>
              <a:t>doctor's day full</a:t>
            </a:r>
            <a:endParaRPr lang="en-US" sz="1200" dirty="0"/>
          </a:p>
        </p:txBody>
      </p:sp>
      <p:sp>
        <p:nvSpPr>
          <p:cNvPr id="20" name="Text 17"/>
          <p:cNvSpPr txBox="1"/>
          <p:nvPr/>
        </p:nvSpPr>
        <p:spPr>
          <a:xfrm>
            <a:off x="7406640" y="4663440"/>
            <a:ext cx="2103120" cy="365760"/>
          </a:xfrm>
          <a:prstGeom prst="rect">
            <a:avLst/>
          </a:prstGeom>
          <a:noFill/>
          <a:ln/>
        </p:spPr>
        <p:txBody>
          <a:bodyPr wrap="square" lIns="0" tIns="0" rIns="0" bIns="0" rtlCol="0" anchor="ctr"/>
          <a:lstStyle/>
          <a:p>
            <a:pPr indent="0" marL="0">
              <a:buNone/>
            </a:pPr>
            <a:r>
              <a:rPr lang="en-US" sz="1200" b="1" dirty="0">
                <a:solidFill>
                  <a:schemeClr val="accent4"/>
                </a:solidFill>
                <a:latin typeface="Courier New" pitchFamily="34" charset="0"/>
                <a:ea typeface="Courier New" pitchFamily="34" charset="-122"/>
                <a:cs typeface="Courier New" pitchFamily="34" charset="-120"/>
              </a:rPr>
              <a:t>-20003 </a:t>
            </a:r>
            <a:pPr indent="0" marL="0">
              <a:buNone/>
            </a:pPr>
            <a:r>
              <a:rPr lang="en-US" sz="1200" dirty="0">
                <a:solidFill>
                  <a:schemeClr val="tx1"/>
                </a:solidFill>
              </a:rPr>
              <a:t>slot clash (trigger)</a:t>
            </a:r>
            <a:endParaRPr lang="en-US" sz="1200" dirty="0"/>
          </a:p>
        </p:txBody>
      </p:sp>
      <p:sp>
        <p:nvSpPr>
          <p:cNvPr id="21" name="Text 18"/>
          <p:cNvSpPr txBox="1"/>
          <p:nvPr/>
        </p:nvSpPr>
        <p:spPr>
          <a:xfrm>
            <a:off x="9537192" y="4663440"/>
            <a:ext cx="2103120" cy="365760"/>
          </a:xfrm>
          <a:prstGeom prst="rect">
            <a:avLst/>
          </a:prstGeom>
          <a:noFill/>
          <a:ln/>
        </p:spPr>
        <p:txBody>
          <a:bodyPr wrap="square" lIns="0" tIns="0" rIns="0" bIns="0" rtlCol="0" anchor="ctr"/>
          <a:lstStyle/>
          <a:p>
            <a:pPr indent="0" marL="0">
              <a:buNone/>
            </a:pPr>
            <a:r>
              <a:rPr lang="en-US" sz="1200" b="1" dirty="0">
                <a:solidFill>
                  <a:schemeClr val="accent4"/>
                </a:solidFill>
                <a:latin typeface="Courier New" pitchFamily="34" charset="0"/>
                <a:ea typeface="Courier New" pitchFamily="34" charset="-122"/>
                <a:cs typeface="Courier New" pitchFamily="34" charset="-120"/>
              </a:rPr>
              <a:t>-20004 </a:t>
            </a:r>
            <a:pPr indent="0" marL="0">
              <a:buNone/>
            </a:pPr>
            <a:r>
              <a:rPr lang="en-US" sz="1200" dirty="0">
                <a:solidFill>
                  <a:schemeClr val="tx1"/>
                </a:solidFill>
              </a:rPr>
              <a:t>date in the past</a:t>
            </a:r>
            <a:endParaRPr lang="en-US" sz="1200" dirty="0"/>
          </a:p>
        </p:txBody>
      </p:sp>
      <p:sp>
        <p:nvSpPr>
          <p:cNvPr id="22" name="Text 19"/>
          <p:cNvSpPr txBox="1"/>
          <p:nvPr/>
        </p:nvSpPr>
        <p:spPr>
          <a:xfrm>
            <a:off x="7406640" y="5120640"/>
            <a:ext cx="2103120" cy="365760"/>
          </a:xfrm>
          <a:prstGeom prst="rect">
            <a:avLst/>
          </a:prstGeom>
          <a:noFill/>
          <a:ln/>
        </p:spPr>
        <p:txBody>
          <a:bodyPr wrap="square" lIns="0" tIns="0" rIns="0" bIns="0" rtlCol="0" anchor="ctr"/>
          <a:lstStyle/>
          <a:p>
            <a:pPr indent="0" marL="0">
              <a:buNone/>
            </a:pPr>
            <a:r>
              <a:rPr lang="en-US" sz="1200" b="1" dirty="0">
                <a:solidFill>
                  <a:schemeClr val="accent4"/>
                </a:solidFill>
                <a:latin typeface="Courier New" pitchFamily="34" charset="0"/>
                <a:ea typeface="Courier New" pitchFamily="34" charset="-122"/>
                <a:cs typeface="Courier New" pitchFamily="34" charset="-120"/>
              </a:rPr>
              <a:t>-20010 </a:t>
            </a:r>
            <a:pPr indent="0" marL="0">
              <a:buNone/>
            </a:pPr>
            <a:r>
              <a:rPr lang="en-US" sz="1200" dirty="0">
                <a:solidFill>
                  <a:schemeClr val="tx1"/>
                </a:solidFill>
              </a:rPr>
              <a:t>visit not COMPLETED</a:t>
            </a:r>
            <a:endParaRPr lang="en-US" sz="1200" dirty="0"/>
          </a:p>
        </p:txBody>
      </p:sp>
      <p:sp>
        <p:nvSpPr>
          <p:cNvPr id="23" name="Text 20"/>
          <p:cNvSpPr txBox="1"/>
          <p:nvPr/>
        </p:nvSpPr>
        <p:spPr>
          <a:xfrm>
            <a:off x="9537192" y="5120640"/>
            <a:ext cx="2103120" cy="365760"/>
          </a:xfrm>
          <a:prstGeom prst="rect">
            <a:avLst/>
          </a:prstGeom>
          <a:noFill/>
          <a:ln/>
        </p:spPr>
        <p:txBody>
          <a:bodyPr wrap="square" lIns="0" tIns="0" rIns="0" bIns="0" rtlCol="0" anchor="ctr"/>
          <a:lstStyle/>
          <a:p>
            <a:pPr indent="0" marL="0">
              <a:buNone/>
            </a:pPr>
            <a:r>
              <a:rPr lang="en-US" sz="1200" b="1" dirty="0">
                <a:solidFill>
                  <a:schemeClr val="accent4"/>
                </a:solidFill>
                <a:latin typeface="Courier New" pitchFamily="34" charset="0"/>
                <a:ea typeface="Courier New" pitchFamily="34" charset="-122"/>
                <a:cs typeface="Courier New" pitchFamily="34" charset="-120"/>
              </a:rPr>
              <a:t>-20011 </a:t>
            </a:r>
            <a:pPr indent="0" marL="0">
              <a:buNone/>
            </a:pPr>
            <a:r>
              <a:rPr lang="en-US" sz="1200" dirty="0">
                <a:solidFill>
                  <a:schemeClr val="tx1"/>
                </a:solidFill>
              </a:rPr>
              <a:t>already billed</a:t>
            </a:r>
            <a:endParaRPr lang="en-US" sz="1200" dirty="0"/>
          </a:p>
        </p:txBody>
      </p:sp>
      <p:sp>
        <p:nvSpPr>
          <p:cNvPr id="24" name="Text 21"/>
          <p:cNvSpPr txBox="1"/>
          <p:nvPr/>
        </p:nvSpPr>
        <p:spPr>
          <a:xfrm>
            <a:off x="7406640" y="5577840"/>
            <a:ext cx="2103120" cy="365760"/>
          </a:xfrm>
          <a:prstGeom prst="rect">
            <a:avLst/>
          </a:prstGeom>
          <a:noFill/>
          <a:ln/>
        </p:spPr>
        <p:txBody>
          <a:bodyPr wrap="square" lIns="0" tIns="0" rIns="0" bIns="0" rtlCol="0" anchor="ctr"/>
          <a:lstStyle/>
          <a:p>
            <a:pPr indent="0" marL="0">
              <a:buNone/>
            </a:pPr>
            <a:r>
              <a:rPr lang="en-US" sz="1200" b="1" dirty="0">
                <a:solidFill>
                  <a:schemeClr val="accent4"/>
                </a:solidFill>
                <a:latin typeface="Courier New" pitchFamily="34" charset="0"/>
                <a:ea typeface="Courier New" pitchFamily="34" charset="-122"/>
                <a:cs typeface="Courier New" pitchFamily="34" charset="-120"/>
              </a:rPr>
              <a:t>-20020 </a:t>
            </a:r>
            <a:pPr indent="0" marL="0">
              <a:buNone/>
            </a:pPr>
            <a:r>
              <a:rPr lang="en-US" sz="1200" dirty="0">
                <a:solidFill>
                  <a:schemeClr val="tx1"/>
                </a:solidFill>
              </a:rPr>
              <a:t>bad / over payment</a:t>
            </a:r>
            <a:endParaRPr lang="en-US" sz="1200" dirty="0"/>
          </a:p>
        </p:txBody>
      </p:sp>
      <p:sp>
        <p:nvSpPr>
          <p:cNvPr id="25" name="Text 22"/>
          <p:cNvSpPr txBox="1"/>
          <p:nvPr/>
        </p:nvSpPr>
        <p:spPr>
          <a:xfrm>
            <a:off x="9537192" y="5577840"/>
            <a:ext cx="2103120" cy="365760"/>
          </a:xfrm>
          <a:prstGeom prst="rect">
            <a:avLst/>
          </a:prstGeom>
          <a:noFill/>
          <a:ln/>
        </p:spPr>
        <p:txBody>
          <a:bodyPr wrap="square" lIns="0" tIns="0" rIns="0" bIns="0" rtlCol="0" anchor="ctr"/>
          <a:lstStyle/>
          <a:p>
            <a:pPr indent="0" marL="0">
              <a:buNone/>
            </a:pPr>
            <a:r>
              <a:rPr lang="en-US" sz="1200" b="1" dirty="0">
                <a:solidFill>
                  <a:schemeClr val="accent4"/>
                </a:solidFill>
                <a:latin typeface="Courier New" pitchFamily="34" charset="0"/>
                <a:ea typeface="Courier New" pitchFamily="34" charset="-122"/>
                <a:cs typeface="Courier New" pitchFamily="34" charset="-120"/>
              </a:rPr>
              <a:t>-20030 </a:t>
            </a:r>
            <a:pPr indent="0" marL="0">
              <a:buNone/>
            </a:pPr>
            <a:r>
              <a:rPr lang="en-US" sz="1200" dirty="0">
                <a:solidFill>
                  <a:schemeClr val="tx1"/>
                </a:solidFill>
              </a:rPr>
              <a:t>REJECTED sample</a:t>
            </a:r>
            <a:endParaRPr lang="en-US" sz="12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731520" y="2651760"/>
            <a:ext cx="10698480" cy="914400"/>
          </a:xfrm>
          <a:prstGeom prst="rect">
            <a:avLst/>
          </a:prstGeom>
          <a:noFill/>
          <a:ln/>
        </p:spPr>
        <p:txBody>
          <a:bodyPr wrap="square" lIns="0" tIns="0" rIns="0" bIns="0" rtlCol="0" anchor="b"/>
          <a:lstStyle/>
          <a:p>
            <a:pPr algn="l" indent="0" marL="0">
              <a:buNone/>
            </a:pPr>
            <a:r>
              <a:rPr lang="en-US" sz="4400" b="1" dirty="0">
                <a:solidFill>
                  <a:schemeClr val="bg1"/>
                </a:solidFill>
              </a:rPr>
              <a:t>The final build</a:t>
            </a:r>
            <a:endParaRPr lang="en-US" sz="4400" dirty="0"/>
          </a:p>
        </p:txBody>
      </p:sp>
      <p:sp>
        <p:nvSpPr>
          <p:cNvPr id="3" name="Text 0"/>
          <p:cNvSpPr/>
          <p:nvPr>
            <p:ph idx="101" type="body" hasCustomPrompt="1"/>
          </p:nvPr>
        </p:nvSpPr>
        <p:spPr>
          <a:xfrm>
            <a:off x="731520" y="3703320"/>
            <a:ext cx="10698480" cy="731520"/>
          </a:xfrm>
          <a:prstGeom prst="rect">
            <a:avLst/>
          </a:prstGeom>
          <a:noFill/>
          <a:ln/>
        </p:spPr>
        <p:txBody>
          <a:bodyPr wrap="square" lIns="0" tIns="0" rIns="0" bIns="0" rtlCol="0" anchor="t"/>
          <a:lstStyle/>
          <a:p>
            <a:pPr algn="l" indent="0" marL="0">
              <a:buNone/>
            </a:pPr>
            <a:r>
              <a:rPr lang="en-US" sz="2000" dirty="0">
                <a:solidFill>
                  <a:schemeClr val="accent6"/>
                </a:solidFill>
              </a:rPr>
              <a:t>Seven transactions, nine PL/SQL units, fifteen queries: one re-runnable script set</a:t>
            </a:r>
            <a:endParaRPr lang="en-US" sz="2000" dirty="0"/>
          </a:p>
        </p:txBody>
      </p:sp>
      <p:pic>
        <p:nvPicPr>
          <p:cNvPr id="4" name="build icon" descr="preencoded.png">    </p:cNvPr>
          <p:cNvPicPr>
            <a:picLocks noChangeAspect="1"/>
          </p:cNvPicPr>
          <p:nvPr/>
        </p:nvPicPr>
        <p:blipFill>
          <a:blip r:embed="rId1"/>
          <a:stretch>
            <a:fillRect/>
          </a:stretch>
        </p:blipFill>
        <p:spPr>
          <a:xfrm>
            <a:off x="731520" y="1554480"/>
            <a:ext cx="822960" cy="822960"/>
          </a:xfrm>
          <a:prstGeom prst="rect">
            <a:avLst/>
          </a:prstGeom>
        </p:spPr>
      </p:pic>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lIns="0" tIns="0" rIns="0" bIns="0" rtlCol="0" anchor="ctr"/>
          <a:lstStyle/>
          <a:p>
            <a:pPr algn="l" indent="0" marL="0">
              <a:buNone/>
            </a:pPr>
            <a:r>
              <a:rPr lang="en-US" sz="3200" b="1" dirty="0">
                <a:solidFill>
                  <a:schemeClr val="tx1"/>
                </a:solidFill>
              </a:rPr>
              <a:t>Seven transactions, each traceable to SQL and PL/SQL</a:t>
            </a:r>
            <a:endParaRPr lang="en-US" sz="3200" dirty="0"/>
          </a:p>
        </p:txBody>
      </p:sp>
      <p:graphicFrame>
        <p:nvGraphicFramePr>
          <p:cNvPr id="13" name="transactions table"/>
          <p:cNvGraphicFramePr>
            <a:graphicFrameLocks noGrp="1"/>
          </p:cNvGraphicFramePr>
          <p:nvPr>
            <p:extLst>
              <p:ext uri="{D42A27DB-BD31-4B8C-83A1-F6EECF244321}">
                <p14:modId xmlns:p14="http://schemas.microsoft.com/office/powerpoint/2010/main" val="1579011935"/>
              </p:ext>
            </p:extLst>
          </p:nvPr>
        </p:nvGraphicFramePr>
        <p:xfrm>
          <a:off x="548640" y="1371600"/>
          <a:ext cx="11064240" cy="914400"/>
        </p:xfrm>
        <a:graphic>
          <a:graphicData uri="http://schemas.openxmlformats.org/drawingml/2006/table">
            <a:tbl>
              <a:tblPr/>
              <a:tblGrid>
                <a:gridCol w="548640"/>
                <a:gridCol w="2651760"/>
                <a:gridCol w="3108960"/>
                <a:gridCol w="4754880"/>
              </a:tblGrid>
              <a:tr h="548640">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a:t>
                      </a:r>
                      <a:endParaRPr lang="en-US" sz="1250" dirty="0">
                        <a:latin typeface="Calibri" charset="0"/>
                        <a:ea typeface="Calibri" charset="0"/>
                        <a:cs typeface="Calibri" charset="0"/>
                      </a:endParaRPr>
                    </a:p>
                  </a:txBody>
                  <a:tcPr marL="91440" marR="91440" marT="36576" marB="36576" anchor="ctr">
                    <a:lnL w="9525" cap="flat" cmpd="sng" algn="ctr">
                      <a:solidFill>
                        <a:srgbClr val="D6E6F5"/>
                      </a:solidFill>
                      <a:prstDash val="solid"/>
                      <a:round/>
                      <a:headEnd type="none" w="med" len="med"/>
                      <a:tailEnd type="none" w="med" len="med"/>
                    </a:lnL>
                    <a:lnR w="9525" cap="flat" cmpd="sng" algn="ctr">
                      <a:solidFill>
                        <a:srgbClr val="D6E6F5"/>
                      </a:solidFill>
                      <a:prstDash val="solid"/>
                      <a:round/>
                      <a:headEnd type="none" w="med" len="med"/>
                      <a:tailEnd type="none" w="med" len="med"/>
                    </a:lnR>
                    <a:lnT w="9525" cap="flat" cmpd="sng" algn="ctr">
                      <a:solidFill>
                        <a:srgbClr val="D6E6F5"/>
                      </a:solidFill>
                      <a:prstDash val="solid"/>
                      <a:round/>
                      <a:headEnd type="none" w="med" len="med"/>
                      <a:tailEnd type="none" w="med" len="med"/>
                    </a:lnT>
                    <a:lnB w="9525" cap="flat" cmpd="sng" algn="ctr">
                      <a:solidFill>
                        <a:srgbClr val="D6E6F5"/>
                      </a:solidFill>
                      <a:prstDash val="solid"/>
                      <a:round/>
                      <a:headEnd type="none" w="med" len="med"/>
                      <a:tailEnd type="none" w="med" len="med"/>
                    </a:lnB>
                    <a:solidFill>
                      <a:srgbClr val="12395E"/>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Operation</a:t>
                      </a:r>
                      <a:endParaRPr lang="en-US" sz="1250" dirty="0">
                        <a:latin typeface="Calibri" charset="0"/>
                        <a:ea typeface="Calibri" charset="0"/>
                        <a:cs typeface="Calibri" charset="0"/>
                      </a:endParaRPr>
                    </a:p>
                  </a:txBody>
                  <a:tcPr marL="91440" marR="91440" marT="36576" marB="36576" anchor="ctr">
                    <a:lnL w="9525" cap="flat" cmpd="sng" algn="ctr">
                      <a:solidFill>
                        <a:srgbClr val="D6E6F5"/>
                      </a:solidFill>
                      <a:prstDash val="solid"/>
                      <a:round/>
                      <a:headEnd type="none" w="med" len="med"/>
                      <a:tailEnd type="none" w="med" len="med"/>
                    </a:lnL>
                    <a:lnR w="9525" cap="flat" cmpd="sng" algn="ctr">
                      <a:solidFill>
                        <a:srgbClr val="D6E6F5"/>
                      </a:solidFill>
                      <a:prstDash val="solid"/>
                      <a:round/>
                      <a:headEnd type="none" w="med" len="med"/>
                      <a:tailEnd type="none" w="med" len="med"/>
                    </a:lnR>
                    <a:lnT w="9525" cap="flat" cmpd="sng" algn="ctr">
                      <a:solidFill>
                        <a:srgbClr val="D6E6F5"/>
                      </a:solidFill>
                      <a:prstDash val="solid"/>
                      <a:round/>
                      <a:headEnd type="none" w="med" len="med"/>
                      <a:tailEnd type="none" w="med" len="med"/>
                    </a:lnT>
                    <a:lnB w="9525" cap="flat" cmpd="sng" algn="ctr">
                      <a:solidFill>
                        <a:srgbClr val="D6E6F5"/>
                      </a:solidFill>
                      <a:prstDash val="solid"/>
                      <a:round/>
                      <a:headEnd type="none" w="med" len="med"/>
                      <a:tailEnd type="none" w="med" len="med"/>
                    </a:lnB>
                    <a:solidFill>
                      <a:srgbClr val="12395E"/>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Where in the app</a:t>
                      </a:r>
                      <a:endParaRPr lang="en-US" sz="1250" dirty="0">
                        <a:latin typeface="Calibri" charset="0"/>
                        <a:ea typeface="Calibri" charset="0"/>
                        <a:cs typeface="Calibri" charset="0"/>
                      </a:endParaRPr>
                    </a:p>
                  </a:txBody>
                  <a:tcPr marL="91440" marR="91440" marT="36576" marB="36576" anchor="ctr">
                    <a:lnL w="9525" cap="flat" cmpd="sng" algn="ctr">
                      <a:solidFill>
                        <a:srgbClr val="D6E6F5"/>
                      </a:solidFill>
                      <a:prstDash val="solid"/>
                      <a:round/>
                      <a:headEnd type="none" w="med" len="med"/>
                      <a:tailEnd type="none" w="med" len="med"/>
                    </a:lnL>
                    <a:lnR w="9525" cap="flat" cmpd="sng" algn="ctr">
                      <a:solidFill>
                        <a:srgbClr val="D6E6F5"/>
                      </a:solidFill>
                      <a:prstDash val="solid"/>
                      <a:round/>
                      <a:headEnd type="none" w="med" len="med"/>
                      <a:tailEnd type="none" w="med" len="med"/>
                    </a:lnR>
                    <a:lnT w="9525" cap="flat" cmpd="sng" algn="ctr">
                      <a:solidFill>
                        <a:srgbClr val="D6E6F5"/>
                      </a:solidFill>
                      <a:prstDash val="solid"/>
                      <a:round/>
                      <a:headEnd type="none" w="med" len="med"/>
                      <a:tailEnd type="none" w="med" len="med"/>
                    </a:lnT>
                    <a:lnB w="9525" cap="flat" cmpd="sng" algn="ctr">
                      <a:solidFill>
                        <a:srgbClr val="D6E6F5"/>
                      </a:solidFill>
                      <a:prstDash val="solid"/>
                      <a:round/>
                      <a:headEnd type="none" w="med" len="med"/>
                      <a:tailEnd type="none" w="med" len="med"/>
                    </a:lnB>
                    <a:solidFill>
                      <a:srgbClr val="12395E"/>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SQL / PL-SQL run</a:t>
                      </a:r>
                      <a:endParaRPr lang="en-US" sz="1250" dirty="0">
                        <a:latin typeface="Calibri" charset="0"/>
                        <a:ea typeface="Calibri" charset="0"/>
                        <a:cs typeface="Calibri" charset="0"/>
                      </a:endParaRPr>
                    </a:p>
                  </a:txBody>
                  <a:tcPr marL="91440" marR="91440" marT="36576" marB="36576" anchor="ctr">
                    <a:lnL w="9525" cap="flat" cmpd="sng" algn="ctr">
                      <a:solidFill>
                        <a:srgbClr val="D6E6F5"/>
                      </a:solidFill>
                      <a:prstDash val="solid"/>
                      <a:round/>
                      <a:headEnd type="none" w="med" len="med"/>
                      <a:tailEnd type="none" w="med" len="med"/>
                    </a:lnL>
                    <a:lnR w="9525" cap="flat" cmpd="sng" algn="ctr">
                      <a:solidFill>
                        <a:srgbClr val="D6E6F5"/>
                      </a:solidFill>
                      <a:prstDash val="solid"/>
                      <a:round/>
                      <a:headEnd type="none" w="med" len="med"/>
                      <a:tailEnd type="none" w="med" len="med"/>
                    </a:lnR>
                    <a:lnT w="9525" cap="flat" cmpd="sng" algn="ctr">
                      <a:solidFill>
                        <a:srgbClr val="D6E6F5"/>
                      </a:solidFill>
                      <a:prstDash val="solid"/>
                      <a:round/>
                      <a:headEnd type="none" w="med" len="med"/>
                      <a:tailEnd type="none" w="med" len="med"/>
                    </a:lnT>
                    <a:lnB w="9525" cap="flat" cmpd="sng" algn="ctr">
                      <a:solidFill>
                        <a:srgbClr val="D6E6F5"/>
                      </a:solidFill>
                      <a:prstDash val="solid"/>
                      <a:round/>
                      <a:headEnd type="none" w="med" len="med"/>
                      <a:tailEnd type="none" w="med" len="med"/>
                    </a:lnB>
                    <a:solidFill>
                      <a:srgbClr val="12395E"/>
                    </a:solidFill>
                  </a:tcPr>
                </a:tc>
              </a:tr>
              <a:tr h="548640">
                <a:tc>
                  <a:txBody>
                    <a:bodyPr/>
                    <a:lstStyle/>
                    <a:p>
                      <a:pPr indent="0" marL="0">
                        <a:buNone/>
                      </a:pPr>
                      <a:r>
                        <a:rPr lang="en-US" sz="1250" b="1" dirty="0">
                          <a:solidFill>
                            <a:srgbClr val="1F6FC5"/>
                          </a:solidFill>
                          <a:latin typeface="Calibri" pitchFamily="34" charset="0"/>
                          <a:ea typeface="Calibri" pitchFamily="34" charset="-122"/>
                          <a:cs typeface="Calibri" pitchFamily="34" charset="-120"/>
                        </a:rPr>
                        <a:t>T1</a:t>
                      </a:r>
                      <a:endParaRPr lang="en-US" sz="1250" dirty="0">
                        <a:latin typeface="Calibri" charset="0"/>
                        <a:ea typeface="Calibri" charset="0"/>
                        <a:cs typeface="Calibri" charset="0"/>
                      </a:endParaRPr>
                    </a:p>
                  </a:txBody>
                  <a:tcPr marL="91440" marR="91440" marT="36576" marB="36576" anchor="ctr">
                    <a:lnL w="9525" cap="flat" cmpd="sng" algn="ctr">
                      <a:solidFill>
                        <a:srgbClr val="D6E6F5"/>
                      </a:solidFill>
                      <a:prstDash val="solid"/>
                      <a:round/>
                      <a:headEnd type="none" w="med" len="med"/>
                      <a:tailEnd type="none" w="med" len="med"/>
                    </a:lnL>
                    <a:lnR w="9525" cap="flat" cmpd="sng" algn="ctr">
                      <a:solidFill>
                        <a:srgbClr val="D6E6F5"/>
                      </a:solidFill>
                      <a:prstDash val="solid"/>
                      <a:round/>
                      <a:headEnd type="none" w="med" len="med"/>
                      <a:tailEnd type="none" w="med" len="med"/>
                    </a:lnR>
                    <a:lnT w="9525" cap="flat" cmpd="sng" algn="ctr">
                      <a:solidFill>
                        <a:srgbClr val="D6E6F5"/>
                      </a:solidFill>
                      <a:prstDash val="solid"/>
                      <a:round/>
                      <a:headEnd type="none" w="med" len="med"/>
                      <a:tailEnd type="none" w="med" len="med"/>
                    </a:lnT>
                    <a:lnB w="9525" cap="flat" cmpd="sng" algn="ctr">
                      <a:solidFill>
                        <a:srgbClr val="D6E6F5"/>
                      </a:solidFill>
                      <a:prstDash val="solid"/>
                      <a:round/>
                      <a:headEnd type="none" w="med" len="med"/>
                      <a:tailEnd type="none" w="med" len="med"/>
                    </a:lnB>
                    <a:solidFill>
                      <a:srgbClr val="F1F7FD"/>
                    </a:solidFill>
                  </a:tcPr>
                </a:tc>
                <a:tc>
                  <a:txBody>
                    <a:bodyPr/>
                    <a:lstStyle/>
                    <a:p>
                      <a:pPr indent="0" marL="0">
                        <a:buNone/>
                      </a:pPr>
                      <a:r>
                        <a:rPr lang="en-US" sz="1250" dirty="0">
                          <a:solidFill>
                            <a:srgbClr val="12395E"/>
                          </a:solidFill>
                          <a:latin typeface="Calibri" pitchFamily="34" charset="0"/>
                          <a:ea typeface="Calibri" pitchFamily="34" charset="-122"/>
                          <a:cs typeface="Calibri" pitchFamily="34" charset="-120"/>
                        </a:rPr>
                        <a:t>Register patient + book</a:t>
                      </a:r>
                      <a:endParaRPr lang="en-US" sz="1250" dirty="0">
                        <a:latin typeface="Calibri" charset="0"/>
                        <a:ea typeface="Calibri" charset="0"/>
                        <a:cs typeface="Calibri" charset="0"/>
                      </a:endParaRPr>
                    </a:p>
                  </a:txBody>
                  <a:tcPr marL="91440" marR="91440" marT="36576" marB="36576" anchor="ctr">
                    <a:lnL w="9525" cap="flat" cmpd="sng" algn="ctr">
                      <a:solidFill>
                        <a:srgbClr val="D6E6F5"/>
                      </a:solidFill>
                      <a:prstDash val="solid"/>
                      <a:round/>
                      <a:headEnd type="none" w="med" len="med"/>
                      <a:tailEnd type="none" w="med" len="med"/>
                    </a:lnL>
                    <a:lnR w="9525" cap="flat" cmpd="sng" algn="ctr">
                      <a:solidFill>
                        <a:srgbClr val="D6E6F5"/>
                      </a:solidFill>
                      <a:prstDash val="solid"/>
                      <a:round/>
                      <a:headEnd type="none" w="med" len="med"/>
                      <a:tailEnd type="none" w="med" len="med"/>
                    </a:lnR>
                    <a:lnT w="9525" cap="flat" cmpd="sng" algn="ctr">
                      <a:solidFill>
                        <a:srgbClr val="D6E6F5"/>
                      </a:solidFill>
                      <a:prstDash val="solid"/>
                      <a:round/>
                      <a:headEnd type="none" w="med" len="med"/>
                      <a:tailEnd type="none" w="med" len="med"/>
                    </a:lnT>
                    <a:lnB w="9525" cap="flat" cmpd="sng" algn="ctr">
                      <a:solidFill>
                        <a:srgbClr val="D6E6F5"/>
                      </a:solidFill>
                      <a:prstDash val="solid"/>
                      <a:round/>
                      <a:headEnd type="none" w="med" len="med"/>
                      <a:tailEnd type="none" w="med" len="med"/>
                    </a:lnB>
                    <a:solidFill>
                      <a:srgbClr val="F1F7FD"/>
                    </a:solidFill>
                  </a:tcPr>
                </a:tc>
                <a:tc>
                  <a:txBody>
                    <a:bodyPr/>
                    <a:lstStyle/>
                    <a:p>
                      <a:pPr indent="0" marL="0">
                        <a:buNone/>
                      </a:pPr>
                      <a:r>
                        <a:rPr lang="en-US" sz="1250" dirty="0">
                          <a:solidFill>
                            <a:srgbClr val="12395E"/>
                          </a:solidFill>
                          <a:latin typeface="Calibri" pitchFamily="34" charset="0"/>
                          <a:ea typeface="Calibri" pitchFamily="34" charset="-122"/>
                          <a:cs typeface="Calibri" pitchFamily="34" charset="-120"/>
                        </a:rPr>
                        <a:t>Patient › New patient, Book a visit</a:t>
                      </a:r>
                      <a:endParaRPr lang="en-US" sz="1250" dirty="0">
                        <a:latin typeface="Calibri" charset="0"/>
                        <a:ea typeface="Calibri" charset="0"/>
                        <a:cs typeface="Calibri" charset="0"/>
                      </a:endParaRPr>
                    </a:p>
                  </a:txBody>
                  <a:tcPr marL="91440" marR="91440" marT="36576" marB="36576" anchor="ctr">
                    <a:lnL w="9525" cap="flat" cmpd="sng" algn="ctr">
                      <a:solidFill>
                        <a:srgbClr val="D6E6F5"/>
                      </a:solidFill>
                      <a:prstDash val="solid"/>
                      <a:round/>
                      <a:headEnd type="none" w="med" len="med"/>
                      <a:tailEnd type="none" w="med" len="med"/>
                    </a:lnL>
                    <a:lnR w="9525" cap="flat" cmpd="sng" algn="ctr">
                      <a:solidFill>
                        <a:srgbClr val="D6E6F5"/>
                      </a:solidFill>
                      <a:prstDash val="solid"/>
                      <a:round/>
                      <a:headEnd type="none" w="med" len="med"/>
                      <a:tailEnd type="none" w="med" len="med"/>
                    </a:lnR>
                    <a:lnT w="9525" cap="flat" cmpd="sng" algn="ctr">
                      <a:solidFill>
                        <a:srgbClr val="D6E6F5"/>
                      </a:solidFill>
                      <a:prstDash val="solid"/>
                      <a:round/>
                      <a:headEnd type="none" w="med" len="med"/>
                      <a:tailEnd type="none" w="med" len="med"/>
                    </a:lnT>
                    <a:lnB w="9525" cap="flat" cmpd="sng" algn="ctr">
                      <a:solidFill>
                        <a:srgbClr val="D6E6F5"/>
                      </a:solidFill>
                      <a:prstDash val="solid"/>
                      <a:round/>
                      <a:headEnd type="none" w="med" len="med"/>
                      <a:tailEnd type="none" w="med" len="med"/>
                    </a:lnB>
                    <a:solidFill>
                      <a:srgbClr val="F1F7FD"/>
                    </a:solidFill>
                  </a:tcPr>
                </a:tc>
                <a:tc>
                  <a:txBody>
                    <a:bodyPr/>
                    <a:lstStyle/>
                    <a:p>
                      <a:pPr indent="0" marL="0">
                        <a:buNone/>
                      </a:pPr>
                      <a:r>
                        <a:rPr lang="en-US" sz="1250" dirty="0">
                          <a:solidFill>
                            <a:srgbClr val="12395E"/>
                          </a:solidFill>
                          <a:latin typeface="Calibri" pitchFamily="34" charset="0"/>
                          <a:ea typeface="Calibri" pitchFamily="34" charset="-122"/>
                          <a:cs typeface="Calibri" pitchFamily="34" charset="-120"/>
                        </a:rPr>
                        <a:t>INSERT PATIENT, book_appointment, doctor_daily_load, trg_no_double_booking</a:t>
                      </a:r>
                      <a:endParaRPr lang="en-US" sz="1250" dirty="0">
                        <a:latin typeface="Calibri" charset="0"/>
                        <a:ea typeface="Calibri" charset="0"/>
                        <a:cs typeface="Calibri" charset="0"/>
                      </a:endParaRPr>
                    </a:p>
                  </a:txBody>
                  <a:tcPr marL="91440" marR="91440" marT="36576" marB="36576" anchor="ctr">
                    <a:lnL w="9525" cap="flat" cmpd="sng" algn="ctr">
                      <a:solidFill>
                        <a:srgbClr val="D6E6F5"/>
                      </a:solidFill>
                      <a:prstDash val="solid"/>
                      <a:round/>
                      <a:headEnd type="none" w="med" len="med"/>
                      <a:tailEnd type="none" w="med" len="med"/>
                    </a:lnL>
                    <a:lnR w="9525" cap="flat" cmpd="sng" algn="ctr">
                      <a:solidFill>
                        <a:srgbClr val="D6E6F5"/>
                      </a:solidFill>
                      <a:prstDash val="solid"/>
                      <a:round/>
                      <a:headEnd type="none" w="med" len="med"/>
                      <a:tailEnd type="none" w="med" len="med"/>
                    </a:lnR>
                    <a:lnT w="9525" cap="flat" cmpd="sng" algn="ctr">
                      <a:solidFill>
                        <a:srgbClr val="D6E6F5"/>
                      </a:solidFill>
                      <a:prstDash val="solid"/>
                      <a:round/>
                      <a:headEnd type="none" w="med" len="med"/>
                      <a:tailEnd type="none" w="med" len="med"/>
                    </a:lnT>
                    <a:lnB w="9525" cap="flat" cmpd="sng" algn="ctr">
                      <a:solidFill>
                        <a:srgbClr val="D6E6F5"/>
                      </a:solidFill>
                      <a:prstDash val="solid"/>
                      <a:round/>
                      <a:headEnd type="none" w="med" len="med"/>
                      <a:tailEnd type="none" w="med" len="med"/>
                    </a:lnB>
                    <a:solidFill>
                      <a:srgbClr val="F1F7FD"/>
                    </a:solidFill>
                  </a:tcPr>
                </a:tc>
              </a:tr>
              <a:tr h="548640">
                <a:tc>
                  <a:txBody>
                    <a:bodyPr/>
                    <a:lstStyle/>
                    <a:p>
                      <a:pPr indent="0" marL="0">
                        <a:buNone/>
                      </a:pPr>
                      <a:r>
                        <a:rPr lang="en-US" sz="1250" b="1" dirty="0">
                          <a:solidFill>
                            <a:srgbClr val="1F6FC5"/>
                          </a:solidFill>
                          <a:latin typeface="Calibri" pitchFamily="34" charset="0"/>
                          <a:ea typeface="Calibri" pitchFamily="34" charset="-122"/>
                          <a:cs typeface="Calibri" pitchFamily="34" charset="-120"/>
                        </a:rPr>
                        <a:t>T2</a:t>
                      </a:r>
                      <a:endParaRPr lang="en-US" sz="1250" dirty="0">
                        <a:latin typeface="Calibri" charset="0"/>
                        <a:ea typeface="Calibri" charset="0"/>
                        <a:cs typeface="Calibri" charset="0"/>
                      </a:endParaRPr>
                    </a:p>
                  </a:txBody>
                  <a:tcPr marL="91440" marR="91440" marT="36576" marB="36576" anchor="ctr">
                    <a:lnL w="9525" cap="flat" cmpd="sng" algn="ctr">
                      <a:solidFill>
                        <a:srgbClr val="D6E6F5"/>
                      </a:solidFill>
                      <a:prstDash val="solid"/>
                      <a:round/>
                      <a:headEnd type="none" w="med" len="med"/>
                      <a:tailEnd type="none" w="med" len="med"/>
                    </a:lnL>
                    <a:lnR w="9525" cap="flat" cmpd="sng" algn="ctr">
                      <a:solidFill>
                        <a:srgbClr val="D6E6F5"/>
                      </a:solidFill>
                      <a:prstDash val="solid"/>
                      <a:round/>
                      <a:headEnd type="none" w="med" len="med"/>
                      <a:tailEnd type="none" w="med" len="med"/>
                    </a:lnR>
                    <a:lnT w="9525" cap="flat" cmpd="sng" algn="ctr">
                      <a:solidFill>
                        <a:srgbClr val="D6E6F5"/>
                      </a:solidFill>
                      <a:prstDash val="solid"/>
                      <a:round/>
                      <a:headEnd type="none" w="med" len="med"/>
                      <a:tailEnd type="none" w="med" len="med"/>
                    </a:lnT>
                    <a:lnB w="9525" cap="flat" cmpd="sng" algn="ctr">
                      <a:solidFill>
                        <a:srgbClr val="D6E6F5"/>
                      </a:solidFill>
                      <a:prstDash val="solid"/>
                      <a:round/>
                      <a:headEnd type="none" w="med" len="med"/>
                      <a:tailEnd type="none" w="med" len="med"/>
                    </a:lnB>
                    <a:solidFill>
                      <a:srgbClr val="FFFFFF"/>
                    </a:solidFill>
                  </a:tcPr>
                </a:tc>
                <a:tc>
                  <a:txBody>
                    <a:bodyPr/>
                    <a:lstStyle/>
                    <a:p>
                      <a:pPr indent="0" marL="0">
                        <a:buNone/>
                      </a:pPr>
                      <a:r>
                        <a:rPr lang="en-US" sz="1250" dirty="0">
                          <a:solidFill>
                            <a:srgbClr val="12395E"/>
                          </a:solidFill>
                          <a:latin typeface="Calibri" pitchFamily="34" charset="0"/>
                          <a:ea typeface="Calibri" pitchFamily="34" charset="-122"/>
                          <a:cs typeface="Calibri" pitchFamily="34" charset="-120"/>
                        </a:rPr>
                        <a:t>Order tests, collect samples</a:t>
                      </a:r>
                      <a:endParaRPr lang="en-US" sz="1250" dirty="0">
                        <a:latin typeface="Calibri" charset="0"/>
                        <a:ea typeface="Calibri" charset="0"/>
                        <a:cs typeface="Calibri" charset="0"/>
                      </a:endParaRPr>
                    </a:p>
                  </a:txBody>
                  <a:tcPr marL="91440" marR="91440" marT="36576" marB="36576" anchor="ctr">
                    <a:lnL w="9525" cap="flat" cmpd="sng" algn="ctr">
                      <a:solidFill>
                        <a:srgbClr val="D6E6F5"/>
                      </a:solidFill>
                      <a:prstDash val="solid"/>
                      <a:round/>
                      <a:headEnd type="none" w="med" len="med"/>
                      <a:tailEnd type="none" w="med" len="med"/>
                    </a:lnL>
                    <a:lnR w="9525" cap="flat" cmpd="sng" algn="ctr">
                      <a:solidFill>
                        <a:srgbClr val="D6E6F5"/>
                      </a:solidFill>
                      <a:prstDash val="solid"/>
                      <a:round/>
                      <a:headEnd type="none" w="med" len="med"/>
                      <a:tailEnd type="none" w="med" len="med"/>
                    </a:lnR>
                    <a:lnT w="9525" cap="flat" cmpd="sng" algn="ctr">
                      <a:solidFill>
                        <a:srgbClr val="D6E6F5"/>
                      </a:solidFill>
                      <a:prstDash val="solid"/>
                      <a:round/>
                      <a:headEnd type="none" w="med" len="med"/>
                      <a:tailEnd type="none" w="med" len="med"/>
                    </a:lnT>
                    <a:lnB w="9525" cap="flat" cmpd="sng" algn="ctr">
                      <a:solidFill>
                        <a:srgbClr val="D6E6F5"/>
                      </a:solidFill>
                      <a:prstDash val="solid"/>
                      <a:round/>
                      <a:headEnd type="none" w="med" len="med"/>
                      <a:tailEnd type="none" w="med" len="med"/>
                    </a:lnB>
                    <a:solidFill>
                      <a:srgbClr val="FFFFFF"/>
                    </a:solidFill>
                  </a:tcPr>
                </a:tc>
                <a:tc>
                  <a:txBody>
                    <a:bodyPr/>
                    <a:lstStyle/>
                    <a:p>
                      <a:pPr indent="0" marL="0">
                        <a:buNone/>
                      </a:pPr>
                      <a:r>
                        <a:rPr lang="en-US" sz="1250" dirty="0">
                          <a:solidFill>
                            <a:srgbClr val="12395E"/>
                          </a:solidFill>
                          <a:latin typeface="Calibri" pitchFamily="34" charset="0"/>
                          <a:ea typeface="Calibri" pitchFamily="34" charset="-122"/>
                          <a:cs typeface="Calibri" pitchFamily="34" charset="-120"/>
                        </a:rPr>
                        <a:t>Doctor › Order tests; Admin › Lab desk</a:t>
                      </a:r>
                      <a:endParaRPr lang="en-US" sz="1250" dirty="0">
                        <a:latin typeface="Calibri" charset="0"/>
                        <a:ea typeface="Calibri" charset="0"/>
                        <a:cs typeface="Calibri" charset="0"/>
                      </a:endParaRPr>
                    </a:p>
                  </a:txBody>
                  <a:tcPr marL="91440" marR="91440" marT="36576" marB="36576" anchor="ctr">
                    <a:lnL w="9525" cap="flat" cmpd="sng" algn="ctr">
                      <a:solidFill>
                        <a:srgbClr val="D6E6F5"/>
                      </a:solidFill>
                      <a:prstDash val="solid"/>
                      <a:round/>
                      <a:headEnd type="none" w="med" len="med"/>
                      <a:tailEnd type="none" w="med" len="med"/>
                    </a:lnL>
                    <a:lnR w="9525" cap="flat" cmpd="sng" algn="ctr">
                      <a:solidFill>
                        <a:srgbClr val="D6E6F5"/>
                      </a:solidFill>
                      <a:prstDash val="solid"/>
                      <a:round/>
                      <a:headEnd type="none" w="med" len="med"/>
                      <a:tailEnd type="none" w="med" len="med"/>
                    </a:lnR>
                    <a:lnT w="9525" cap="flat" cmpd="sng" algn="ctr">
                      <a:solidFill>
                        <a:srgbClr val="D6E6F5"/>
                      </a:solidFill>
                      <a:prstDash val="solid"/>
                      <a:round/>
                      <a:headEnd type="none" w="med" len="med"/>
                      <a:tailEnd type="none" w="med" len="med"/>
                    </a:lnT>
                    <a:lnB w="9525" cap="flat" cmpd="sng" algn="ctr">
                      <a:solidFill>
                        <a:srgbClr val="D6E6F5"/>
                      </a:solidFill>
                      <a:prstDash val="solid"/>
                      <a:round/>
                      <a:headEnd type="none" w="med" len="med"/>
                      <a:tailEnd type="none" w="med" len="med"/>
                    </a:lnB>
                    <a:solidFill>
                      <a:srgbClr val="FFFFFF"/>
                    </a:solidFill>
                  </a:tcPr>
                </a:tc>
                <a:tc>
                  <a:txBody>
                    <a:bodyPr/>
                    <a:lstStyle/>
                    <a:p>
                      <a:pPr indent="0" marL="0">
                        <a:buNone/>
                      </a:pPr>
                      <a:r>
                        <a:rPr lang="en-US" sz="1250" dirty="0">
                          <a:solidFill>
                            <a:srgbClr val="12395E"/>
                          </a:solidFill>
                          <a:latin typeface="Calibri" pitchFamily="34" charset="0"/>
                          <a:ea typeface="Calibri" pitchFamily="34" charset="-122"/>
                          <a:cs typeface="Calibri" pitchFamily="34" charset="-120"/>
                        </a:rPr>
                        <a:t>INSERT SAMPLE, UPDATE SAMPLE status, uq_sample_appt_test</a:t>
                      </a:r>
                      <a:endParaRPr lang="en-US" sz="1250" dirty="0">
                        <a:latin typeface="Calibri" charset="0"/>
                        <a:ea typeface="Calibri" charset="0"/>
                        <a:cs typeface="Calibri" charset="0"/>
                      </a:endParaRPr>
                    </a:p>
                  </a:txBody>
                  <a:tcPr marL="91440" marR="91440" marT="36576" marB="36576" anchor="ctr">
                    <a:lnL w="9525" cap="flat" cmpd="sng" algn="ctr">
                      <a:solidFill>
                        <a:srgbClr val="D6E6F5"/>
                      </a:solidFill>
                      <a:prstDash val="solid"/>
                      <a:round/>
                      <a:headEnd type="none" w="med" len="med"/>
                      <a:tailEnd type="none" w="med" len="med"/>
                    </a:lnL>
                    <a:lnR w="9525" cap="flat" cmpd="sng" algn="ctr">
                      <a:solidFill>
                        <a:srgbClr val="D6E6F5"/>
                      </a:solidFill>
                      <a:prstDash val="solid"/>
                      <a:round/>
                      <a:headEnd type="none" w="med" len="med"/>
                      <a:tailEnd type="none" w="med" len="med"/>
                    </a:lnR>
                    <a:lnT w="9525" cap="flat" cmpd="sng" algn="ctr">
                      <a:solidFill>
                        <a:srgbClr val="D6E6F5"/>
                      </a:solidFill>
                      <a:prstDash val="solid"/>
                      <a:round/>
                      <a:headEnd type="none" w="med" len="med"/>
                      <a:tailEnd type="none" w="med" len="med"/>
                    </a:lnT>
                    <a:lnB w="9525" cap="flat" cmpd="sng" algn="ctr">
                      <a:solidFill>
                        <a:srgbClr val="D6E6F5"/>
                      </a:solidFill>
                      <a:prstDash val="solid"/>
                      <a:round/>
                      <a:headEnd type="none" w="med" len="med"/>
                      <a:tailEnd type="none" w="med" len="med"/>
                    </a:lnB>
                    <a:solidFill>
                      <a:srgbClr val="FFFFFF"/>
                    </a:solidFill>
                  </a:tcPr>
                </a:tc>
              </a:tr>
              <a:tr h="548640">
                <a:tc>
                  <a:txBody>
                    <a:bodyPr/>
                    <a:lstStyle/>
                    <a:p>
                      <a:pPr indent="0" marL="0">
                        <a:buNone/>
                      </a:pPr>
                      <a:r>
                        <a:rPr lang="en-US" sz="1250" b="1" dirty="0">
                          <a:solidFill>
                            <a:srgbClr val="1F6FC5"/>
                          </a:solidFill>
                          <a:latin typeface="Calibri" pitchFamily="34" charset="0"/>
                          <a:ea typeface="Calibri" pitchFamily="34" charset="-122"/>
                          <a:cs typeface="Calibri" pitchFamily="34" charset="-120"/>
                        </a:rPr>
                        <a:t>T3</a:t>
                      </a:r>
                      <a:endParaRPr lang="en-US" sz="1250" dirty="0">
                        <a:latin typeface="Calibri" charset="0"/>
                        <a:ea typeface="Calibri" charset="0"/>
                        <a:cs typeface="Calibri" charset="0"/>
                      </a:endParaRPr>
                    </a:p>
                  </a:txBody>
                  <a:tcPr marL="91440" marR="91440" marT="36576" marB="36576" anchor="ctr">
                    <a:lnL w="9525" cap="flat" cmpd="sng" algn="ctr">
                      <a:solidFill>
                        <a:srgbClr val="D6E6F5"/>
                      </a:solidFill>
                      <a:prstDash val="solid"/>
                      <a:round/>
                      <a:headEnd type="none" w="med" len="med"/>
                      <a:tailEnd type="none" w="med" len="med"/>
                    </a:lnL>
                    <a:lnR w="9525" cap="flat" cmpd="sng" algn="ctr">
                      <a:solidFill>
                        <a:srgbClr val="D6E6F5"/>
                      </a:solidFill>
                      <a:prstDash val="solid"/>
                      <a:round/>
                      <a:headEnd type="none" w="med" len="med"/>
                      <a:tailEnd type="none" w="med" len="med"/>
                    </a:lnR>
                    <a:lnT w="9525" cap="flat" cmpd="sng" algn="ctr">
                      <a:solidFill>
                        <a:srgbClr val="D6E6F5"/>
                      </a:solidFill>
                      <a:prstDash val="solid"/>
                      <a:round/>
                      <a:headEnd type="none" w="med" len="med"/>
                      <a:tailEnd type="none" w="med" len="med"/>
                    </a:lnT>
                    <a:lnB w="9525" cap="flat" cmpd="sng" algn="ctr">
                      <a:solidFill>
                        <a:srgbClr val="D6E6F5"/>
                      </a:solidFill>
                      <a:prstDash val="solid"/>
                      <a:round/>
                      <a:headEnd type="none" w="med" len="med"/>
                      <a:tailEnd type="none" w="med" len="med"/>
                    </a:lnB>
                    <a:solidFill>
                      <a:srgbClr val="F1F7FD"/>
                    </a:solidFill>
                  </a:tcPr>
                </a:tc>
                <a:tc>
                  <a:txBody>
                    <a:bodyPr/>
                    <a:lstStyle/>
                    <a:p>
                      <a:pPr indent="0" marL="0">
                        <a:buNone/>
                      </a:pPr>
                      <a:r>
                        <a:rPr lang="en-US" sz="1250" dirty="0">
                          <a:solidFill>
                            <a:srgbClr val="12395E"/>
                          </a:solidFill>
                          <a:latin typeface="Calibri" pitchFamily="34" charset="0"/>
                          <a:ea typeface="Calibri" pitchFamily="34" charset="-122"/>
                          <a:cs typeface="Calibri" pitchFamily="34" charset="-120"/>
                        </a:rPr>
                        <a:t>Enter test result</a:t>
                      </a:r>
                      <a:endParaRPr lang="en-US" sz="1250" dirty="0">
                        <a:latin typeface="Calibri" charset="0"/>
                        <a:ea typeface="Calibri" charset="0"/>
                        <a:cs typeface="Calibri" charset="0"/>
                      </a:endParaRPr>
                    </a:p>
                  </a:txBody>
                  <a:tcPr marL="91440" marR="91440" marT="36576" marB="36576" anchor="ctr">
                    <a:lnL w="9525" cap="flat" cmpd="sng" algn="ctr">
                      <a:solidFill>
                        <a:srgbClr val="D6E6F5"/>
                      </a:solidFill>
                      <a:prstDash val="solid"/>
                      <a:round/>
                      <a:headEnd type="none" w="med" len="med"/>
                      <a:tailEnd type="none" w="med" len="med"/>
                    </a:lnL>
                    <a:lnR w="9525" cap="flat" cmpd="sng" algn="ctr">
                      <a:solidFill>
                        <a:srgbClr val="D6E6F5"/>
                      </a:solidFill>
                      <a:prstDash val="solid"/>
                      <a:round/>
                      <a:headEnd type="none" w="med" len="med"/>
                      <a:tailEnd type="none" w="med" len="med"/>
                    </a:lnR>
                    <a:lnT w="9525" cap="flat" cmpd="sng" algn="ctr">
                      <a:solidFill>
                        <a:srgbClr val="D6E6F5"/>
                      </a:solidFill>
                      <a:prstDash val="solid"/>
                      <a:round/>
                      <a:headEnd type="none" w="med" len="med"/>
                      <a:tailEnd type="none" w="med" len="med"/>
                    </a:lnT>
                    <a:lnB w="9525" cap="flat" cmpd="sng" algn="ctr">
                      <a:solidFill>
                        <a:srgbClr val="D6E6F5"/>
                      </a:solidFill>
                      <a:prstDash val="solid"/>
                      <a:round/>
                      <a:headEnd type="none" w="med" len="med"/>
                      <a:tailEnd type="none" w="med" len="med"/>
                    </a:lnB>
                    <a:solidFill>
                      <a:srgbClr val="F1F7FD"/>
                    </a:solidFill>
                  </a:tcPr>
                </a:tc>
                <a:tc>
                  <a:txBody>
                    <a:bodyPr/>
                    <a:lstStyle/>
                    <a:p>
                      <a:pPr indent="0" marL="0">
                        <a:buNone/>
                      </a:pPr>
                      <a:r>
                        <a:rPr lang="en-US" sz="1250" dirty="0">
                          <a:solidFill>
                            <a:srgbClr val="12395E"/>
                          </a:solidFill>
                          <a:latin typeface="Calibri" pitchFamily="34" charset="0"/>
                          <a:ea typeface="Calibri" pitchFamily="34" charset="-122"/>
                          <a:cs typeface="Calibri" pitchFamily="34" charset="-120"/>
                        </a:rPr>
                        <a:t>Admin › Lab desk</a:t>
                      </a:r>
                      <a:endParaRPr lang="en-US" sz="1250" dirty="0">
                        <a:latin typeface="Calibri" charset="0"/>
                        <a:ea typeface="Calibri" charset="0"/>
                        <a:cs typeface="Calibri" charset="0"/>
                      </a:endParaRPr>
                    </a:p>
                  </a:txBody>
                  <a:tcPr marL="91440" marR="91440" marT="36576" marB="36576" anchor="ctr">
                    <a:lnL w="9525" cap="flat" cmpd="sng" algn="ctr">
                      <a:solidFill>
                        <a:srgbClr val="D6E6F5"/>
                      </a:solidFill>
                      <a:prstDash val="solid"/>
                      <a:round/>
                      <a:headEnd type="none" w="med" len="med"/>
                      <a:tailEnd type="none" w="med" len="med"/>
                    </a:lnL>
                    <a:lnR w="9525" cap="flat" cmpd="sng" algn="ctr">
                      <a:solidFill>
                        <a:srgbClr val="D6E6F5"/>
                      </a:solidFill>
                      <a:prstDash val="solid"/>
                      <a:round/>
                      <a:headEnd type="none" w="med" len="med"/>
                      <a:tailEnd type="none" w="med" len="med"/>
                    </a:lnR>
                    <a:lnT w="9525" cap="flat" cmpd="sng" algn="ctr">
                      <a:solidFill>
                        <a:srgbClr val="D6E6F5"/>
                      </a:solidFill>
                      <a:prstDash val="solid"/>
                      <a:round/>
                      <a:headEnd type="none" w="med" len="med"/>
                      <a:tailEnd type="none" w="med" len="med"/>
                    </a:lnT>
                    <a:lnB w="9525" cap="flat" cmpd="sng" algn="ctr">
                      <a:solidFill>
                        <a:srgbClr val="D6E6F5"/>
                      </a:solidFill>
                      <a:prstDash val="solid"/>
                      <a:round/>
                      <a:headEnd type="none" w="med" len="med"/>
                      <a:tailEnd type="none" w="med" len="med"/>
                    </a:lnB>
                    <a:solidFill>
                      <a:srgbClr val="F1F7FD"/>
                    </a:solidFill>
                  </a:tcPr>
                </a:tc>
                <a:tc>
                  <a:txBody>
                    <a:bodyPr/>
                    <a:lstStyle/>
                    <a:p>
                      <a:pPr indent="0" marL="0">
                        <a:buNone/>
                      </a:pPr>
                      <a:r>
                        <a:rPr lang="en-US" sz="1250" dirty="0">
                          <a:solidFill>
                            <a:srgbClr val="12395E"/>
                          </a:solidFill>
                          <a:latin typeface="Calibri" pitchFamily="34" charset="0"/>
                          <a:ea typeface="Calibri" pitchFamily="34" charset="-122"/>
                          <a:cs typeface="Calibri" pitchFamily="34" charset="-120"/>
                        </a:rPr>
                        <a:t>INSERT TEST_RESULT, trg_flag_result (sets flag + sample COMPLETED)</a:t>
                      </a:r>
                      <a:endParaRPr lang="en-US" sz="1250" dirty="0">
                        <a:latin typeface="Calibri" charset="0"/>
                        <a:ea typeface="Calibri" charset="0"/>
                        <a:cs typeface="Calibri" charset="0"/>
                      </a:endParaRPr>
                    </a:p>
                  </a:txBody>
                  <a:tcPr marL="91440" marR="91440" marT="36576" marB="36576" anchor="ctr">
                    <a:lnL w="9525" cap="flat" cmpd="sng" algn="ctr">
                      <a:solidFill>
                        <a:srgbClr val="D6E6F5"/>
                      </a:solidFill>
                      <a:prstDash val="solid"/>
                      <a:round/>
                      <a:headEnd type="none" w="med" len="med"/>
                      <a:tailEnd type="none" w="med" len="med"/>
                    </a:lnL>
                    <a:lnR w="9525" cap="flat" cmpd="sng" algn="ctr">
                      <a:solidFill>
                        <a:srgbClr val="D6E6F5"/>
                      </a:solidFill>
                      <a:prstDash val="solid"/>
                      <a:round/>
                      <a:headEnd type="none" w="med" len="med"/>
                      <a:tailEnd type="none" w="med" len="med"/>
                    </a:lnR>
                    <a:lnT w="9525" cap="flat" cmpd="sng" algn="ctr">
                      <a:solidFill>
                        <a:srgbClr val="D6E6F5"/>
                      </a:solidFill>
                      <a:prstDash val="solid"/>
                      <a:round/>
                      <a:headEnd type="none" w="med" len="med"/>
                      <a:tailEnd type="none" w="med" len="med"/>
                    </a:lnT>
                    <a:lnB w="9525" cap="flat" cmpd="sng" algn="ctr">
                      <a:solidFill>
                        <a:srgbClr val="D6E6F5"/>
                      </a:solidFill>
                      <a:prstDash val="solid"/>
                      <a:round/>
                      <a:headEnd type="none" w="med" len="med"/>
                      <a:tailEnd type="none" w="med" len="med"/>
                    </a:lnB>
                    <a:solidFill>
                      <a:srgbClr val="F1F7FD"/>
                    </a:solidFill>
                  </a:tcPr>
                </a:tc>
              </a:tr>
              <a:tr h="548640">
                <a:tc>
                  <a:txBody>
                    <a:bodyPr/>
                    <a:lstStyle/>
                    <a:p>
                      <a:pPr indent="0" marL="0">
                        <a:buNone/>
                      </a:pPr>
                      <a:r>
                        <a:rPr lang="en-US" sz="1250" b="1" dirty="0">
                          <a:solidFill>
                            <a:srgbClr val="1F6FC5"/>
                          </a:solidFill>
                          <a:latin typeface="Calibri" pitchFamily="34" charset="0"/>
                          <a:ea typeface="Calibri" pitchFamily="34" charset="-122"/>
                          <a:cs typeface="Calibri" pitchFamily="34" charset="-120"/>
                        </a:rPr>
                        <a:t>T4</a:t>
                      </a:r>
                      <a:endParaRPr lang="en-US" sz="1250" dirty="0">
                        <a:latin typeface="Calibri" charset="0"/>
                        <a:ea typeface="Calibri" charset="0"/>
                        <a:cs typeface="Calibri" charset="0"/>
                      </a:endParaRPr>
                    </a:p>
                  </a:txBody>
                  <a:tcPr marL="91440" marR="91440" marT="36576" marB="36576" anchor="ctr">
                    <a:lnL w="9525" cap="flat" cmpd="sng" algn="ctr">
                      <a:solidFill>
                        <a:srgbClr val="D6E6F5"/>
                      </a:solidFill>
                      <a:prstDash val="solid"/>
                      <a:round/>
                      <a:headEnd type="none" w="med" len="med"/>
                      <a:tailEnd type="none" w="med" len="med"/>
                    </a:lnL>
                    <a:lnR w="9525" cap="flat" cmpd="sng" algn="ctr">
                      <a:solidFill>
                        <a:srgbClr val="D6E6F5"/>
                      </a:solidFill>
                      <a:prstDash val="solid"/>
                      <a:round/>
                      <a:headEnd type="none" w="med" len="med"/>
                      <a:tailEnd type="none" w="med" len="med"/>
                    </a:lnR>
                    <a:lnT w="9525" cap="flat" cmpd="sng" algn="ctr">
                      <a:solidFill>
                        <a:srgbClr val="D6E6F5"/>
                      </a:solidFill>
                      <a:prstDash val="solid"/>
                      <a:round/>
                      <a:headEnd type="none" w="med" len="med"/>
                      <a:tailEnd type="none" w="med" len="med"/>
                    </a:lnT>
                    <a:lnB w="9525" cap="flat" cmpd="sng" algn="ctr">
                      <a:solidFill>
                        <a:srgbClr val="D6E6F5"/>
                      </a:solidFill>
                      <a:prstDash val="solid"/>
                      <a:round/>
                      <a:headEnd type="none" w="med" len="med"/>
                      <a:tailEnd type="none" w="med" len="med"/>
                    </a:lnB>
                    <a:solidFill>
                      <a:srgbClr val="FFFFFF"/>
                    </a:solidFill>
                  </a:tcPr>
                </a:tc>
                <a:tc>
                  <a:txBody>
                    <a:bodyPr/>
                    <a:lstStyle/>
                    <a:p>
                      <a:pPr indent="0" marL="0">
                        <a:buNone/>
                      </a:pPr>
                      <a:r>
                        <a:rPr lang="en-US" sz="1250" dirty="0">
                          <a:solidFill>
                            <a:srgbClr val="12395E"/>
                          </a:solidFill>
                          <a:latin typeface="Calibri" pitchFamily="34" charset="0"/>
                          <a:ea typeface="Calibri" pitchFamily="34" charset="-122"/>
                          <a:cs typeface="Calibri" pitchFamily="34" charset="-120"/>
                        </a:rPr>
                        <a:t>Complete visit + bill</a:t>
                      </a:r>
                      <a:endParaRPr lang="en-US" sz="1250" dirty="0">
                        <a:latin typeface="Calibri" charset="0"/>
                        <a:ea typeface="Calibri" charset="0"/>
                        <a:cs typeface="Calibri" charset="0"/>
                      </a:endParaRPr>
                    </a:p>
                  </a:txBody>
                  <a:tcPr marL="91440" marR="91440" marT="36576" marB="36576" anchor="ctr">
                    <a:lnL w="9525" cap="flat" cmpd="sng" algn="ctr">
                      <a:solidFill>
                        <a:srgbClr val="D6E6F5"/>
                      </a:solidFill>
                      <a:prstDash val="solid"/>
                      <a:round/>
                      <a:headEnd type="none" w="med" len="med"/>
                      <a:tailEnd type="none" w="med" len="med"/>
                    </a:lnL>
                    <a:lnR w="9525" cap="flat" cmpd="sng" algn="ctr">
                      <a:solidFill>
                        <a:srgbClr val="D6E6F5"/>
                      </a:solidFill>
                      <a:prstDash val="solid"/>
                      <a:round/>
                      <a:headEnd type="none" w="med" len="med"/>
                      <a:tailEnd type="none" w="med" len="med"/>
                    </a:lnR>
                    <a:lnT w="9525" cap="flat" cmpd="sng" algn="ctr">
                      <a:solidFill>
                        <a:srgbClr val="D6E6F5"/>
                      </a:solidFill>
                      <a:prstDash val="solid"/>
                      <a:round/>
                      <a:headEnd type="none" w="med" len="med"/>
                      <a:tailEnd type="none" w="med" len="med"/>
                    </a:lnT>
                    <a:lnB w="9525" cap="flat" cmpd="sng" algn="ctr">
                      <a:solidFill>
                        <a:srgbClr val="D6E6F5"/>
                      </a:solidFill>
                      <a:prstDash val="solid"/>
                      <a:round/>
                      <a:headEnd type="none" w="med" len="med"/>
                      <a:tailEnd type="none" w="med" len="med"/>
                    </a:lnB>
                    <a:solidFill>
                      <a:srgbClr val="FFFFFF"/>
                    </a:solidFill>
                  </a:tcPr>
                </a:tc>
                <a:tc>
                  <a:txBody>
                    <a:bodyPr/>
                    <a:lstStyle/>
                    <a:p>
                      <a:pPr indent="0" marL="0">
                        <a:buNone/>
                      </a:pPr>
                      <a:r>
                        <a:rPr lang="en-US" sz="1250" dirty="0">
                          <a:solidFill>
                            <a:srgbClr val="12395E"/>
                          </a:solidFill>
                          <a:latin typeface="Calibri" pitchFamily="34" charset="0"/>
                          <a:ea typeface="Calibri" pitchFamily="34" charset="-122"/>
                          <a:cs typeface="Calibri" pitchFamily="34" charset="-120"/>
                        </a:rPr>
                        <a:t>Doctor › Complete visit</a:t>
                      </a:r>
                      <a:endParaRPr lang="en-US" sz="1250" dirty="0">
                        <a:latin typeface="Calibri" charset="0"/>
                        <a:ea typeface="Calibri" charset="0"/>
                        <a:cs typeface="Calibri" charset="0"/>
                      </a:endParaRPr>
                    </a:p>
                  </a:txBody>
                  <a:tcPr marL="91440" marR="91440" marT="36576" marB="36576" anchor="ctr">
                    <a:lnL w="9525" cap="flat" cmpd="sng" algn="ctr">
                      <a:solidFill>
                        <a:srgbClr val="D6E6F5"/>
                      </a:solidFill>
                      <a:prstDash val="solid"/>
                      <a:round/>
                      <a:headEnd type="none" w="med" len="med"/>
                      <a:tailEnd type="none" w="med" len="med"/>
                    </a:lnL>
                    <a:lnR w="9525" cap="flat" cmpd="sng" algn="ctr">
                      <a:solidFill>
                        <a:srgbClr val="D6E6F5"/>
                      </a:solidFill>
                      <a:prstDash val="solid"/>
                      <a:round/>
                      <a:headEnd type="none" w="med" len="med"/>
                      <a:tailEnd type="none" w="med" len="med"/>
                    </a:lnR>
                    <a:lnT w="9525" cap="flat" cmpd="sng" algn="ctr">
                      <a:solidFill>
                        <a:srgbClr val="D6E6F5"/>
                      </a:solidFill>
                      <a:prstDash val="solid"/>
                      <a:round/>
                      <a:headEnd type="none" w="med" len="med"/>
                      <a:tailEnd type="none" w="med" len="med"/>
                    </a:lnT>
                    <a:lnB w="9525" cap="flat" cmpd="sng" algn="ctr">
                      <a:solidFill>
                        <a:srgbClr val="D6E6F5"/>
                      </a:solidFill>
                      <a:prstDash val="solid"/>
                      <a:round/>
                      <a:headEnd type="none" w="med" len="med"/>
                      <a:tailEnd type="none" w="med" len="med"/>
                    </a:lnB>
                    <a:solidFill>
                      <a:srgbClr val="FFFFFF"/>
                    </a:solidFill>
                  </a:tcPr>
                </a:tc>
                <a:tc>
                  <a:txBody>
                    <a:bodyPr/>
                    <a:lstStyle/>
                    <a:p>
                      <a:pPr indent="0" marL="0">
                        <a:buNone/>
                      </a:pPr>
                      <a:r>
                        <a:rPr lang="en-US" sz="1250" dirty="0">
                          <a:solidFill>
                            <a:srgbClr val="12395E"/>
                          </a:solidFill>
                          <a:latin typeface="Calibri" pitchFamily="34" charset="0"/>
                          <a:ea typeface="Calibri" pitchFamily="34" charset="-122"/>
                          <a:cs typeface="Calibri" pitchFamily="34" charset="-120"/>
                        </a:rPr>
                        <a:t>UPDATE APPOINTMENT + generate_bill, one COMMIT</a:t>
                      </a:r>
                      <a:endParaRPr lang="en-US" sz="1250" dirty="0">
                        <a:latin typeface="Calibri" charset="0"/>
                        <a:ea typeface="Calibri" charset="0"/>
                        <a:cs typeface="Calibri" charset="0"/>
                      </a:endParaRPr>
                    </a:p>
                  </a:txBody>
                  <a:tcPr marL="91440" marR="91440" marT="36576" marB="36576" anchor="ctr">
                    <a:lnL w="9525" cap="flat" cmpd="sng" algn="ctr">
                      <a:solidFill>
                        <a:srgbClr val="D6E6F5"/>
                      </a:solidFill>
                      <a:prstDash val="solid"/>
                      <a:round/>
                      <a:headEnd type="none" w="med" len="med"/>
                      <a:tailEnd type="none" w="med" len="med"/>
                    </a:lnL>
                    <a:lnR w="9525" cap="flat" cmpd="sng" algn="ctr">
                      <a:solidFill>
                        <a:srgbClr val="D6E6F5"/>
                      </a:solidFill>
                      <a:prstDash val="solid"/>
                      <a:round/>
                      <a:headEnd type="none" w="med" len="med"/>
                      <a:tailEnd type="none" w="med" len="med"/>
                    </a:lnR>
                    <a:lnT w="9525" cap="flat" cmpd="sng" algn="ctr">
                      <a:solidFill>
                        <a:srgbClr val="D6E6F5"/>
                      </a:solidFill>
                      <a:prstDash val="solid"/>
                      <a:round/>
                      <a:headEnd type="none" w="med" len="med"/>
                      <a:tailEnd type="none" w="med" len="med"/>
                    </a:lnT>
                    <a:lnB w="9525" cap="flat" cmpd="sng" algn="ctr">
                      <a:solidFill>
                        <a:srgbClr val="D6E6F5"/>
                      </a:solidFill>
                      <a:prstDash val="solid"/>
                      <a:round/>
                      <a:headEnd type="none" w="med" len="med"/>
                      <a:tailEnd type="none" w="med" len="med"/>
                    </a:lnB>
                    <a:solidFill>
                      <a:srgbClr val="FFFFFF"/>
                    </a:solidFill>
                  </a:tcPr>
                </a:tc>
              </a:tr>
              <a:tr h="548640">
                <a:tc>
                  <a:txBody>
                    <a:bodyPr/>
                    <a:lstStyle/>
                    <a:p>
                      <a:pPr indent="0" marL="0">
                        <a:buNone/>
                      </a:pPr>
                      <a:r>
                        <a:rPr lang="en-US" sz="1250" b="1" dirty="0">
                          <a:solidFill>
                            <a:srgbClr val="1F6FC5"/>
                          </a:solidFill>
                          <a:latin typeface="Calibri" pitchFamily="34" charset="0"/>
                          <a:ea typeface="Calibri" pitchFamily="34" charset="-122"/>
                          <a:cs typeface="Calibri" pitchFamily="34" charset="-120"/>
                        </a:rPr>
                        <a:t>T5</a:t>
                      </a:r>
                      <a:endParaRPr lang="en-US" sz="1250" dirty="0">
                        <a:latin typeface="Calibri" charset="0"/>
                        <a:ea typeface="Calibri" charset="0"/>
                        <a:cs typeface="Calibri" charset="0"/>
                      </a:endParaRPr>
                    </a:p>
                  </a:txBody>
                  <a:tcPr marL="91440" marR="91440" marT="36576" marB="36576" anchor="ctr">
                    <a:lnL w="9525" cap="flat" cmpd="sng" algn="ctr">
                      <a:solidFill>
                        <a:srgbClr val="D6E6F5"/>
                      </a:solidFill>
                      <a:prstDash val="solid"/>
                      <a:round/>
                      <a:headEnd type="none" w="med" len="med"/>
                      <a:tailEnd type="none" w="med" len="med"/>
                    </a:lnL>
                    <a:lnR w="9525" cap="flat" cmpd="sng" algn="ctr">
                      <a:solidFill>
                        <a:srgbClr val="D6E6F5"/>
                      </a:solidFill>
                      <a:prstDash val="solid"/>
                      <a:round/>
                      <a:headEnd type="none" w="med" len="med"/>
                      <a:tailEnd type="none" w="med" len="med"/>
                    </a:lnR>
                    <a:lnT w="9525" cap="flat" cmpd="sng" algn="ctr">
                      <a:solidFill>
                        <a:srgbClr val="D6E6F5"/>
                      </a:solidFill>
                      <a:prstDash val="solid"/>
                      <a:round/>
                      <a:headEnd type="none" w="med" len="med"/>
                      <a:tailEnd type="none" w="med" len="med"/>
                    </a:lnT>
                    <a:lnB w="9525" cap="flat" cmpd="sng" algn="ctr">
                      <a:solidFill>
                        <a:srgbClr val="D6E6F5"/>
                      </a:solidFill>
                      <a:prstDash val="solid"/>
                      <a:round/>
                      <a:headEnd type="none" w="med" len="med"/>
                      <a:tailEnd type="none" w="med" len="med"/>
                    </a:lnB>
                    <a:solidFill>
                      <a:srgbClr val="F1F7FD"/>
                    </a:solidFill>
                  </a:tcPr>
                </a:tc>
                <a:tc>
                  <a:txBody>
                    <a:bodyPr/>
                    <a:lstStyle/>
                    <a:p>
                      <a:pPr indent="0" marL="0">
                        <a:buNone/>
                      </a:pPr>
                      <a:r>
                        <a:rPr lang="en-US" sz="1250" dirty="0">
                          <a:solidFill>
                            <a:srgbClr val="12395E"/>
                          </a:solidFill>
                          <a:latin typeface="Calibri" pitchFamily="34" charset="0"/>
                          <a:ea typeface="Calibri" pitchFamily="34" charset="-122"/>
                          <a:cs typeface="Calibri" pitchFamily="34" charset="-120"/>
                        </a:rPr>
                        <a:t>Payment + dues check</a:t>
                      </a:r>
                      <a:endParaRPr lang="en-US" sz="1250" dirty="0">
                        <a:latin typeface="Calibri" charset="0"/>
                        <a:ea typeface="Calibri" charset="0"/>
                        <a:cs typeface="Calibri" charset="0"/>
                      </a:endParaRPr>
                    </a:p>
                  </a:txBody>
                  <a:tcPr marL="91440" marR="91440" marT="36576" marB="36576" anchor="ctr">
                    <a:lnL w="9525" cap="flat" cmpd="sng" algn="ctr">
                      <a:solidFill>
                        <a:srgbClr val="D6E6F5"/>
                      </a:solidFill>
                      <a:prstDash val="solid"/>
                      <a:round/>
                      <a:headEnd type="none" w="med" len="med"/>
                      <a:tailEnd type="none" w="med" len="med"/>
                    </a:lnL>
                    <a:lnR w="9525" cap="flat" cmpd="sng" algn="ctr">
                      <a:solidFill>
                        <a:srgbClr val="D6E6F5"/>
                      </a:solidFill>
                      <a:prstDash val="solid"/>
                      <a:round/>
                      <a:headEnd type="none" w="med" len="med"/>
                      <a:tailEnd type="none" w="med" len="med"/>
                    </a:lnR>
                    <a:lnT w="9525" cap="flat" cmpd="sng" algn="ctr">
                      <a:solidFill>
                        <a:srgbClr val="D6E6F5"/>
                      </a:solidFill>
                      <a:prstDash val="solid"/>
                      <a:round/>
                      <a:headEnd type="none" w="med" len="med"/>
                      <a:tailEnd type="none" w="med" len="med"/>
                    </a:lnT>
                    <a:lnB w="9525" cap="flat" cmpd="sng" algn="ctr">
                      <a:solidFill>
                        <a:srgbClr val="D6E6F5"/>
                      </a:solidFill>
                      <a:prstDash val="solid"/>
                      <a:round/>
                      <a:headEnd type="none" w="med" len="med"/>
                      <a:tailEnd type="none" w="med" len="med"/>
                    </a:lnB>
                    <a:solidFill>
                      <a:srgbClr val="F1F7FD"/>
                    </a:solidFill>
                  </a:tcPr>
                </a:tc>
                <a:tc>
                  <a:txBody>
                    <a:bodyPr/>
                    <a:lstStyle/>
                    <a:p>
                      <a:pPr indent="0" marL="0">
                        <a:buNone/>
                      </a:pPr>
                      <a:r>
                        <a:rPr lang="en-US" sz="1250" dirty="0">
                          <a:solidFill>
                            <a:srgbClr val="12395E"/>
                          </a:solidFill>
                          <a:latin typeface="Calibri" pitchFamily="34" charset="0"/>
                          <a:ea typeface="Calibri" pitchFamily="34" charset="-122"/>
                          <a:cs typeface="Calibri" pitchFamily="34" charset="-120"/>
                        </a:rPr>
                        <a:t>Patient › Bills; Admin › Billing</a:t>
                      </a:r>
                      <a:endParaRPr lang="en-US" sz="1250" dirty="0">
                        <a:latin typeface="Calibri" charset="0"/>
                        <a:ea typeface="Calibri" charset="0"/>
                        <a:cs typeface="Calibri" charset="0"/>
                      </a:endParaRPr>
                    </a:p>
                  </a:txBody>
                  <a:tcPr marL="91440" marR="91440" marT="36576" marB="36576" anchor="ctr">
                    <a:lnL w="9525" cap="flat" cmpd="sng" algn="ctr">
                      <a:solidFill>
                        <a:srgbClr val="D6E6F5"/>
                      </a:solidFill>
                      <a:prstDash val="solid"/>
                      <a:round/>
                      <a:headEnd type="none" w="med" len="med"/>
                      <a:tailEnd type="none" w="med" len="med"/>
                    </a:lnL>
                    <a:lnR w="9525" cap="flat" cmpd="sng" algn="ctr">
                      <a:solidFill>
                        <a:srgbClr val="D6E6F5"/>
                      </a:solidFill>
                      <a:prstDash val="solid"/>
                      <a:round/>
                      <a:headEnd type="none" w="med" len="med"/>
                      <a:tailEnd type="none" w="med" len="med"/>
                    </a:lnR>
                    <a:lnT w="9525" cap="flat" cmpd="sng" algn="ctr">
                      <a:solidFill>
                        <a:srgbClr val="D6E6F5"/>
                      </a:solidFill>
                      <a:prstDash val="solid"/>
                      <a:round/>
                      <a:headEnd type="none" w="med" len="med"/>
                      <a:tailEnd type="none" w="med" len="med"/>
                    </a:lnT>
                    <a:lnB w="9525" cap="flat" cmpd="sng" algn="ctr">
                      <a:solidFill>
                        <a:srgbClr val="D6E6F5"/>
                      </a:solidFill>
                      <a:prstDash val="solid"/>
                      <a:round/>
                      <a:headEnd type="none" w="med" len="med"/>
                      <a:tailEnd type="none" w="med" len="med"/>
                    </a:lnB>
                    <a:solidFill>
                      <a:srgbClr val="F1F7FD"/>
                    </a:solidFill>
                  </a:tcPr>
                </a:tc>
                <a:tc>
                  <a:txBody>
                    <a:bodyPr/>
                    <a:lstStyle/>
                    <a:p>
                      <a:pPr indent="0" marL="0">
                        <a:buNone/>
                      </a:pPr>
                      <a:r>
                        <a:rPr lang="en-US" sz="1250" dirty="0">
                          <a:solidFill>
                            <a:srgbClr val="12395E"/>
                          </a:solidFill>
                          <a:latin typeface="Calibri" pitchFamily="34" charset="0"/>
                          <a:ea typeface="Calibri" pitchFamily="34" charset="-122"/>
                          <a:cs typeface="Calibri" pitchFamily="34" charset="-120"/>
                        </a:rPr>
                        <a:t>record_payment (FOR UPDATE), trg_payment_status, patient_total_due</a:t>
                      </a:r>
                      <a:endParaRPr lang="en-US" sz="1250" dirty="0">
                        <a:latin typeface="Calibri" charset="0"/>
                        <a:ea typeface="Calibri" charset="0"/>
                        <a:cs typeface="Calibri" charset="0"/>
                      </a:endParaRPr>
                    </a:p>
                  </a:txBody>
                  <a:tcPr marL="91440" marR="91440" marT="36576" marB="36576" anchor="ctr">
                    <a:lnL w="9525" cap="flat" cmpd="sng" algn="ctr">
                      <a:solidFill>
                        <a:srgbClr val="D6E6F5"/>
                      </a:solidFill>
                      <a:prstDash val="solid"/>
                      <a:round/>
                      <a:headEnd type="none" w="med" len="med"/>
                      <a:tailEnd type="none" w="med" len="med"/>
                    </a:lnL>
                    <a:lnR w="9525" cap="flat" cmpd="sng" algn="ctr">
                      <a:solidFill>
                        <a:srgbClr val="D6E6F5"/>
                      </a:solidFill>
                      <a:prstDash val="solid"/>
                      <a:round/>
                      <a:headEnd type="none" w="med" len="med"/>
                      <a:tailEnd type="none" w="med" len="med"/>
                    </a:lnR>
                    <a:lnT w="9525" cap="flat" cmpd="sng" algn="ctr">
                      <a:solidFill>
                        <a:srgbClr val="D6E6F5"/>
                      </a:solidFill>
                      <a:prstDash val="solid"/>
                      <a:round/>
                      <a:headEnd type="none" w="med" len="med"/>
                      <a:tailEnd type="none" w="med" len="med"/>
                    </a:lnT>
                    <a:lnB w="9525" cap="flat" cmpd="sng" algn="ctr">
                      <a:solidFill>
                        <a:srgbClr val="D6E6F5"/>
                      </a:solidFill>
                      <a:prstDash val="solid"/>
                      <a:round/>
                      <a:headEnd type="none" w="med" len="med"/>
                      <a:tailEnd type="none" w="med" len="med"/>
                    </a:lnB>
                    <a:solidFill>
                      <a:srgbClr val="F1F7FD"/>
                    </a:solidFill>
                  </a:tcPr>
                </a:tc>
              </a:tr>
              <a:tr h="548640">
                <a:tc>
                  <a:txBody>
                    <a:bodyPr/>
                    <a:lstStyle/>
                    <a:p>
                      <a:pPr indent="0" marL="0">
                        <a:buNone/>
                      </a:pPr>
                      <a:r>
                        <a:rPr lang="en-US" sz="1250" b="1" dirty="0">
                          <a:solidFill>
                            <a:srgbClr val="1F6FC5"/>
                          </a:solidFill>
                          <a:latin typeface="Calibri" pitchFamily="34" charset="0"/>
                          <a:ea typeface="Calibri" pitchFamily="34" charset="-122"/>
                          <a:cs typeface="Calibri" pitchFamily="34" charset="-120"/>
                        </a:rPr>
                        <a:t>T6</a:t>
                      </a:r>
                      <a:endParaRPr lang="en-US" sz="1250" dirty="0">
                        <a:latin typeface="Calibri" charset="0"/>
                        <a:ea typeface="Calibri" charset="0"/>
                        <a:cs typeface="Calibri" charset="0"/>
                      </a:endParaRPr>
                    </a:p>
                  </a:txBody>
                  <a:tcPr marL="91440" marR="91440" marT="36576" marB="36576" anchor="ctr">
                    <a:lnL w="9525" cap="flat" cmpd="sng" algn="ctr">
                      <a:solidFill>
                        <a:srgbClr val="D6E6F5"/>
                      </a:solidFill>
                      <a:prstDash val="solid"/>
                      <a:round/>
                      <a:headEnd type="none" w="med" len="med"/>
                      <a:tailEnd type="none" w="med" len="med"/>
                    </a:lnL>
                    <a:lnR w="9525" cap="flat" cmpd="sng" algn="ctr">
                      <a:solidFill>
                        <a:srgbClr val="D6E6F5"/>
                      </a:solidFill>
                      <a:prstDash val="solid"/>
                      <a:round/>
                      <a:headEnd type="none" w="med" len="med"/>
                      <a:tailEnd type="none" w="med" len="med"/>
                    </a:lnR>
                    <a:lnT w="9525" cap="flat" cmpd="sng" algn="ctr">
                      <a:solidFill>
                        <a:srgbClr val="D6E6F5"/>
                      </a:solidFill>
                      <a:prstDash val="solid"/>
                      <a:round/>
                      <a:headEnd type="none" w="med" len="med"/>
                      <a:tailEnd type="none" w="med" len="med"/>
                    </a:lnT>
                    <a:lnB w="9525" cap="flat" cmpd="sng" algn="ctr">
                      <a:solidFill>
                        <a:srgbClr val="D6E6F5"/>
                      </a:solidFill>
                      <a:prstDash val="solid"/>
                      <a:round/>
                      <a:headEnd type="none" w="med" len="med"/>
                      <a:tailEnd type="none" w="med" len="med"/>
                    </a:lnB>
                    <a:solidFill>
                      <a:srgbClr val="FFFFFF"/>
                    </a:solidFill>
                  </a:tcPr>
                </a:tc>
                <a:tc>
                  <a:txBody>
                    <a:bodyPr/>
                    <a:lstStyle/>
                    <a:p>
                      <a:pPr indent="0" marL="0">
                        <a:buNone/>
                      </a:pPr>
                      <a:r>
                        <a:rPr lang="en-US" sz="1250" dirty="0">
                          <a:solidFill>
                            <a:srgbClr val="12395E"/>
                          </a:solidFill>
                          <a:latin typeface="Calibri" pitchFamily="34" charset="0"/>
                          <a:ea typeface="Calibri" pitchFamily="34" charset="-122"/>
                          <a:cs typeface="Calibri" pitchFamily="34" charset="-120"/>
                        </a:rPr>
                        <a:t>End-of-day billing</a:t>
                      </a:r>
                      <a:endParaRPr lang="en-US" sz="1250" dirty="0">
                        <a:latin typeface="Calibri" charset="0"/>
                        <a:ea typeface="Calibri" charset="0"/>
                        <a:cs typeface="Calibri" charset="0"/>
                      </a:endParaRPr>
                    </a:p>
                  </a:txBody>
                  <a:tcPr marL="91440" marR="91440" marT="36576" marB="36576" anchor="ctr">
                    <a:lnL w="9525" cap="flat" cmpd="sng" algn="ctr">
                      <a:solidFill>
                        <a:srgbClr val="D6E6F5"/>
                      </a:solidFill>
                      <a:prstDash val="solid"/>
                      <a:round/>
                      <a:headEnd type="none" w="med" len="med"/>
                      <a:tailEnd type="none" w="med" len="med"/>
                    </a:lnL>
                    <a:lnR w="9525" cap="flat" cmpd="sng" algn="ctr">
                      <a:solidFill>
                        <a:srgbClr val="D6E6F5"/>
                      </a:solidFill>
                      <a:prstDash val="solid"/>
                      <a:round/>
                      <a:headEnd type="none" w="med" len="med"/>
                      <a:tailEnd type="none" w="med" len="med"/>
                    </a:lnR>
                    <a:lnT w="9525" cap="flat" cmpd="sng" algn="ctr">
                      <a:solidFill>
                        <a:srgbClr val="D6E6F5"/>
                      </a:solidFill>
                      <a:prstDash val="solid"/>
                      <a:round/>
                      <a:headEnd type="none" w="med" len="med"/>
                      <a:tailEnd type="none" w="med" len="med"/>
                    </a:lnT>
                    <a:lnB w="9525" cap="flat" cmpd="sng" algn="ctr">
                      <a:solidFill>
                        <a:srgbClr val="D6E6F5"/>
                      </a:solidFill>
                      <a:prstDash val="solid"/>
                      <a:round/>
                      <a:headEnd type="none" w="med" len="med"/>
                      <a:tailEnd type="none" w="med" len="med"/>
                    </a:lnB>
                    <a:solidFill>
                      <a:srgbClr val="FFFFFF"/>
                    </a:solidFill>
                  </a:tcPr>
                </a:tc>
                <a:tc>
                  <a:txBody>
                    <a:bodyPr/>
                    <a:lstStyle/>
                    <a:p>
                      <a:pPr indent="0" marL="0">
                        <a:buNone/>
                      </a:pPr>
                      <a:r>
                        <a:rPr lang="en-US" sz="1250" dirty="0">
                          <a:solidFill>
                            <a:srgbClr val="12395E"/>
                          </a:solidFill>
                          <a:latin typeface="Calibri" pitchFamily="34" charset="0"/>
                          <a:ea typeface="Calibri" pitchFamily="34" charset="-122"/>
                          <a:cs typeface="Calibri" pitchFamily="34" charset="-120"/>
                        </a:rPr>
                        <a:t>Admin › Billing</a:t>
                      </a:r>
                      <a:endParaRPr lang="en-US" sz="1250" dirty="0">
                        <a:latin typeface="Calibri" charset="0"/>
                        <a:ea typeface="Calibri" charset="0"/>
                        <a:cs typeface="Calibri" charset="0"/>
                      </a:endParaRPr>
                    </a:p>
                  </a:txBody>
                  <a:tcPr marL="91440" marR="91440" marT="36576" marB="36576" anchor="ctr">
                    <a:lnL w="9525" cap="flat" cmpd="sng" algn="ctr">
                      <a:solidFill>
                        <a:srgbClr val="D6E6F5"/>
                      </a:solidFill>
                      <a:prstDash val="solid"/>
                      <a:round/>
                      <a:headEnd type="none" w="med" len="med"/>
                      <a:tailEnd type="none" w="med" len="med"/>
                    </a:lnL>
                    <a:lnR w="9525" cap="flat" cmpd="sng" algn="ctr">
                      <a:solidFill>
                        <a:srgbClr val="D6E6F5"/>
                      </a:solidFill>
                      <a:prstDash val="solid"/>
                      <a:round/>
                      <a:headEnd type="none" w="med" len="med"/>
                      <a:tailEnd type="none" w="med" len="med"/>
                    </a:lnR>
                    <a:lnT w="9525" cap="flat" cmpd="sng" algn="ctr">
                      <a:solidFill>
                        <a:srgbClr val="D6E6F5"/>
                      </a:solidFill>
                      <a:prstDash val="solid"/>
                      <a:round/>
                      <a:headEnd type="none" w="med" len="med"/>
                      <a:tailEnd type="none" w="med" len="med"/>
                    </a:lnT>
                    <a:lnB w="9525" cap="flat" cmpd="sng" algn="ctr">
                      <a:solidFill>
                        <a:srgbClr val="D6E6F5"/>
                      </a:solidFill>
                      <a:prstDash val="solid"/>
                      <a:round/>
                      <a:headEnd type="none" w="med" len="med"/>
                      <a:tailEnd type="none" w="med" len="med"/>
                    </a:lnB>
                    <a:solidFill>
                      <a:srgbClr val="FFFFFF"/>
                    </a:solidFill>
                  </a:tcPr>
                </a:tc>
                <a:tc>
                  <a:txBody>
                    <a:bodyPr/>
                    <a:lstStyle/>
                    <a:p>
                      <a:pPr indent="0" marL="0">
                        <a:buNone/>
                      </a:pPr>
                      <a:r>
                        <a:rPr lang="en-US" sz="1250" dirty="0">
                          <a:solidFill>
                            <a:srgbClr val="12395E"/>
                          </a:solidFill>
                          <a:latin typeface="Calibri" pitchFamily="34" charset="0"/>
                          <a:ea typeface="Calibri" pitchFamily="34" charset="-122"/>
                          <a:cs typeface="Calibri" pitchFamily="34" charset="-120"/>
                        </a:rPr>
                        <a:t>end_of_day_billing: explicit cursor c_unbilled → generate_bill</a:t>
                      </a:r>
                      <a:endParaRPr lang="en-US" sz="1250" dirty="0">
                        <a:latin typeface="Calibri" charset="0"/>
                        <a:ea typeface="Calibri" charset="0"/>
                        <a:cs typeface="Calibri" charset="0"/>
                      </a:endParaRPr>
                    </a:p>
                  </a:txBody>
                  <a:tcPr marL="91440" marR="91440" marT="36576" marB="36576" anchor="ctr">
                    <a:lnL w="9525" cap="flat" cmpd="sng" algn="ctr">
                      <a:solidFill>
                        <a:srgbClr val="D6E6F5"/>
                      </a:solidFill>
                      <a:prstDash val="solid"/>
                      <a:round/>
                      <a:headEnd type="none" w="med" len="med"/>
                      <a:tailEnd type="none" w="med" len="med"/>
                    </a:lnL>
                    <a:lnR w="9525" cap="flat" cmpd="sng" algn="ctr">
                      <a:solidFill>
                        <a:srgbClr val="D6E6F5"/>
                      </a:solidFill>
                      <a:prstDash val="solid"/>
                      <a:round/>
                      <a:headEnd type="none" w="med" len="med"/>
                      <a:tailEnd type="none" w="med" len="med"/>
                    </a:lnR>
                    <a:lnT w="9525" cap="flat" cmpd="sng" algn="ctr">
                      <a:solidFill>
                        <a:srgbClr val="D6E6F5"/>
                      </a:solidFill>
                      <a:prstDash val="solid"/>
                      <a:round/>
                      <a:headEnd type="none" w="med" len="med"/>
                      <a:tailEnd type="none" w="med" len="med"/>
                    </a:lnT>
                    <a:lnB w="9525" cap="flat" cmpd="sng" algn="ctr">
                      <a:solidFill>
                        <a:srgbClr val="D6E6F5"/>
                      </a:solidFill>
                      <a:prstDash val="solid"/>
                      <a:round/>
                      <a:headEnd type="none" w="med" len="med"/>
                      <a:tailEnd type="none" w="med" len="med"/>
                    </a:lnB>
                    <a:solidFill>
                      <a:srgbClr val="FFFFFF"/>
                    </a:solidFill>
                  </a:tcPr>
                </a:tc>
              </a:tr>
              <a:tr h="548640">
                <a:tc>
                  <a:txBody>
                    <a:bodyPr/>
                    <a:lstStyle/>
                    <a:p>
                      <a:pPr indent="0" marL="0">
                        <a:buNone/>
                      </a:pPr>
                      <a:r>
                        <a:rPr lang="en-US" sz="1250" b="1" dirty="0">
                          <a:solidFill>
                            <a:srgbClr val="1F6FC5"/>
                          </a:solidFill>
                          <a:latin typeface="Calibri" pitchFamily="34" charset="0"/>
                          <a:ea typeface="Calibri" pitchFamily="34" charset="-122"/>
                          <a:cs typeface="Calibri" pitchFamily="34" charset="-120"/>
                        </a:rPr>
                        <a:t>T7</a:t>
                      </a:r>
                      <a:endParaRPr lang="en-US" sz="1250" dirty="0">
                        <a:latin typeface="Calibri" charset="0"/>
                        <a:ea typeface="Calibri" charset="0"/>
                        <a:cs typeface="Calibri" charset="0"/>
                      </a:endParaRPr>
                    </a:p>
                  </a:txBody>
                  <a:tcPr marL="91440" marR="91440" marT="36576" marB="36576" anchor="ctr">
                    <a:lnL w="9525" cap="flat" cmpd="sng" algn="ctr">
                      <a:solidFill>
                        <a:srgbClr val="D6E6F5"/>
                      </a:solidFill>
                      <a:prstDash val="solid"/>
                      <a:round/>
                      <a:headEnd type="none" w="med" len="med"/>
                      <a:tailEnd type="none" w="med" len="med"/>
                    </a:lnL>
                    <a:lnR w="9525" cap="flat" cmpd="sng" algn="ctr">
                      <a:solidFill>
                        <a:srgbClr val="D6E6F5"/>
                      </a:solidFill>
                      <a:prstDash val="solid"/>
                      <a:round/>
                      <a:headEnd type="none" w="med" len="med"/>
                      <a:tailEnd type="none" w="med" len="med"/>
                    </a:lnR>
                    <a:lnT w="9525" cap="flat" cmpd="sng" algn="ctr">
                      <a:solidFill>
                        <a:srgbClr val="D6E6F5"/>
                      </a:solidFill>
                      <a:prstDash val="solid"/>
                      <a:round/>
                      <a:headEnd type="none" w="med" len="med"/>
                      <a:tailEnd type="none" w="med" len="med"/>
                    </a:lnT>
                    <a:lnB w="9525" cap="flat" cmpd="sng" algn="ctr">
                      <a:solidFill>
                        <a:srgbClr val="D6E6F5"/>
                      </a:solidFill>
                      <a:prstDash val="solid"/>
                      <a:round/>
                      <a:headEnd type="none" w="med" len="med"/>
                      <a:tailEnd type="none" w="med" len="med"/>
                    </a:lnB>
                    <a:solidFill>
                      <a:srgbClr val="F1F7FD"/>
                    </a:solidFill>
                  </a:tcPr>
                </a:tc>
                <a:tc>
                  <a:txBody>
                    <a:bodyPr/>
                    <a:lstStyle/>
                    <a:p>
                      <a:pPr indent="0" marL="0">
                        <a:buNone/>
                      </a:pPr>
                      <a:r>
                        <a:rPr lang="en-US" sz="1250" dirty="0">
                          <a:solidFill>
                            <a:srgbClr val="12395E"/>
                          </a:solidFill>
                          <a:latin typeface="Calibri" pitchFamily="34" charset="0"/>
                          <a:ea typeface="Calibri" pitchFamily="34" charset="-122"/>
                          <a:cs typeface="Calibri" pitchFamily="34" charset="-120"/>
                        </a:rPr>
                        <a:t>Cancel visit, delete rejected sample</a:t>
                      </a:r>
                      <a:endParaRPr lang="en-US" sz="1250" dirty="0">
                        <a:latin typeface="Calibri" charset="0"/>
                        <a:ea typeface="Calibri" charset="0"/>
                        <a:cs typeface="Calibri" charset="0"/>
                      </a:endParaRPr>
                    </a:p>
                  </a:txBody>
                  <a:tcPr marL="91440" marR="91440" marT="36576" marB="36576" anchor="ctr">
                    <a:lnL w="9525" cap="flat" cmpd="sng" algn="ctr">
                      <a:solidFill>
                        <a:srgbClr val="D6E6F5"/>
                      </a:solidFill>
                      <a:prstDash val="solid"/>
                      <a:round/>
                      <a:headEnd type="none" w="med" len="med"/>
                      <a:tailEnd type="none" w="med" len="med"/>
                    </a:lnL>
                    <a:lnR w="9525" cap="flat" cmpd="sng" algn="ctr">
                      <a:solidFill>
                        <a:srgbClr val="D6E6F5"/>
                      </a:solidFill>
                      <a:prstDash val="solid"/>
                      <a:round/>
                      <a:headEnd type="none" w="med" len="med"/>
                      <a:tailEnd type="none" w="med" len="med"/>
                    </a:lnR>
                    <a:lnT w="9525" cap="flat" cmpd="sng" algn="ctr">
                      <a:solidFill>
                        <a:srgbClr val="D6E6F5"/>
                      </a:solidFill>
                      <a:prstDash val="solid"/>
                      <a:round/>
                      <a:headEnd type="none" w="med" len="med"/>
                      <a:tailEnd type="none" w="med" len="med"/>
                    </a:lnT>
                    <a:lnB w="9525" cap="flat" cmpd="sng" algn="ctr">
                      <a:solidFill>
                        <a:srgbClr val="D6E6F5"/>
                      </a:solidFill>
                      <a:prstDash val="solid"/>
                      <a:round/>
                      <a:headEnd type="none" w="med" len="med"/>
                      <a:tailEnd type="none" w="med" len="med"/>
                    </a:lnB>
                    <a:solidFill>
                      <a:srgbClr val="F1F7FD"/>
                    </a:solidFill>
                  </a:tcPr>
                </a:tc>
                <a:tc>
                  <a:txBody>
                    <a:bodyPr/>
                    <a:lstStyle/>
                    <a:p>
                      <a:pPr indent="0" marL="0">
                        <a:buNone/>
                      </a:pPr>
                      <a:r>
                        <a:rPr lang="en-US" sz="1250" dirty="0">
                          <a:solidFill>
                            <a:srgbClr val="12395E"/>
                          </a:solidFill>
                          <a:latin typeface="Calibri" pitchFamily="34" charset="0"/>
                          <a:ea typeface="Calibri" pitchFamily="34" charset="-122"/>
                          <a:cs typeface="Calibri" pitchFamily="34" charset="-120"/>
                        </a:rPr>
                        <a:t>Patient › My visits; Admin › Lab desk</a:t>
                      </a:r>
                      <a:endParaRPr lang="en-US" sz="1250" dirty="0">
                        <a:latin typeface="Calibri" charset="0"/>
                        <a:ea typeface="Calibri" charset="0"/>
                        <a:cs typeface="Calibri" charset="0"/>
                      </a:endParaRPr>
                    </a:p>
                  </a:txBody>
                  <a:tcPr marL="91440" marR="91440" marT="36576" marB="36576" anchor="ctr">
                    <a:lnL w="9525" cap="flat" cmpd="sng" algn="ctr">
                      <a:solidFill>
                        <a:srgbClr val="D6E6F5"/>
                      </a:solidFill>
                      <a:prstDash val="solid"/>
                      <a:round/>
                      <a:headEnd type="none" w="med" len="med"/>
                      <a:tailEnd type="none" w="med" len="med"/>
                    </a:lnL>
                    <a:lnR w="9525" cap="flat" cmpd="sng" algn="ctr">
                      <a:solidFill>
                        <a:srgbClr val="D6E6F5"/>
                      </a:solidFill>
                      <a:prstDash val="solid"/>
                      <a:round/>
                      <a:headEnd type="none" w="med" len="med"/>
                      <a:tailEnd type="none" w="med" len="med"/>
                    </a:lnR>
                    <a:lnT w="9525" cap="flat" cmpd="sng" algn="ctr">
                      <a:solidFill>
                        <a:srgbClr val="D6E6F5"/>
                      </a:solidFill>
                      <a:prstDash val="solid"/>
                      <a:round/>
                      <a:headEnd type="none" w="med" len="med"/>
                      <a:tailEnd type="none" w="med" len="med"/>
                    </a:lnT>
                    <a:lnB w="9525" cap="flat" cmpd="sng" algn="ctr">
                      <a:solidFill>
                        <a:srgbClr val="D6E6F5"/>
                      </a:solidFill>
                      <a:prstDash val="solid"/>
                      <a:round/>
                      <a:headEnd type="none" w="med" len="med"/>
                      <a:tailEnd type="none" w="med" len="med"/>
                    </a:lnB>
                    <a:solidFill>
                      <a:srgbClr val="F1F7FD"/>
                    </a:solidFill>
                  </a:tcPr>
                </a:tc>
                <a:tc>
                  <a:txBody>
                    <a:bodyPr/>
                    <a:lstStyle/>
                    <a:p>
                      <a:pPr indent="0" marL="0">
                        <a:buNone/>
                      </a:pPr>
                      <a:r>
                        <a:rPr lang="en-US" sz="1250" dirty="0">
                          <a:solidFill>
                            <a:srgbClr val="12395E"/>
                          </a:solidFill>
                          <a:latin typeface="Calibri" pitchFamily="34" charset="0"/>
                          <a:ea typeface="Calibri" pitchFamily="34" charset="-122"/>
                          <a:cs typeface="Calibri" pitchFamily="34" charset="-120"/>
                        </a:rPr>
                        <a:t>UPDATE APPOINTMENT; DELETE SAMPLE → ON DELETE CASCADE</a:t>
                      </a:r>
                      <a:endParaRPr lang="en-US" sz="1250" dirty="0">
                        <a:latin typeface="Calibri" charset="0"/>
                        <a:ea typeface="Calibri" charset="0"/>
                        <a:cs typeface="Calibri" charset="0"/>
                      </a:endParaRPr>
                    </a:p>
                  </a:txBody>
                  <a:tcPr marL="91440" marR="91440" marT="36576" marB="36576" anchor="ctr">
                    <a:lnL w="9525" cap="flat" cmpd="sng" algn="ctr">
                      <a:solidFill>
                        <a:srgbClr val="D6E6F5"/>
                      </a:solidFill>
                      <a:prstDash val="solid"/>
                      <a:round/>
                      <a:headEnd type="none" w="med" len="med"/>
                      <a:tailEnd type="none" w="med" len="med"/>
                    </a:lnL>
                    <a:lnR w="9525" cap="flat" cmpd="sng" algn="ctr">
                      <a:solidFill>
                        <a:srgbClr val="D6E6F5"/>
                      </a:solidFill>
                      <a:prstDash val="solid"/>
                      <a:round/>
                      <a:headEnd type="none" w="med" len="med"/>
                      <a:tailEnd type="none" w="med" len="med"/>
                    </a:lnR>
                    <a:lnT w="9525" cap="flat" cmpd="sng" algn="ctr">
                      <a:solidFill>
                        <a:srgbClr val="D6E6F5"/>
                      </a:solidFill>
                      <a:prstDash val="solid"/>
                      <a:round/>
                      <a:headEnd type="none" w="med" len="med"/>
                      <a:tailEnd type="none" w="med" len="med"/>
                    </a:lnT>
                    <a:lnB w="9525" cap="flat" cmpd="sng" algn="ctr">
                      <a:solidFill>
                        <a:srgbClr val="D6E6F5"/>
                      </a:solidFill>
                      <a:prstDash val="solid"/>
                      <a:round/>
                      <a:headEnd type="none" w="med" len="med"/>
                      <a:tailEnd type="none" w="med" len="med"/>
                    </a:lnB>
                    <a:solidFill>
                      <a:srgbClr val="F1F7FD"/>
                    </a:solidFill>
                  </a:tcPr>
                </a:tc>
              </a:tr>
            </a:tbl>
          </a:graphicData>
        </a:graphic>
      </p:graphicFrame>
      <p:sp>
        <p:nvSpPr>
          <p:cNvPr id="4" name="Text 1"/>
          <p:cNvSpPr txBox="1"/>
          <p:nvPr/>
        </p:nvSpPr>
        <p:spPr>
          <a:xfrm>
            <a:off x="548640" y="5897880"/>
            <a:ext cx="11064240" cy="365760"/>
          </a:xfrm>
          <a:prstGeom prst="rect">
            <a:avLst/>
          </a:prstGeom>
          <a:noFill/>
          <a:ln/>
        </p:spPr>
        <p:txBody>
          <a:bodyPr wrap="square" lIns="0" tIns="0" rIns="0" bIns="0" rtlCol="0" anchor="t"/>
          <a:lstStyle/>
          <a:p>
            <a:pPr indent="0" marL="0">
              <a:buNone/>
            </a:pPr>
            <a:r>
              <a:rPr lang="en-US" sz="1200" i="1" dirty="0">
                <a:solidFill>
                  <a:schemeClr val="accent5"/>
                </a:solidFill>
              </a:rPr>
              <a:t>Review III asks for at least 5 transactions; T1–T7 together cover INSERT, UPDATE, DELETE, procedures, functions, a cursor and all three triggers.</a:t>
            </a:r>
            <a:endParaRPr lang="en-US" sz="12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lIns="0" tIns="0" rIns="0" bIns="0" rtlCol="0" anchor="ctr"/>
          <a:lstStyle/>
          <a:p>
            <a:pPr algn="l" indent="0" marL="0">
              <a:buNone/>
            </a:pPr>
            <a:r>
              <a:rPr lang="en-US" sz="3200" b="1" dirty="0">
                <a:solidFill>
                  <a:schemeClr val="tx1"/>
                </a:solidFill>
              </a:rPr>
              <a:t>PL/SQL: where each rule is enforced</a:t>
            </a:r>
            <a:endParaRPr lang="en-US" sz="3200" dirty="0"/>
          </a:p>
        </p:txBody>
      </p:sp>
      <p:sp>
        <p:nvSpPr>
          <p:cNvPr id="3" name="card"/>
          <p:cNvSpPr/>
          <p:nvPr/>
        </p:nvSpPr>
        <p:spPr>
          <a:xfrm>
            <a:off x="548640" y="1371600"/>
            <a:ext cx="3474720" cy="4754880"/>
          </a:xfrm>
          <a:prstGeom prst="roundRect">
            <a:avLst>
              <a:gd name="adj" fmla="val 2632"/>
            </a:avLst>
          </a:prstGeom>
          <a:solidFill>
            <a:schemeClr val="bg1"/>
          </a:solidFill>
          <a:ln w="12700">
            <a:solidFill>
              <a:schemeClr val="accent6"/>
            </a:solidFill>
            <a:prstDash val="solid"/>
          </a:ln>
        </p:spPr>
      </p:sp>
      <p:pic>
        <p:nvPicPr>
          <p:cNvPr id="4" name="group icon" descr="preencoded.png">    </p:cNvPr>
          <p:cNvPicPr>
            <a:picLocks noChangeAspect="1"/>
          </p:cNvPicPr>
          <p:nvPr/>
        </p:nvPicPr>
        <p:blipFill>
          <a:blip r:embed="rId1"/>
          <a:stretch>
            <a:fillRect/>
          </a:stretch>
        </p:blipFill>
        <p:spPr>
          <a:xfrm>
            <a:off x="822960" y="1645920"/>
            <a:ext cx="457200" cy="457200"/>
          </a:xfrm>
          <a:prstGeom prst="rect">
            <a:avLst/>
          </a:prstGeom>
        </p:spPr>
      </p:pic>
      <p:sp>
        <p:nvSpPr>
          <p:cNvPr id="5" name="Text 2"/>
          <p:cNvSpPr txBox="1"/>
          <p:nvPr/>
        </p:nvSpPr>
        <p:spPr>
          <a:xfrm>
            <a:off x="1417320" y="1645920"/>
            <a:ext cx="2377440" cy="457200"/>
          </a:xfrm>
          <a:prstGeom prst="rect">
            <a:avLst/>
          </a:prstGeom>
          <a:noFill/>
          <a:ln/>
        </p:spPr>
        <p:txBody>
          <a:bodyPr wrap="square" lIns="0" tIns="0" rIns="0" bIns="0" rtlCol="0" anchor="ctr"/>
          <a:lstStyle/>
          <a:p>
            <a:pPr indent="0" marL="0">
              <a:buNone/>
            </a:pPr>
            <a:r>
              <a:rPr lang="en-US" sz="2000" b="1" dirty="0">
                <a:solidFill>
                  <a:schemeClr val="tx1"/>
                </a:solidFill>
              </a:rPr>
              <a:t>Procedures</a:t>
            </a:r>
            <a:endParaRPr lang="en-US" sz="2000" dirty="0"/>
          </a:p>
        </p:txBody>
      </p:sp>
      <p:sp>
        <p:nvSpPr>
          <p:cNvPr id="6" name="Text 3"/>
          <p:cNvSpPr txBox="1"/>
          <p:nvPr/>
        </p:nvSpPr>
        <p:spPr>
          <a:xfrm>
            <a:off x="822960" y="2377440"/>
            <a:ext cx="3017520" cy="292608"/>
          </a:xfrm>
          <a:prstGeom prst="rect">
            <a:avLst/>
          </a:prstGeom>
          <a:noFill/>
          <a:ln/>
        </p:spPr>
        <p:txBody>
          <a:bodyPr wrap="square" lIns="0" tIns="0" rIns="0" bIns="0" rtlCol="0" anchor="t"/>
          <a:lstStyle/>
          <a:p>
            <a:pPr indent="0" marL="0">
              <a:buNone/>
            </a:pPr>
            <a:r>
              <a:rPr lang="en-US" sz="1350" b="1" dirty="0">
                <a:solidFill>
                  <a:schemeClr val="accent1"/>
                </a:solidFill>
                <a:latin typeface="Courier New" pitchFamily="34" charset="0"/>
                <a:ea typeface="Courier New" pitchFamily="34" charset="-122"/>
                <a:cs typeface="Courier New" pitchFamily="34" charset="-120"/>
              </a:rPr>
              <a:t>book_appointment</a:t>
            </a:r>
            <a:endParaRPr lang="en-US" sz="1350" dirty="0"/>
          </a:p>
        </p:txBody>
      </p:sp>
      <p:sp>
        <p:nvSpPr>
          <p:cNvPr id="7" name="Text 4"/>
          <p:cNvSpPr txBox="1"/>
          <p:nvPr/>
        </p:nvSpPr>
        <p:spPr>
          <a:xfrm>
            <a:off x="822960" y="2688336"/>
            <a:ext cx="3017520" cy="502920"/>
          </a:xfrm>
          <a:prstGeom prst="rect">
            <a:avLst/>
          </a:prstGeom>
          <a:noFill/>
          <a:ln/>
        </p:spPr>
        <p:txBody>
          <a:bodyPr wrap="square" lIns="0" tIns="0" rIns="0" bIns="0" rtlCol="0" anchor="t"/>
          <a:lstStyle/>
          <a:p>
            <a:pPr indent="0" marL="0">
              <a:buNone/>
            </a:pPr>
            <a:r>
              <a:rPr lang="en-US" sz="1300" dirty="0">
                <a:solidFill>
                  <a:schemeClr val="accent5"/>
                </a:solidFill>
              </a:rPr>
              <a:t>ACTIVE doctor, room in the day, not in the past</a:t>
            </a:r>
            <a:endParaRPr lang="en-US" sz="1300" dirty="0"/>
          </a:p>
        </p:txBody>
      </p:sp>
      <p:sp>
        <p:nvSpPr>
          <p:cNvPr id="8" name="Text 5"/>
          <p:cNvSpPr txBox="1"/>
          <p:nvPr/>
        </p:nvSpPr>
        <p:spPr>
          <a:xfrm>
            <a:off x="822960" y="3291840"/>
            <a:ext cx="3017520" cy="292608"/>
          </a:xfrm>
          <a:prstGeom prst="rect">
            <a:avLst/>
          </a:prstGeom>
          <a:noFill/>
          <a:ln/>
        </p:spPr>
        <p:txBody>
          <a:bodyPr wrap="square" lIns="0" tIns="0" rIns="0" bIns="0" rtlCol="0" anchor="t"/>
          <a:lstStyle/>
          <a:p>
            <a:pPr indent="0" marL="0">
              <a:buNone/>
            </a:pPr>
            <a:r>
              <a:rPr lang="en-US" sz="1350" b="1" dirty="0">
                <a:solidFill>
                  <a:schemeClr val="accent1"/>
                </a:solidFill>
                <a:latin typeface="Courier New" pitchFamily="34" charset="0"/>
                <a:ea typeface="Courier New" pitchFamily="34" charset="-122"/>
                <a:cs typeface="Courier New" pitchFamily="34" charset="-120"/>
              </a:rPr>
              <a:t>generate_bill</a:t>
            </a:r>
            <a:endParaRPr lang="en-US" sz="1350" dirty="0"/>
          </a:p>
        </p:txBody>
      </p:sp>
      <p:sp>
        <p:nvSpPr>
          <p:cNvPr id="9" name="Text 6"/>
          <p:cNvSpPr txBox="1"/>
          <p:nvPr/>
        </p:nvSpPr>
        <p:spPr>
          <a:xfrm>
            <a:off x="822960" y="3602736"/>
            <a:ext cx="3017520" cy="502920"/>
          </a:xfrm>
          <a:prstGeom prst="rect">
            <a:avLst/>
          </a:prstGeom>
          <a:noFill/>
          <a:ln/>
        </p:spPr>
        <p:txBody>
          <a:bodyPr wrap="square" lIns="0" tIns="0" rIns="0" bIns="0" rtlCol="0" anchor="t"/>
          <a:lstStyle/>
          <a:p>
            <a:pPr indent="0" marL="0">
              <a:buNone/>
            </a:pPr>
            <a:r>
              <a:rPr lang="en-US" sz="1300" dirty="0">
                <a:solidFill>
                  <a:schemeClr val="accent5"/>
                </a:solidFill>
              </a:rPr>
              <a:t>fee + non-REJECTED tests, snapshot into BILL</a:t>
            </a:r>
            <a:endParaRPr lang="en-US" sz="1300" dirty="0"/>
          </a:p>
        </p:txBody>
      </p:sp>
      <p:sp>
        <p:nvSpPr>
          <p:cNvPr id="10" name="Text 7"/>
          <p:cNvSpPr txBox="1"/>
          <p:nvPr/>
        </p:nvSpPr>
        <p:spPr>
          <a:xfrm>
            <a:off x="822960" y="4206240"/>
            <a:ext cx="3017520" cy="292608"/>
          </a:xfrm>
          <a:prstGeom prst="rect">
            <a:avLst/>
          </a:prstGeom>
          <a:noFill/>
          <a:ln/>
        </p:spPr>
        <p:txBody>
          <a:bodyPr wrap="square" lIns="0" tIns="0" rIns="0" bIns="0" rtlCol="0" anchor="t"/>
          <a:lstStyle/>
          <a:p>
            <a:pPr indent="0" marL="0">
              <a:buNone/>
            </a:pPr>
            <a:r>
              <a:rPr lang="en-US" sz="1350" b="1" dirty="0">
                <a:solidFill>
                  <a:schemeClr val="accent1"/>
                </a:solidFill>
                <a:latin typeface="Courier New" pitchFamily="34" charset="0"/>
                <a:ea typeface="Courier New" pitchFamily="34" charset="-122"/>
                <a:cs typeface="Courier New" pitchFamily="34" charset="-120"/>
              </a:rPr>
              <a:t>record_payment</a:t>
            </a:r>
            <a:endParaRPr lang="en-US" sz="1350" dirty="0"/>
          </a:p>
        </p:txBody>
      </p:sp>
      <p:sp>
        <p:nvSpPr>
          <p:cNvPr id="11" name="Text 8"/>
          <p:cNvSpPr txBox="1"/>
          <p:nvPr/>
        </p:nvSpPr>
        <p:spPr>
          <a:xfrm>
            <a:off x="822960" y="4517136"/>
            <a:ext cx="3017520" cy="502920"/>
          </a:xfrm>
          <a:prstGeom prst="rect">
            <a:avLst/>
          </a:prstGeom>
          <a:noFill/>
          <a:ln/>
        </p:spPr>
        <p:txBody>
          <a:bodyPr wrap="square" lIns="0" tIns="0" rIns="0" bIns="0" rtlCol="0" anchor="t"/>
          <a:lstStyle/>
          <a:p>
            <a:pPr indent="0" marL="0">
              <a:buNone/>
            </a:pPr>
            <a:r>
              <a:rPr lang="en-US" sz="1300" dirty="0">
                <a:solidFill>
                  <a:schemeClr val="accent5"/>
                </a:solidFill>
              </a:rPr>
              <a:t>locks the bill, rejects overpayment</a:t>
            </a:r>
            <a:endParaRPr lang="en-US" sz="1300" dirty="0"/>
          </a:p>
        </p:txBody>
      </p:sp>
      <p:sp>
        <p:nvSpPr>
          <p:cNvPr id="12" name="Text 9"/>
          <p:cNvSpPr txBox="1"/>
          <p:nvPr/>
        </p:nvSpPr>
        <p:spPr>
          <a:xfrm>
            <a:off x="822960" y="5120640"/>
            <a:ext cx="3017520" cy="292608"/>
          </a:xfrm>
          <a:prstGeom prst="rect">
            <a:avLst/>
          </a:prstGeom>
          <a:noFill/>
          <a:ln/>
        </p:spPr>
        <p:txBody>
          <a:bodyPr wrap="square" lIns="0" tIns="0" rIns="0" bIns="0" rtlCol="0" anchor="t"/>
          <a:lstStyle/>
          <a:p>
            <a:pPr indent="0" marL="0">
              <a:buNone/>
            </a:pPr>
            <a:r>
              <a:rPr lang="en-US" sz="1350" b="1" dirty="0">
                <a:solidFill>
                  <a:schemeClr val="accent1"/>
                </a:solidFill>
                <a:latin typeface="Courier New" pitchFamily="34" charset="0"/>
                <a:ea typeface="Courier New" pitchFamily="34" charset="-122"/>
                <a:cs typeface="Courier New" pitchFamily="34" charset="-120"/>
              </a:rPr>
              <a:t>end_of_day_billing</a:t>
            </a:r>
            <a:endParaRPr lang="en-US" sz="1350" dirty="0"/>
          </a:p>
        </p:txBody>
      </p:sp>
      <p:sp>
        <p:nvSpPr>
          <p:cNvPr id="13" name="Text 10"/>
          <p:cNvSpPr txBox="1"/>
          <p:nvPr/>
        </p:nvSpPr>
        <p:spPr>
          <a:xfrm>
            <a:off x="822960" y="5431536"/>
            <a:ext cx="3017520" cy="502920"/>
          </a:xfrm>
          <a:prstGeom prst="rect">
            <a:avLst/>
          </a:prstGeom>
          <a:noFill/>
          <a:ln/>
        </p:spPr>
        <p:txBody>
          <a:bodyPr wrap="square" lIns="0" tIns="0" rIns="0" bIns="0" rtlCol="0" anchor="t"/>
          <a:lstStyle/>
          <a:p>
            <a:pPr indent="0" marL="0">
              <a:buNone/>
            </a:pPr>
            <a:r>
              <a:rPr lang="en-US" sz="1300" dirty="0">
                <a:solidFill>
                  <a:schemeClr val="accent5"/>
                </a:solidFill>
              </a:rPr>
              <a:t>explicit cursor, one COMMIT</a:t>
            </a:r>
            <a:endParaRPr lang="en-US" sz="1300" dirty="0"/>
          </a:p>
        </p:txBody>
      </p:sp>
      <p:sp>
        <p:nvSpPr>
          <p:cNvPr id="14" name="card"/>
          <p:cNvSpPr/>
          <p:nvPr/>
        </p:nvSpPr>
        <p:spPr>
          <a:xfrm>
            <a:off x="4297680" y="1371600"/>
            <a:ext cx="3474720" cy="4754880"/>
          </a:xfrm>
          <a:prstGeom prst="roundRect">
            <a:avLst>
              <a:gd name="adj" fmla="val 2632"/>
            </a:avLst>
          </a:prstGeom>
          <a:solidFill>
            <a:schemeClr val="bg1"/>
          </a:solidFill>
          <a:ln w="12700">
            <a:solidFill>
              <a:schemeClr val="accent6"/>
            </a:solidFill>
            <a:prstDash val="solid"/>
          </a:ln>
        </p:spPr>
      </p:sp>
      <p:pic>
        <p:nvPicPr>
          <p:cNvPr id="15" name="group icon" descr="preencoded.png">    </p:cNvPr>
          <p:cNvPicPr>
            <a:picLocks noChangeAspect="1"/>
          </p:cNvPicPr>
          <p:nvPr/>
        </p:nvPicPr>
        <p:blipFill>
          <a:blip r:embed="rId2"/>
          <a:stretch>
            <a:fillRect/>
          </a:stretch>
        </p:blipFill>
        <p:spPr>
          <a:xfrm>
            <a:off x="4572000" y="1645920"/>
            <a:ext cx="457200" cy="457200"/>
          </a:xfrm>
          <a:prstGeom prst="rect">
            <a:avLst/>
          </a:prstGeom>
        </p:spPr>
      </p:pic>
      <p:sp>
        <p:nvSpPr>
          <p:cNvPr id="16" name="Text 12"/>
          <p:cNvSpPr txBox="1"/>
          <p:nvPr/>
        </p:nvSpPr>
        <p:spPr>
          <a:xfrm>
            <a:off x="5166360" y="1645920"/>
            <a:ext cx="2377440" cy="457200"/>
          </a:xfrm>
          <a:prstGeom prst="rect">
            <a:avLst/>
          </a:prstGeom>
          <a:noFill/>
          <a:ln/>
        </p:spPr>
        <p:txBody>
          <a:bodyPr wrap="square" lIns="0" tIns="0" rIns="0" bIns="0" rtlCol="0" anchor="ctr"/>
          <a:lstStyle/>
          <a:p>
            <a:pPr indent="0" marL="0">
              <a:buNone/>
            </a:pPr>
            <a:r>
              <a:rPr lang="en-US" sz="2000" b="1" dirty="0">
                <a:solidFill>
                  <a:schemeClr val="tx1"/>
                </a:solidFill>
              </a:rPr>
              <a:t>Functions</a:t>
            </a:r>
            <a:endParaRPr lang="en-US" sz="2000" dirty="0"/>
          </a:p>
        </p:txBody>
      </p:sp>
      <p:sp>
        <p:nvSpPr>
          <p:cNvPr id="17" name="Text 13"/>
          <p:cNvSpPr txBox="1"/>
          <p:nvPr/>
        </p:nvSpPr>
        <p:spPr>
          <a:xfrm>
            <a:off x="4572000" y="2377440"/>
            <a:ext cx="3017520" cy="292608"/>
          </a:xfrm>
          <a:prstGeom prst="rect">
            <a:avLst/>
          </a:prstGeom>
          <a:noFill/>
          <a:ln/>
        </p:spPr>
        <p:txBody>
          <a:bodyPr wrap="square" lIns="0" tIns="0" rIns="0" bIns="0" rtlCol="0" anchor="t"/>
          <a:lstStyle/>
          <a:p>
            <a:pPr indent="0" marL="0">
              <a:buNone/>
            </a:pPr>
            <a:r>
              <a:rPr lang="en-US" sz="1350" b="1" dirty="0">
                <a:solidFill>
                  <a:schemeClr val="accent2"/>
                </a:solidFill>
                <a:latin typeface="Courier New" pitchFamily="34" charset="0"/>
                <a:ea typeface="Courier New" pitchFamily="34" charset="-122"/>
                <a:cs typeface="Courier New" pitchFamily="34" charset="-120"/>
              </a:rPr>
              <a:t>doctor_daily_load</a:t>
            </a:r>
            <a:endParaRPr lang="en-US" sz="1350" dirty="0"/>
          </a:p>
        </p:txBody>
      </p:sp>
      <p:sp>
        <p:nvSpPr>
          <p:cNvPr id="18" name="Text 14"/>
          <p:cNvSpPr txBox="1"/>
          <p:nvPr/>
        </p:nvSpPr>
        <p:spPr>
          <a:xfrm>
            <a:off x="4572000" y="2688336"/>
            <a:ext cx="3017520" cy="502920"/>
          </a:xfrm>
          <a:prstGeom prst="rect">
            <a:avLst/>
          </a:prstGeom>
          <a:noFill/>
          <a:ln/>
        </p:spPr>
        <p:txBody>
          <a:bodyPr wrap="square" lIns="0" tIns="0" rIns="0" bIns="0" rtlCol="0" anchor="t"/>
          <a:lstStyle/>
          <a:p>
            <a:pPr indent="0" marL="0">
              <a:buNone/>
            </a:pPr>
            <a:r>
              <a:rPr lang="en-US" sz="1300" dirty="0">
                <a:solidFill>
                  <a:schemeClr val="accent5"/>
                </a:solidFill>
              </a:rPr>
              <a:t>non-cancelled appointments on a date</a:t>
            </a:r>
            <a:endParaRPr lang="en-US" sz="1300" dirty="0"/>
          </a:p>
        </p:txBody>
      </p:sp>
      <p:sp>
        <p:nvSpPr>
          <p:cNvPr id="19" name="Text 15"/>
          <p:cNvSpPr txBox="1"/>
          <p:nvPr/>
        </p:nvSpPr>
        <p:spPr>
          <a:xfrm>
            <a:off x="4572000" y="3291840"/>
            <a:ext cx="3017520" cy="292608"/>
          </a:xfrm>
          <a:prstGeom prst="rect">
            <a:avLst/>
          </a:prstGeom>
          <a:noFill/>
          <a:ln/>
        </p:spPr>
        <p:txBody>
          <a:bodyPr wrap="square" lIns="0" tIns="0" rIns="0" bIns="0" rtlCol="0" anchor="t"/>
          <a:lstStyle/>
          <a:p>
            <a:pPr indent="0" marL="0">
              <a:buNone/>
            </a:pPr>
            <a:r>
              <a:rPr lang="en-US" sz="1350" b="1" dirty="0">
                <a:solidFill>
                  <a:schemeClr val="accent2"/>
                </a:solidFill>
                <a:latin typeface="Courier New" pitchFamily="34" charset="0"/>
                <a:ea typeface="Courier New" pitchFamily="34" charset="-122"/>
                <a:cs typeface="Courier New" pitchFamily="34" charset="-120"/>
              </a:rPr>
              <a:t>patient_total_due</a:t>
            </a:r>
            <a:endParaRPr lang="en-US" sz="1350" dirty="0"/>
          </a:p>
        </p:txBody>
      </p:sp>
      <p:sp>
        <p:nvSpPr>
          <p:cNvPr id="20" name="Text 16"/>
          <p:cNvSpPr txBox="1"/>
          <p:nvPr/>
        </p:nvSpPr>
        <p:spPr>
          <a:xfrm>
            <a:off x="4572000" y="3602736"/>
            <a:ext cx="3017520" cy="502920"/>
          </a:xfrm>
          <a:prstGeom prst="rect">
            <a:avLst/>
          </a:prstGeom>
          <a:noFill/>
          <a:ln/>
        </p:spPr>
        <p:txBody>
          <a:bodyPr wrap="square" lIns="0" tIns="0" rIns="0" bIns="0" rtlCol="0" anchor="t"/>
          <a:lstStyle/>
          <a:p>
            <a:pPr indent="0" marL="0">
              <a:buNone/>
            </a:pPr>
            <a:r>
              <a:rPr lang="en-US" sz="1300" dirty="0">
                <a:solidFill>
                  <a:schemeClr val="accent5"/>
                </a:solidFill>
              </a:rPr>
              <a:t>SUM(total − paid), 0 if none</a:t>
            </a:r>
            <a:endParaRPr lang="en-US" sz="1300" dirty="0"/>
          </a:p>
        </p:txBody>
      </p:sp>
      <p:sp>
        <p:nvSpPr>
          <p:cNvPr id="21" name="card"/>
          <p:cNvSpPr/>
          <p:nvPr/>
        </p:nvSpPr>
        <p:spPr>
          <a:xfrm>
            <a:off x="8046720" y="1371600"/>
            <a:ext cx="3474720" cy="4754880"/>
          </a:xfrm>
          <a:prstGeom prst="roundRect">
            <a:avLst>
              <a:gd name="adj" fmla="val 2632"/>
            </a:avLst>
          </a:prstGeom>
          <a:solidFill>
            <a:schemeClr val="bg1"/>
          </a:solidFill>
          <a:ln w="12700">
            <a:solidFill>
              <a:schemeClr val="accent6"/>
            </a:solidFill>
            <a:prstDash val="solid"/>
          </a:ln>
        </p:spPr>
      </p:sp>
      <p:pic>
        <p:nvPicPr>
          <p:cNvPr id="22" name="group icon" descr="preencoded.png">    </p:cNvPr>
          <p:cNvPicPr>
            <a:picLocks noChangeAspect="1"/>
          </p:cNvPicPr>
          <p:nvPr/>
        </p:nvPicPr>
        <p:blipFill>
          <a:blip r:embed="rId3"/>
          <a:stretch>
            <a:fillRect/>
          </a:stretch>
        </p:blipFill>
        <p:spPr>
          <a:xfrm>
            <a:off x="8321040" y="1645920"/>
            <a:ext cx="457200" cy="457200"/>
          </a:xfrm>
          <a:prstGeom prst="rect">
            <a:avLst/>
          </a:prstGeom>
        </p:spPr>
      </p:pic>
      <p:sp>
        <p:nvSpPr>
          <p:cNvPr id="23" name="Text 18"/>
          <p:cNvSpPr txBox="1"/>
          <p:nvPr/>
        </p:nvSpPr>
        <p:spPr>
          <a:xfrm>
            <a:off x="8915400" y="1645920"/>
            <a:ext cx="2377440" cy="457200"/>
          </a:xfrm>
          <a:prstGeom prst="rect">
            <a:avLst/>
          </a:prstGeom>
          <a:noFill/>
          <a:ln/>
        </p:spPr>
        <p:txBody>
          <a:bodyPr wrap="square" lIns="0" tIns="0" rIns="0" bIns="0" rtlCol="0" anchor="ctr"/>
          <a:lstStyle/>
          <a:p>
            <a:pPr indent="0" marL="0">
              <a:buNone/>
            </a:pPr>
            <a:r>
              <a:rPr lang="en-US" sz="2000" b="1" dirty="0">
                <a:solidFill>
                  <a:schemeClr val="tx1"/>
                </a:solidFill>
              </a:rPr>
              <a:t>Triggers</a:t>
            </a:r>
            <a:endParaRPr lang="en-US" sz="2000" dirty="0"/>
          </a:p>
        </p:txBody>
      </p:sp>
      <p:sp>
        <p:nvSpPr>
          <p:cNvPr id="24" name="Text 19"/>
          <p:cNvSpPr txBox="1"/>
          <p:nvPr/>
        </p:nvSpPr>
        <p:spPr>
          <a:xfrm>
            <a:off x="8321040" y="2377440"/>
            <a:ext cx="3017520" cy="292608"/>
          </a:xfrm>
          <a:prstGeom prst="rect">
            <a:avLst/>
          </a:prstGeom>
          <a:noFill/>
          <a:ln/>
        </p:spPr>
        <p:txBody>
          <a:bodyPr wrap="square" lIns="0" tIns="0" rIns="0" bIns="0" rtlCol="0" anchor="t"/>
          <a:lstStyle/>
          <a:p>
            <a:pPr indent="0" marL="0">
              <a:buNone/>
            </a:pPr>
            <a:r>
              <a:rPr lang="en-US" sz="1350" b="1" dirty="0">
                <a:solidFill>
                  <a:schemeClr val="accent3"/>
                </a:solidFill>
                <a:latin typeface="Courier New" pitchFamily="34" charset="0"/>
                <a:ea typeface="Courier New" pitchFamily="34" charset="-122"/>
                <a:cs typeface="Courier New" pitchFamily="34" charset="-120"/>
              </a:rPr>
              <a:t>trg_no_double_booking</a:t>
            </a:r>
            <a:endParaRPr lang="en-US" sz="1350" dirty="0"/>
          </a:p>
        </p:txBody>
      </p:sp>
      <p:sp>
        <p:nvSpPr>
          <p:cNvPr id="25" name="Text 20"/>
          <p:cNvSpPr txBox="1"/>
          <p:nvPr/>
        </p:nvSpPr>
        <p:spPr>
          <a:xfrm>
            <a:off x="8321040" y="2688336"/>
            <a:ext cx="3017520" cy="502920"/>
          </a:xfrm>
          <a:prstGeom prst="rect">
            <a:avLst/>
          </a:prstGeom>
          <a:noFill/>
          <a:ln/>
        </p:spPr>
        <p:txBody>
          <a:bodyPr wrap="square" lIns="0" tIns="0" rIns="0" bIns="0" rtlCol="0" anchor="t"/>
          <a:lstStyle/>
          <a:p>
            <a:pPr indent="0" marL="0">
              <a:buNone/>
            </a:pPr>
            <a:r>
              <a:rPr lang="en-US" sz="1300" dirty="0">
                <a:solidFill>
                  <a:schemeClr val="accent5"/>
                </a:solidFill>
              </a:rPr>
              <a:t>BEFORE INSERT on APPOINTMENT</a:t>
            </a:r>
            <a:endParaRPr lang="en-US" sz="1300" dirty="0"/>
          </a:p>
        </p:txBody>
      </p:sp>
      <p:sp>
        <p:nvSpPr>
          <p:cNvPr id="26" name="Text 21"/>
          <p:cNvSpPr txBox="1"/>
          <p:nvPr/>
        </p:nvSpPr>
        <p:spPr>
          <a:xfrm>
            <a:off x="8321040" y="3291840"/>
            <a:ext cx="3017520" cy="292608"/>
          </a:xfrm>
          <a:prstGeom prst="rect">
            <a:avLst/>
          </a:prstGeom>
          <a:noFill/>
          <a:ln/>
        </p:spPr>
        <p:txBody>
          <a:bodyPr wrap="square" lIns="0" tIns="0" rIns="0" bIns="0" rtlCol="0" anchor="t"/>
          <a:lstStyle/>
          <a:p>
            <a:pPr indent="0" marL="0">
              <a:buNone/>
            </a:pPr>
            <a:r>
              <a:rPr lang="en-US" sz="1350" b="1" dirty="0">
                <a:solidFill>
                  <a:schemeClr val="accent3"/>
                </a:solidFill>
                <a:latin typeface="Courier New" pitchFamily="34" charset="0"/>
                <a:ea typeface="Courier New" pitchFamily="34" charset="-122"/>
                <a:cs typeface="Courier New" pitchFamily="34" charset="-120"/>
              </a:rPr>
              <a:t>trg_flag_result</a:t>
            </a:r>
            <a:endParaRPr lang="en-US" sz="1350" dirty="0"/>
          </a:p>
        </p:txBody>
      </p:sp>
      <p:sp>
        <p:nvSpPr>
          <p:cNvPr id="27" name="Text 22"/>
          <p:cNvSpPr txBox="1"/>
          <p:nvPr/>
        </p:nvSpPr>
        <p:spPr>
          <a:xfrm>
            <a:off x="8321040" y="3602736"/>
            <a:ext cx="3017520" cy="502920"/>
          </a:xfrm>
          <a:prstGeom prst="rect">
            <a:avLst/>
          </a:prstGeom>
          <a:noFill/>
          <a:ln/>
        </p:spPr>
        <p:txBody>
          <a:bodyPr wrap="square" lIns="0" tIns="0" rIns="0" bIns="0" rtlCol="0" anchor="t"/>
          <a:lstStyle/>
          <a:p>
            <a:pPr indent="0" marL="0">
              <a:buNone/>
            </a:pPr>
            <a:r>
              <a:rPr lang="en-US" sz="1300" dirty="0">
                <a:solidFill>
                  <a:schemeClr val="accent5"/>
                </a:solidFill>
              </a:rPr>
              <a:t>LOW / NORMAL / HIGH + sample COMPLETED</a:t>
            </a:r>
            <a:endParaRPr lang="en-US" sz="1300" dirty="0"/>
          </a:p>
        </p:txBody>
      </p:sp>
      <p:sp>
        <p:nvSpPr>
          <p:cNvPr id="28" name="Text 23"/>
          <p:cNvSpPr txBox="1"/>
          <p:nvPr/>
        </p:nvSpPr>
        <p:spPr>
          <a:xfrm>
            <a:off x="8321040" y="4206240"/>
            <a:ext cx="3017520" cy="292608"/>
          </a:xfrm>
          <a:prstGeom prst="rect">
            <a:avLst/>
          </a:prstGeom>
          <a:noFill/>
          <a:ln/>
        </p:spPr>
        <p:txBody>
          <a:bodyPr wrap="square" lIns="0" tIns="0" rIns="0" bIns="0" rtlCol="0" anchor="t"/>
          <a:lstStyle/>
          <a:p>
            <a:pPr indent="0" marL="0">
              <a:buNone/>
            </a:pPr>
            <a:r>
              <a:rPr lang="en-US" sz="1350" b="1" dirty="0">
                <a:solidFill>
                  <a:schemeClr val="accent3"/>
                </a:solidFill>
                <a:latin typeface="Courier New" pitchFamily="34" charset="0"/>
                <a:ea typeface="Courier New" pitchFamily="34" charset="-122"/>
                <a:cs typeface="Courier New" pitchFamily="34" charset="-120"/>
              </a:rPr>
              <a:t>trg_payment_status</a:t>
            </a:r>
            <a:endParaRPr lang="en-US" sz="1350" dirty="0"/>
          </a:p>
        </p:txBody>
      </p:sp>
      <p:sp>
        <p:nvSpPr>
          <p:cNvPr id="29" name="Text 24"/>
          <p:cNvSpPr txBox="1"/>
          <p:nvPr/>
        </p:nvSpPr>
        <p:spPr>
          <a:xfrm>
            <a:off x="8321040" y="4517136"/>
            <a:ext cx="3017520" cy="502920"/>
          </a:xfrm>
          <a:prstGeom prst="rect">
            <a:avLst/>
          </a:prstGeom>
          <a:noFill/>
          <a:ln/>
        </p:spPr>
        <p:txBody>
          <a:bodyPr wrap="square" lIns="0" tIns="0" rIns="0" bIns="0" rtlCol="0" anchor="t"/>
          <a:lstStyle/>
          <a:p>
            <a:pPr indent="0" marL="0">
              <a:buNone/>
            </a:pPr>
            <a:r>
              <a:rPr lang="en-US" sz="1300" dirty="0">
                <a:solidFill>
                  <a:schemeClr val="accent5"/>
                </a:solidFill>
              </a:rPr>
              <a:t>UNPAID / PARTIAL / PAID</a:t>
            </a:r>
            <a:endParaRPr lang="en-US" sz="13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lIns="0" tIns="0" rIns="0" bIns="0" rtlCol="0" anchor="ctr"/>
          <a:lstStyle/>
          <a:p>
            <a:pPr algn="l" indent="0" marL="0">
              <a:buNone/>
            </a:pPr>
            <a:r>
              <a:rPr lang="en-US" sz="3200" b="1" dirty="0">
                <a:solidFill>
                  <a:schemeClr val="tx1"/>
                </a:solidFill>
              </a:rPr>
              <a:t>One command rebuilds and verifies everything</a:t>
            </a:r>
            <a:endParaRPr lang="en-US" sz="3200" dirty="0"/>
          </a:p>
        </p:txBody>
      </p:sp>
      <p:sp>
        <p:nvSpPr>
          <p:cNvPr id="3" name="build step"/>
          <p:cNvSpPr/>
          <p:nvPr/>
        </p:nvSpPr>
        <p:spPr>
          <a:xfrm>
            <a:off x="548640" y="1417320"/>
            <a:ext cx="1536192" cy="777240"/>
          </a:xfrm>
          <a:prstGeom prst="chevron">
            <a:avLst/>
          </a:prstGeom>
          <a:solidFill>
            <a:schemeClr val="tx1"/>
          </a:solidFill>
          <a:ln w="12700">
            <a:solidFill>
              <a:schemeClr val="bg1"/>
            </a:solidFill>
            <a:prstDash val="solid"/>
          </a:ln>
        </p:spPr>
      </p:sp>
      <p:sp>
        <p:nvSpPr>
          <p:cNvPr id="4" name="Text 2"/>
          <p:cNvSpPr txBox="1"/>
          <p:nvPr/>
        </p:nvSpPr>
        <p:spPr>
          <a:xfrm>
            <a:off x="822960" y="1417320"/>
            <a:ext cx="1051560" cy="777240"/>
          </a:xfrm>
          <a:prstGeom prst="rect">
            <a:avLst/>
          </a:prstGeom>
          <a:noFill/>
          <a:ln/>
        </p:spPr>
        <p:txBody>
          <a:bodyPr wrap="square" lIns="0" tIns="0" rIns="0" bIns="0" rtlCol="0" anchor="ctr"/>
          <a:lstStyle/>
          <a:p>
            <a:pPr algn="ctr" indent="0" marL="0">
              <a:buNone/>
            </a:pPr>
            <a:r>
              <a:rPr lang="en-US" sz="1600" b="1" dirty="0">
                <a:solidFill>
                  <a:schemeClr val="bg1"/>
                </a:solidFill>
              </a:rPr>
              <a:t>99</a:t>
            </a:r>
            <a:endParaRPr lang="en-US" sz="1400" dirty="0"/>
          </a:p>
          <a:p>
            <a:pPr algn="ctr" indent="0" marL="0">
              <a:buNone/>
            </a:pPr>
            <a:r>
              <a:rPr lang="en-US" sz="1100" dirty="0">
                <a:solidFill>
                  <a:schemeClr val="bg1"/>
                </a:solidFill>
              </a:rPr>
              <a:t>drop all</a:t>
            </a:r>
            <a:endParaRPr lang="en-US" sz="1400" dirty="0"/>
          </a:p>
        </p:txBody>
      </p:sp>
      <p:sp>
        <p:nvSpPr>
          <p:cNvPr id="5" name="build step"/>
          <p:cNvSpPr/>
          <p:nvPr/>
        </p:nvSpPr>
        <p:spPr>
          <a:xfrm>
            <a:off x="2130552" y="1417320"/>
            <a:ext cx="1536192" cy="777240"/>
          </a:xfrm>
          <a:prstGeom prst="chevron">
            <a:avLst/>
          </a:prstGeom>
          <a:solidFill>
            <a:schemeClr val="tx1"/>
          </a:solidFill>
          <a:ln w="12700">
            <a:solidFill>
              <a:schemeClr val="bg1"/>
            </a:solidFill>
            <a:prstDash val="solid"/>
          </a:ln>
        </p:spPr>
      </p:sp>
      <p:sp>
        <p:nvSpPr>
          <p:cNvPr id="6" name="Text 4"/>
          <p:cNvSpPr txBox="1"/>
          <p:nvPr/>
        </p:nvSpPr>
        <p:spPr>
          <a:xfrm>
            <a:off x="2404872" y="1417320"/>
            <a:ext cx="1051560" cy="777240"/>
          </a:xfrm>
          <a:prstGeom prst="rect">
            <a:avLst/>
          </a:prstGeom>
          <a:noFill/>
          <a:ln/>
        </p:spPr>
        <p:txBody>
          <a:bodyPr wrap="square" lIns="0" tIns="0" rIns="0" bIns="0" rtlCol="0" anchor="ctr"/>
          <a:lstStyle/>
          <a:p>
            <a:pPr algn="ctr" indent="0" marL="0">
              <a:buNone/>
            </a:pPr>
            <a:r>
              <a:rPr lang="en-US" sz="1600" b="1" dirty="0">
                <a:solidFill>
                  <a:schemeClr val="bg1"/>
                </a:solidFill>
              </a:rPr>
              <a:t>01</a:t>
            </a:r>
            <a:endParaRPr lang="en-US" sz="1400" dirty="0"/>
          </a:p>
          <a:p>
            <a:pPr algn="ctr" indent="0" marL="0">
              <a:buNone/>
            </a:pPr>
            <a:r>
              <a:rPr lang="en-US" sz="1100" dirty="0">
                <a:solidFill>
                  <a:schemeClr val="bg1"/>
                </a:solidFill>
              </a:rPr>
              <a:t>DDL</a:t>
            </a:r>
            <a:endParaRPr lang="en-US" sz="1400" dirty="0"/>
          </a:p>
        </p:txBody>
      </p:sp>
      <p:sp>
        <p:nvSpPr>
          <p:cNvPr id="7" name="build step"/>
          <p:cNvSpPr/>
          <p:nvPr/>
        </p:nvSpPr>
        <p:spPr>
          <a:xfrm>
            <a:off x="3712464" y="1417320"/>
            <a:ext cx="1536192" cy="777240"/>
          </a:xfrm>
          <a:prstGeom prst="chevron">
            <a:avLst/>
          </a:prstGeom>
          <a:solidFill>
            <a:schemeClr val="tx1"/>
          </a:solidFill>
          <a:ln w="12700">
            <a:solidFill>
              <a:schemeClr val="bg1"/>
            </a:solidFill>
            <a:prstDash val="solid"/>
          </a:ln>
        </p:spPr>
      </p:sp>
      <p:sp>
        <p:nvSpPr>
          <p:cNvPr id="8" name="Text 6"/>
          <p:cNvSpPr txBox="1"/>
          <p:nvPr/>
        </p:nvSpPr>
        <p:spPr>
          <a:xfrm>
            <a:off x="3986784" y="1417320"/>
            <a:ext cx="1051560" cy="777240"/>
          </a:xfrm>
          <a:prstGeom prst="rect">
            <a:avLst/>
          </a:prstGeom>
          <a:noFill/>
          <a:ln/>
        </p:spPr>
        <p:txBody>
          <a:bodyPr wrap="square" lIns="0" tIns="0" rIns="0" bIns="0" rtlCol="0" anchor="ctr"/>
          <a:lstStyle/>
          <a:p>
            <a:pPr algn="ctr" indent="0" marL="0">
              <a:buNone/>
            </a:pPr>
            <a:r>
              <a:rPr lang="en-US" sz="1600" b="1" dirty="0">
                <a:solidFill>
                  <a:schemeClr val="bg1"/>
                </a:solidFill>
              </a:rPr>
              <a:t>04</a:t>
            </a:r>
            <a:endParaRPr lang="en-US" sz="1400" dirty="0"/>
          </a:p>
          <a:p>
            <a:pPr algn="ctr" indent="0" marL="0">
              <a:buNone/>
            </a:pPr>
            <a:r>
              <a:rPr lang="en-US" sz="1100" dirty="0">
                <a:solidFill>
                  <a:schemeClr val="bg1"/>
                </a:solidFill>
              </a:rPr>
              <a:t>functions</a:t>
            </a:r>
            <a:endParaRPr lang="en-US" sz="1400" dirty="0"/>
          </a:p>
        </p:txBody>
      </p:sp>
      <p:sp>
        <p:nvSpPr>
          <p:cNvPr id="9" name="build step"/>
          <p:cNvSpPr/>
          <p:nvPr/>
        </p:nvSpPr>
        <p:spPr>
          <a:xfrm>
            <a:off x="5294376" y="1417320"/>
            <a:ext cx="1536192" cy="777240"/>
          </a:xfrm>
          <a:prstGeom prst="chevron">
            <a:avLst/>
          </a:prstGeom>
          <a:solidFill>
            <a:schemeClr val="tx1"/>
          </a:solidFill>
          <a:ln w="12700">
            <a:solidFill>
              <a:schemeClr val="bg1"/>
            </a:solidFill>
            <a:prstDash val="solid"/>
          </a:ln>
        </p:spPr>
      </p:sp>
      <p:sp>
        <p:nvSpPr>
          <p:cNvPr id="10" name="Text 8"/>
          <p:cNvSpPr txBox="1"/>
          <p:nvPr/>
        </p:nvSpPr>
        <p:spPr>
          <a:xfrm>
            <a:off x="5568696" y="1417320"/>
            <a:ext cx="1051560" cy="777240"/>
          </a:xfrm>
          <a:prstGeom prst="rect">
            <a:avLst/>
          </a:prstGeom>
          <a:noFill/>
          <a:ln/>
        </p:spPr>
        <p:txBody>
          <a:bodyPr wrap="square" lIns="0" tIns="0" rIns="0" bIns="0" rtlCol="0" anchor="ctr"/>
          <a:lstStyle/>
          <a:p>
            <a:pPr algn="ctr" indent="0" marL="0">
              <a:buNone/>
            </a:pPr>
            <a:r>
              <a:rPr lang="en-US" sz="1600" b="1" dirty="0">
                <a:solidFill>
                  <a:schemeClr val="bg1"/>
                </a:solidFill>
              </a:rPr>
              <a:t>05</a:t>
            </a:r>
            <a:endParaRPr lang="en-US" sz="1400" dirty="0"/>
          </a:p>
          <a:p>
            <a:pPr algn="ctr" indent="0" marL="0">
              <a:buNone/>
            </a:pPr>
            <a:r>
              <a:rPr lang="en-US" sz="1100" dirty="0">
                <a:solidFill>
                  <a:schemeClr val="bg1"/>
                </a:solidFill>
              </a:rPr>
              <a:t>procedures</a:t>
            </a:r>
            <a:endParaRPr lang="en-US" sz="1400" dirty="0"/>
          </a:p>
        </p:txBody>
      </p:sp>
      <p:sp>
        <p:nvSpPr>
          <p:cNvPr id="11" name="build step"/>
          <p:cNvSpPr/>
          <p:nvPr/>
        </p:nvSpPr>
        <p:spPr>
          <a:xfrm>
            <a:off x="6876288" y="1417320"/>
            <a:ext cx="1536192" cy="777240"/>
          </a:xfrm>
          <a:prstGeom prst="chevron">
            <a:avLst/>
          </a:prstGeom>
          <a:solidFill>
            <a:schemeClr val="accent2"/>
          </a:solidFill>
          <a:ln w="12700">
            <a:solidFill>
              <a:schemeClr val="bg1"/>
            </a:solidFill>
            <a:prstDash val="solid"/>
          </a:ln>
        </p:spPr>
      </p:sp>
      <p:sp>
        <p:nvSpPr>
          <p:cNvPr id="12" name="Text 10"/>
          <p:cNvSpPr txBox="1"/>
          <p:nvPr/>
        </p:nvSpPr>
        <p:spPr>
          <a:xfrm>
            <a:off x="7150608" y="1417320"/>
            <a:ext cx="1051560" cy="777240"/>
          </a:xfrm>
          <a:prstGeom prst="rect">
            <a:avLst/>
          </a:prstGeom>
          <a:noFill/>
          <a:ln/>
        </p:spPr>
        <p:txBody>
          <a:bodyPr wrap="square" lIns="0" tIns="0" rIns="0" bIns="0" rtlCol="0" anchor="ctr"/>
          <a:lstStyle/>
          <a:p>
            <a:pPr algn="ctr" indent="0" marL="0">
              <a:buNone/>
            </a:pPr>
            <a:r>
              <a:rPr lang="en-US" sz="1600" b="1" dirty="0">
                <a:solidFill>
                  <a:schemeClr val="bg1"/>
                </a:solidFill>
              </a:rPr>
              <a:t>06</a:t>
            </a:r>
            <a:endParaRPr lang="en-US" sz="1400" dirty="0"/>
          </a:p>
          <a:p>
            <a:pPr algn="ctr" indent="0" marL="0">
              <a:buNone/>
            </a:pPr>
            <a:r>
              <a:rPr lang="en-US" sz="1100" dirty="0">
                <a:solidFill>
                  <a:schemeClr val="bg1"/>
                </a:solidFill>
              </a:rPr>
              <a:t>triggers</a:t>
            </a:r>
            <a:endParaRPr lang="en-US" sz="1400" dirty="0"/>
          </a:p>
        </p:txBody>
      </p:sp>
      <p:sp>
        <p:nvSpPr>
          <p:cNvPr id="13" name="build step"/>
          <p:cNvSpPr/>
          <p:nvPr/>
        </p:nvSpPr>
        <p:spPr>
          <a:xfrm>
            <a:off x="8458200" y="1417320"/>
            <a:ext cx="1536192" cy="777240"/>
          </a:xfrm>
          <a:prstGeom prst="chevron">
            <a:avLst/>
          </a:prstGeom>
          <a:solidFill>
            <a:schemeClr val="tx1"/>
          </a:solidFill>
          <a:ln w="12700">
            <a:solidFill>
              <a:schemeClr val="bg1"/>
            </a:solidFill>
            <a:prstDash val="solid"/>
          </a:ln>
        </p:spPr>
      </p:sp>
      <p:sp>
        <p:nvSpPr>
          <p:cNvPr id="14" name="Text 12"/>
          <p:cNvSpPr txBox="1"/>
          <p:nvPr/>
        </p:nvSpPr>
        <p:spPr>
          <a:xfrm>
            <a:off x="8732520" y="1417320"/>
            <a:ext cx="1051560" cy="777240"/>
          </a:xfrm>
          <a:prstGeom prst="rect">
            <a:avLst/>
          </a:prstGeom>
          <a:noFill/>
          <a:ln/>
        </p:spPr>
        <p:txBody>
          <a:bodyPr wrap="square" lIns="0" tIns="0" rIns="0" bIns="0" rtlCol="0" anchor="ctr"/>
          <a:lstStyle/>
          <a:p>
            <a:pPr algn="ctr" indent="0" marL="0">
              <a:buNone/>
            </a:pPr>
            <a:r>
              <a:rPr lang="en-US" sz="1600" b="1" dirty="0">
                <a:solidFill>
                  <a:schemeClr val="bg1"/>
                </a:solidFill>
              </a:rPr>
              <a:t>02</a:t>
            </a:r>
            <a:endParaRPr lang="en-US" sz="1400" dirty="0"/>
          </a:p>
          <a:p>
            <a:pPr algn="ctr" indent="0" marL="0">
              <a:buNone/>
            </a:pPr>
            <a:r>
              <a:rPr lang="en-US" sz="1100" dirty="0">
                <a:solidFill>
                  <a:schemeClr val="bg1"/>
                </a:solidFill>
              </a:rPr>
              <a:t>seed data</a:t>
            </a:r>
            <a:endParaRPr lang="en-US" sz="1400" dirty="0"/>
          </a:p>
        </p:txBody>
      </p:sp>
      <p:sp>
        <p:nvSpPr>
          <p:cNvPr id="15" name="build step"/>
          <p:cNvSpPr/>
          <p:nvPr/>
        </p:nvSpPr>
        <p:spPr>
          <a:xfrm>
            <a:off x="10040112" y="1417320"/>
            <a:ext cx="1536192" cy="777240"/>
          </a:xfrm>
          <a:prstGeom prst="chevron">
            <a:avLst/>
          </a:prstGeom>
          <a:solidFill>
            <a:schemeClr val="tx1"/>
          </a:solidFill>
          <a:ln w="12700">
            <a:solidFill>
              <a:schemeClr val="bg1"/>
            </a:solidFill>
            <a:prstDash val="solid"/>
          </a:ln>
        </p:spPr>
      </p:sp>
      <p:sp>
        <p:nvSpPr>
          <p:cNvPr id="16" name="Text 14"/>
          <p:cNvSpPr txBox="1"/>
          <p:nvPr/>
        </p:nvSpPr>
        <p:spPr>
          <a:xfrm>
            <a:off x="10314432" y="1417320"/>
            <a:ext cx="1051560" cy="777240"/>
          </a:xfrm>
          <a:prstGeom prst="rect">
            <a:avLst/>
          </a:prstGeom>
          <a:noFill/>
          <a:ln/>
        </p:spPr>
        <p:txBody>
          <a:bodyPr wrap="square" lIns="0" tIns="0" rIns="0" bIns="0" rtlCol="0" anchor="ctr"/>
          <a:lstStyle/>
          <a:p>
            <a:pPr algn="ctr" indent="0" marL="0">
              <a:buNone/>
            </a:pPr>
            <a:r>
              <a:rPr lang="en-US" sz="1600" b="1" dirty="0">
                <a:solidFill>
                  <a:schemeClr val="bg1"/>
                </a:solidFill>
              </a:rPr>
              <a:t>03</a:t>
            </a:r>
            <a:endParaRPr lang="en-US" sz="1400" dirty="0"/>
          </a:p>
          <a:p>
            <a:pPr algn="ctr" indent="0" marL="0">
              <a:buNone/>
            </a:pPr>
            <a:r>
              <a:rPr lang="en-US" sz="1100" dirty="0">
                <a:solidFill>
                  <a:schemeClr val="bg1"/>
                </a:solidFill>
              </a:rPr>
              <a:t>queries + view</a:t>
            </a:r>
            <a:endParaRPr lang="en-US" sz="1400" dirty="0"/>
          </a:p>
        </p:txBody>
      </p:sp>
      <p:sp>
        <p:nvSpPr>
          <p:cNvPr id="17" name="Text 15"/>
          <p:cNvSpPr txBox="1"/>
          <p:nvPr/>
        </p:nvSpPr>
        <p:spPr>
          <a:xfrm>
            <a:off x="548640" y="2377440"/>
            <a:ext cx="11064240" cy="548640"/>
          </a:xfrm>
          <a:prstGeom prst="rect">
            <a:avLst/>
          </a:prstGeom>
          <a:noFill/>
          <a:ln/>
        </p:spPr>
        <p:txBody>
          <a:bodyPr wrap="square" lIns="0" tIns="0" rIns="0" bIns="0" rtlCol="0" anchor="t"/>
          <a:lstStyle/>
          <a:p>
            <a:pPr indent="0" marL="0">
              <a:buNone/>
            </a:pPr>
            <a:r>
              <a:rPr lang="en-US" sz="1350" b="1" dirty="0">
                <a:solidFill>
                  <a:schemeClr val="tx1"/>
                </a:solidFill>
              </a:rPr>
              <a:t>Triggers run before the seed, </a:t>
            </a:r>
            <a:pPr indent="0" marL="0">
              <a:buNone/>
            </a:pPr>
            <a:r>
              <a:rPr lang="en-US" sz="1350" dirty="0">
                <a:solidFill>
                  <a:schemeClr val="tx1"/>
                </a:solidFill>
              </a:rPr>
              <a:t>so every seeded flag, sample status and payment status is set by a trigger, never typed by hand. python app/setup_db.py (or 00_build_all.sql in SQL*Plus).</a:t>
            </a:r>
            <a:endParaRPr lang="en-US" sz="1350" dirty="0"/>
          </a:p>
        </p:txBody>
      </p:sp>
      <p:graphicFrame>
        <p:nvGraphicFramePr>
          <p:cNvPr id="18" name="seed rows chart" descr=""/>
          <p:cNvGraphicFramePr/>
          <p:nvPr/>
        </p:nvGraphicFramePr>
        <p:xfrm>
          <a:off x="548640" y="3108960"/>
          <a:ext cx="6035040" cy="3108960"/>
        </p:xfrm>
        <a:graphic xmlns:a="http://schemas.openxmlformats.org/drawingml/2006/main">
          <a:graphicData uri="http://schemas.openxmlformats.org/drawingml/2006/chart">
            <c:chart xmlns:c="http://schemas.openxmlformats.org/drawingml/2006/chart" r:id="rId1"/>
          </a:graphicData>
        </a:graphic>
      </p:graphicFrame>
      <p:sp>
        <p:nvSpPr>
          <p:cNvPr id="19" name="card"/>
          <p:cNvSpPr/>
          <p:nvPr/>
        </p:nvSpPr>
        <p:spPr>
          <a:xfrm>
            <a:off x="6949440" y="3154680"/>
            <a:ext cx="4663440" cy="640080"/>
          </a:xfrm>
          <a:prstGeom prst="roundRect">
            <a:avLst>
              <a:gd name="adj" fmla="val 14286"/>
            </a:avLst>
          </a:prstGeom>
          <a:solidFill>
            <a:schemeClr val="bg2"/>
          </a:solidFill>
          <a:ln w="12700">
            <a:solidFill>
              <a:schemeClr val="accent6"/>
            </a:solidFill>
            <a:prstDash val="solid"/>
          </a:ln>
        </p:spPr>
      </p:sp>
      <p:pic>
        <p:nvPicPr>
          <p:cNvPr id="20" name="check" descr="preencoded.png">    </p:cNvPr>
          <p:cNvPicPr>
            <a:picLocks noChangeAspect="1"/>
          </p:cNvPicPr>
          <p:nvPr/>
        </p:nvPicPr>
        <p:blipFill>
          <a:blip r:embed="rId2"/>
          <a:stretch>
            <a:fillRect/>
          </a:stretch>
        </p:blipFill>
        <p:spPr>
          <a:xfrm>
            <a:off x="7114032" y="3310128"/>
            <a:ext cx="329184" cy="329184"/>
          </a:xfrm>
          <a:prstGeom prst="rect">
            <a:avLst/>
          </a:prstGeom>
        </p:spPr>
      </p:pic>
      <p:sp>
        <p:nvSpPr>
          <p:cNvPr id="21" name="Text 17"/>
          <p:cNvSpPr txBox="1"/>
          <p:nvPr/>
        </p:nvSpPr>
        <p:spPr>
          <a:xfrm>
            <a:off x="7589520" y="3154680"/>
            <a:ext cx="1097280" cy="640080"/>
          </a:xfrm>
          <a:prstGeom prst="rect">
            <a:avLst/>
          </a:prstGeom>
          <a:noFill/>
          <a:ln/>
        </p:spPr>
        <p:txBody>
          <a:bodyPr wrap="square" lIns="0" tIns="0" rIns="0" bIns="0" rtlCol="0" anchor="ctr"/>
          <a:lstStyle/>
          <a:p>
            <a:pPr indent="0" marL="0">
              <a:buNone/>
            </a:pPr>
            <a:r>
              <a:rPr lang="en-US" sz="1600" b="1" dirty="0">
                <a:solidFill>
                  <a:schemeClr val="accent1"/>
                </a:solidFill>
              </a:rPr>
              <a:t>16 / 16</a:t>
            </a:r>
            <a:endParaRPr lang="en-US" sz="1600" dirty="0"/>
          </a:p>
        </p:txBody>
      </p:sp>
      <p:sp>
        <p:nvSpPr>
          <p:cNvPr id="22" name="Text 18"/>
          <p:cNvSpPr txBox="1"/>
          <p:nvPr/>
        </p:nvSpPr>
        <p:spPr>
          <a:xfrm>
            <a:off x="8686800" y="3154680"/>
            <a:ext cx="2834640" cy="640080"/>
          </a:xfrm>
          <a:prstGeom prst="rect">
            <a:avLst/>
          </a:prstGeom>
          <a:noFill/>
          <a:ln/>
        </p:spPr>
        <p:txBody>
          <a:bodyPr wrap="square" lIns="0" tIns="0" rIns="0" bIns="0" rtlCol="0" anchor="ctr"/>
          <a:lstStyle/>
          <a:p>
            <a:pPr indent="0" marL="0">
              <a:buNone/>
            </a:pPr>
            <a:r>
              <a:rPr lang="en-US" sz="1200" dirty="0">
                <a:solidFill>
                  <a:schemeClr val="tx1"/>
                </a:solidFill>
              </a:rPr>
              <a:t>objects VALID (procs, functions, triggers, view, sequences)</a:t>
            </a:r>
            <a:endParaRPr lang="en-US" sz="1200" dirty="0"/>
          </a:p>
        </p:txBody>
      </p:sp>
      <p:sp>
        <p:nvSpPr>
          <p:cNvPr id="23" name="card"/>
          <p:cNvSpPr/>
          <p:nvPr/>
        </p:nvSpPr>
        <p:spPr>
          <a:xfrm>
            <a:off x="6949440" y="3913632"/>
            <a:ext cx="4663440" cy="640080"/>
          </a:xfrm>
          <a:prstGeom prst="roundRect">
            <a:avLst>
              <a:gd name="adj" fmla="val 14286"/>
            </a:avLst>
          </a:prstGeom>
          <a:solidFill>
            <a:schemeClr val="bg2"/>
          </a:solidFill>
          <a:ln w="12700">
            <a:solidFill>
              <a:schemeClr val="accent6"/>
            </a:solidFill>
            <a:prstDash val="solid"/>
          </a:ln>
        </p:spPr>
      </p:sp>
      <p:pic>
        <p:nvPicPr>
          <p:cNvPr id="24" name="check" descr="preencoded.png">    </p:cNvPr>
          <p:cNvPicPr>
            <a:picLocks noChangeAspect="1"/>
          </p:cNvPicPr>
          <p:nvPr/>
        </p:nvPicPr>
        <p:blipFill>
          <a:blip r:embed="rId3"/>
          <a:stretch>
            <a:fillRect/>
          </a:stretch>
        </p:blipFill>
        <p:spPr>
          <a:xfrm>
            <a:off x="7114032" y="4069080"/>
            <a:ext cx="329184" cy="329184"/>
          </a:xfrm>
          <a:prstGeom prst="rect">
            <a:avLst/>
          </a:prstGeom>
        </p:spPr>
      </p:pic>
      <p:sp>
        <p:nvSpPr>
          <p:cNvPr id="25" name="Text 20"/>
          <p:cNvSpPr txBox="1"/>
          <p:nvPr/>
        </p:nvSpPr>
        <p:spPr>
          <a:xfrm>
            <a:off x="7589520" y="3913632"/>
            <a:ext cx="1097280" cy="640080"/>
          </a:xfrm>
          <a:prstGeom prst="rect">
            <a:avLst/>
          </a:prstGeom>
          <a:noFill/>
          <a:ln/>
        </p:spPr>
        <p:txBody>
          <a:bodyPr wrap="square" lIns="0" tIns="0" rIns="0" bIns="0" rtlCol="0" anchor="ctr"/>
          <a:lstStyle/>
          <a:p>
            <a:pPr indent="0" marL="0">
              <a:buNone/>
            </a:pPr>
            <a:r>
              <a:rPr lang="en-US" sz="1600" b="1" dirty="0">
                <a:solidFill>
                  <a:schemeClr val="accent1"/>
                </a:solidFill>
              </a:rPr>
              <a:t>10 / 10</a:t>
            </a:r>
            <a:endParaRPr lang="en-US" sz="1600" dirty="0"/>
          </a:p>
        </p:txBody>
      </p:sp>
      <p:sp>
        <p:nvSpPr>
          <p:cNvPr id="26" name="Text 21"/>
          <p:cNvSpPr txBox="1"/>
          <p:nvPr/>
        </p:nvSpPr>
        <p:spPr>
          <a:xfrm>
            <a:off x="8686800" y="3913632"/>
            <a:ext cx="2834640" cy="640080"/>
          </a:xfrm>
          <a:prstGeom prst="rect">
            <a:avLst/>
          </a:prstGeom>
          <a:noFill/>
          <a:ln/>
        </p:spPr>
        <p:txBody>
          <a:bodyPr wrap="square" lIns="0" tIns="0" rIns="0" bIns="0" rtlCol="0" anchor="ctr"/>
          <a:lstStyle/>
          <a:p>
            <a:pPr indent="0" marL="0">
              <a:buNone/>
            </a:pPr>
            <a:r>
              <a:rPr lang="en-US" sz="1200" dirty="0">
                <a:solidFill>
                  <a:schemeClr val="tx1"/>
                </a:solidFill>
              </a:rPr>
              <a:t>constraint-lab violations refused</a:t>
            </a:r>
            <a:endParaRPr lang="en-US" sz="1200" dirty="0"/>
          </a:p>
        </p:txBody>
      </p:sp>
      <p:sp>
        <p:nvSpPr>
          <p:cNvPr id="27" name="card"/>
          <p:cNvSpPr/>
          <p:nvPr/>
        </p:nvSpPr>
        <p:spPr>
          <a:xfrm>
            <a:off x="6949440" y="4672584"/>
            <a:ext cx="4663440" cy="640080"/>
          </a:xfrm>
          <a:prstGeom prst="roundRect">
            <a:avLst>
              <a:gd name="adj" fmla="val 14286"/>
            </a:avLst>
          </a:prstGeom>
          <a:solidFill>
            <a:schemeClr val="bg2"/>
          </a:solidFill>
          <a:ln w="12700">
            <a:solidFill>
              <a:schemeClr val="accent6"/>
            </a:solidFill>
            <a:prstDash val="solid"/>
          </a:ln>
        </p:spPr>
      </p:sp>
      <p:pic>
        <p:nvPicPr>
          <p:cNvPr id="28" name="check" descr="preencoded.png">    </p:cNvPr>
          <p:cNvPicPr>
            <a:picLocks noChangeAspect="1"/>
          </p:cNvPicPr>
          <p:nvPr/>
        </p:nvPicPr>
        <p:blipFill>
          <a:blip r:embed="rId4"/>
          <a:stretch>
            <a:fillRect/>
          </a:stretch>
        </p:blipFill>
        <p:spPr>
          <a:xfrm>
            <a:off x="7114032" y="4828032"/>
            <a:ext cx="329184" cy="329184"/>
          </a:xfrm>
          <a:prstGeom prst="rect">
            <a:avLst/>
          </a:prstGeom>
        </p:spPr>
      </p:pic>
      <p:sp>
        <p:nvSpPr>
          <p:cNvPr id="29" name="Text 23"/>
          <p:cNvSpPr txBox="1"/>
          <p:nvPr/>
        </p:nvSpPr>
        <p:spPr>
          <a:xfrm>
            <a:off x="7589520" y="4672584"/>
            <a:ext cx="1097280" cy="640080"/>
          </a:xfrm>
          <a:prstGeom prst="rect">
            <a:avLst/>
          </a:prstGeom>
          <a:noFill/>
          <a:ln/>
        </p:spPr>
        <p:txBody>
          <a:bodyPr wrap="square" lIns="0" tIns="0" rIns="0" bIns="0" rtlCol="0" anchor="ctr"/>
          <a:lstStyle/>
          <a:p>
            <a:pPr indent="0" marL="0">
              <a:buNone/>
            </a:pPr>
            <a:r>
              <a:rPr lang="en-US" sz="1600" b="1" dirty="0">
                <a:solidFill>
                  <a:schemeClr val="accent1"/>
                </a:solidFill>
              </a:rPr>
              <a:t>15 / 15</a:t>
            </a:r>
            <a:endParaRPr lang="en-US" sz="1600" dirty="0"/>
          </a:p>
        </p:txBody>
      </p:sp>
      <p:sp>
        <p:nvSpPr>
          <p:cNvPr id="30" name="Text 24"/>
          <p:cNvSpPr txBox="1"/>
          <p:nvPr/>
        </p:nvSpPr>
        <p:spPr>
          <a:xfrm>
            <a:off x="8686800" y="4672584"/>
            <a:ext cx="2834640" cy="640080"/>
          </a:xfrm>
          <a:prstGeom prst="rect">
            <a:avLst/>
          </a:prstGeom>
          <a:noFill/>
          <a:ln/>
        </p:spPr>
        <p:txBody>
          <a:bodyPr wrap="square" lIns="0" tIns="0" rIns="0" bIns="0" rtlCol="0" anchor="ctr"/>
          <a:lstStyle/>
          <a:p>
            <a:pPr indent="0" marL="0">
              <a:buNone/>
            </a:pPr>
            <a:r>
              <a:rPr lang="en-US" sz="1200" dirty="0">
                <a:solidFill>
                  <a:schemeClr val="tx1"/>
                </a:solidFill>
              </a:rPr>
              <a:t>queries return non-empty output on seed data</a:t>
            </a:r>
            <a:endParaRPr lang="en-US" sz="1200" dirty="0"/>
          </a:p>
        </p:txBody>
      </p:sp>
      <p:sp>
        <p:nvSpPr>
          <p:cNvPr id="31" name="card"/>
          <p:cNvSpPr/>
          <p:nvPr/>
        </p:nvSpPr>
        <p:spPr>
          <a:xfrm>
            <a:off x="6949440" y="5431536"/>
            <a:ext cx="4663440" cy="640080"/>
          </a:xfrm>
          <a:prstGeom prst="roundRect">
            <a:avLst>
              <a:gd name="adj" fmla="val 14286"/>
            </a:avLst>
          </a:prstGeom>
          <a:solidFill>
            <a:schemeClr val="bg2"/>
          </a:solidFill>
          <a:ln w="12700">
            <a:solidFill>
              <a:schemeClr val="accent6"/>
            </a:solidFill>
            <a:prstDash val="solid"/>
          </a:ln>
        </p:spPr>
      </p:sp>
      <p:pic>
        <p:nvPicPr>
          <p:cNvPr id="32" name="check" descr="preencoded.png">    </p:cNvPr>
          <p:cNvPicPr>
            <a:picLocks noChangeAspect="1"/>
          </p:cNvPicPr>
          <p:nvPr/>
        </p:nvPicPr>
        <p:blipFill>
          <a:blip r:embed="rId5"/>
          <a:stretch>
            <a:fillRect/>
          </a:stretch>
        </p:blipFill>
        <p:spPr>
          <a:xfrm>
            <a:off x="7114032" y="5586984"/>
            <a:ext cx="329184" cy="329184"/>
          </a:xfrm>
          <a:prstGeom prst="rect">
            <a:avLst/>
          </a:prstGeom>
        </p:spPr>
      </p:pic>
      <p:sp>
        <p:nvSpPr>
          <p:cNvPr id="33" name="Text 26"/>
          <p:cNvSpPr txBox="1"/>
          <p:nvPr/>
        </p:nvSpPr>
        <p:spPr>
          <a:xfrm>
            <a:off x="7589520" y="5431536"/>
            <a:ext cx="1097280" cy="640080"/>
          </a:xfrm>
          <a:prstGeom prst="rect">
            <a:avLst/>
          </a:prstGeom>
          <a:noFill/>
          <a:ln/>
        </p:spPr>
        <p:txBody>
          <a:bodyPr wrap="square" lIns="0" tIns="0" rIns="0" bIns="0" rtlCol="0" anchor="ctr"/>
          <a:lstStyle/>
          <a:p>
            <a:pPr indent="0" marL="0">
              <a:buNone/>
            </a:pPr>
            <a:r>
              <a:rPr lang="en-US" sz="1600" b="1" dirty="0">
                <a:solidFill>
                  <a:schemeClr val="accent1"/>
                </a:solidFill>
              </a:rPr>
              <a:t>T1–T7</a:t>
            </a:r>
            <a:endParaRPr lang="en-US" sz="1600" dirty="0"/>
          </a:p>
        </p:txBody>
      </p:sp>
      <p:sp>
        <p:nvSpPr>
          <p:cNvPr id="34" name="Text 27"/>
          <p:cNvSpPr txBox="1"/>
          <p:nvPr/>
        </p:nvSpPr>
        <p:spPr>
          <a:xfrm>
            <a:off x="8686800" y="5431536"/>
            <a:ext cx="2834640" cy="640080"/>
          </a:xfrm>
          <a:prstGeom prst="rect">
            <a:avLst/>
          </a:prstGeom>
          <a:noFill/>
          <a:ln/>
        </p:spPr>
        <p:txBody>
          <a:bodyPr wrap="square" lIns="0" tIns="0" rIns="0" bIns="0" rtlCol="0" anchor="ctr"/>
          <a:lstStyle/>
          <a:p>
            <a:pPr indent="0" marL="0">
              <a:buNone/>
            </a:pPr>
            <a:r>
              <a:rPr lang="en-US" sz="1200" dirty="0">
                <a:solidFill>
                  <a:schemeClr val="tx1"/>
                </a:solidFill>
              </a:rPr>
              <a:t>07_dml_demo.sql: success and failure cases</a:t>
            </a:r>
            <a:endParaRPr lang="en-US" sz="12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lIns="0" tIns="0" rIns="0" bIns="0" rtlCol="0" anchor="ctr"/>
          <a:lstStyle/>
          <a:p>
            <a:pPr algn="l" indent="0" marL="0">
              <a:buNone/>
            </a:pPr>
            <a:r>
              <a:rPr lang="en-US" sz="3200" b="1" dirty="0">
                <a:solidFill>
                  <a:schemeClr val="tx1"/>
                </a:solidFill>
              </a:rPr>
              <a:t>Fifteen queries, each answering a clinic question</a:t>
            </a:r>
            <a:endParaRPr lang="en-US" sz="3200" dirty="0"/>
          </a:p>
        </p:txBody>
      </p:sp>
      <p:sp>
        <p:nvSpPr>
          <p:cNvPr id="3" name="card"/>
          <p:cNvSpPr/>
          <p:nvPr/>
        </p:nvSpPr>
        <p:spPr>
          <a:xfrm>
            <a:off x="548640" y="1371600"/>
            <a:ext cx="2084832" cy="1188720"/>
          </a:xfrm>
          <a:prstGeom prst="roundRect">
            <a:avLst>
              <a:gd name="adj" fmla="val 7692"/>
            </a:avLst>
          </a:prstGeom>
          <a:solidFill>
            <a:schemeClr val="bg2"/>
          </a:solidFill>
          <a:ln w="12700">
            <a:solidFill>
              <a:schemeClr val="accent6"/>
            </a:solidFill>
            <a:prstDash val="solid"/>
          </a:ln>
        </p:spPr>
      </p:sp>
      <p:sp>
        <p:nvSpPr>
          <p:cNvPr id="4" name="Text 2"/>
          <p:cNvSpPr txBox="1"/>
          <p:nvPr/>
        </p:nvSpPr>
        <p:spPr>
          <a:xfrm>
            <a:off x="713232" y="1481328"/>
            <a:ext cx="914400" cy="320040"/>
          </a:xfrm>
          <a:prstGeom prst="rect">
            <a:avLst/>
          </a:prstGeom>
          <a:noFill/>
          <a:ln/>
        </p:spPr>
        <p:txBody>
          <a:bodyPr wrap="square" lIns="0" tIns="0" rIns="0" bIns="0" rtlCol="0" anchor="t"/>
          <a:lstStyle/>
          <a:p>
            <a:pPr indent="0" marL="0">
              <a:buNone/>
            </a:pPr>
            <a:r>
              <a:rPr lang="en-US" sz="1500" b="1" dirty="0">
                <a:solidFill>
                  <a:schemeClr val="accent1"/>
                </a:solidFill>
              </a:rPr>
              <a:t>Q1</a:t>
            </a:r>
            <a:endParaRPr lang="en-US" sz="1500" dirty="0"/>
          </a:p>
        </p:txBody>
      </p:sp>
      <p:sp>
        <p:nvSpPr>
          <p:cNvPr id="5" name="Text 3"/>
          <p:cNvSpPr txBox="1"/>
          <p:nvPr/>
        </p:nvSpPr>
        <p:spPr>
          <a:xfrm>
            <a:off x="713232" y="1810512"/>
            <a:ext cx="1828800" cy="320040"/>
          </a:xfrm>
          <a:prstGeom prst="rect">
            <a:avLst/>
          </a:prstGeom>
          <a:noFill/>
          <a:ln/>
        </p:spPr>
        <p:txBody>
          <a:bodyPr wrap="square" lIns="0" tIns="0" rIns="0" bIns="0" rtlCol="0" anchor="t"/>
          <a:lstStyle/>
          <a:p>
            <a:pPr indent="0" marL="0">
              <a:buNone/>
            </a:pPr>
            <a:r>
              <a:rPr lang="en-US" sz="1300" b="1" dirty="0">
                <a:solidFill>
                  <a:schemeClr val="tx1"/>
                </a:solidFill>
              </a:rPr>
              <a:t>Today's schedule</a:t>
            </a:r>
            <a:endParaRPr lang="en-US" sz="1300" dirty="0"/>
          </a:p>
        </p:txBody>
      </p:sp>
      <p:sp>
        <p:nvSpPr>
          <p:cNvPr id="6" name="Text 4"/>
          <p:cNvSpPr txBox="1"/>
          <p:nvPr/>
        </p:nvSpPr>
        <p:spPr>
          <a:xfrm>
            <a:off x="713232" y="2148840"/>
            <a:ext cx="1828800" cy="292608"/>
          </a:xfrm>
          <a:prstGeom prst="rect">
            <a:avLst/>
          </a:prstGeom>
          <a:noFill/>
          <a:ln/>
        </p:spPr>
        <p:txBody>
          <a:bodyPr wrap="square" lIns="0" tIns="0" rIns="0" bIns="0" rtlCol="0" anchor="t"/>
          <a:lstStyle/>
          <a:p>
            <a:pPr indent="0" marL="0">
              <a:buNone/>
            </a:pPr>
            <a:r>
              <a:rPr lang="en-US" sz="1150" dirty="0">
                <a:solidFill>
                  <a:schemeClr val="accent5"/>
                </a:solidFill>
              </a:rPr>
              <a:t>3-table JOIN</a:t>
            </a:r>
            <a:endParaRPr lang="en-US" sz="1150" dirty="0"/>
          </a:p>
        </p:txBody>
      </p:sp>
      <p:sp>
        <p:nvSpPr>
          <p:cNvPr id="7" name="card"/>
          <p:cNvSpPr/>
          <p:nvPr/>
        </p:nvSpPr>
        <p:spPr>
          <a:xfrm>
            <a:off x="2779776" y="1371600"/>
            <a:ext cx="2084832" cy="1188720"/>
          </a:xfrm>
          <a:prstGeom prst="roundRect">
            <a:avLst>
              <a:gd name="adj" fmla="val 7692"/>
            </a:avLst>
          </a:prstGeom>
          <a:solidFill>
            <a:schemeClr val="bg2"/>
          </a:solidFill>
          <a:ln w="12700">
            <a:solidFill>
              <a:schemeClr val="accent6"/>
            </a:solidFill>
            <a:prstDash val="solid"/>
          </a:ln>
        </p:spPr>
      </p:sp>
      <p:sp>
        <p:nvSpPr>
          <p:cNvPr id="8" name="Text 6"/>
          <p:cNvSpPr txBox="1"/>
          <p:nvPr/>
        </p:nvSpPr>
        <p:spPr>
          <a:xfrm>
            <a:off x="2944368" y="1481328"/>
            <a:ext cx="914400" cy="320040"/>
          </a:xfrm>
          <a:prstGeom prst="rect">
            <a:avLst/>
          </a:prstGeom>
          <a:noFill/>
          <a:ln/>
        </p:spPr>
        <p:txBody>
          <a:bodyPr wrap="square" lIns="0" tIns="0" rIns="0" bIns="0" rtlCol="0" anchor="t"/>
          <a:lstStyle/>
          <a:p>
            <a:pPr indent="0" marL="0">
              <a:buNone/>
            </a:pPr>
            <a:r>
              <a:rPr lang="en-US" sz="1500" b="1" dirty="0">
                <a:solidFill>
                  <a:schemeClr val="accent1"/>
                </a:solidFill>
              </a:rPr>
              <a:t>Q2</a:t>
            </a:r>
            <a:endParaRPr lang="en-US" sz="1500" dirty="0"/>
          </a:p>
        </p:txBody>
      </p:sp>
      <p:sp>
        <p:nvSpPr>
          <p:cNvPr id="9" name="Text 7"/>
          <p:cNvSpPr txBox="1"/>
          <p:nvPr/>
        </p:nvSpPr>
        <p:spPr>
          <a:xfrm>
            <a:off x="2944368" y="1810512"/>
            <a:ext cx="1828800" cy="320040"/>
          </a:xfrm>
          <a:prstGeom prst="rect">
            <a:avLst/>
          </a:prstGeom>
          <a:noFill/>
          <a:ln/>
        </p:spPr>
        <p:txBody>
          <a:bodyPr wrap="square" lIns="0" tIns="0" rIns="0" bIns="0" rtlCol="0" anchor="t"/>
          <a:lstStyle/>
          <a:p>
            <a:pPr indent="0" marL="0">
              <a:buNone/>
            </a:pPr>
            <a:r>
              <a:rPr lang="en-US" sz="1300" b="1" dirty="0">
                <a:solidFill>
                  <a:schemeClr val="tx1"/>
                </a:solidFill>
              </a:rPr>
              <a:t>Overdue samples</a:t>
            </a:r>
            <a:endParaRPr lang="en-US" sz="1300" dirty="0"/>
          </a:p>
        </p:txBody>
      </p:sp>
      <p:sp>
        <p:nvSpPr>
          <p:cNvPr id="10" name="Text 8"/>
          <p:cNvSpPr txBox="1"/>
          <p:nvPr/>
        </p:nvSpPr>
        <p:spPr>
          <a:xfrm>
            <a:off x="2944368" y="2148840"/>
            <a:ext cx="1828800" cy="292608"/>
          </a:xfrm>
          <a:prstGeom prst="rect">
            <a:avLst/>
          </a:prstGeom>
          <a:noFill/>
          <a:ln/>
        </p:spPr>
        <p:txBody>
          <a:bodyPr wrap="square" lIns="0" tIns="0" rIns="0" bIns="0" rtlCol="0" anchor="t"/>
          <a:lstStyle/>
          <a:p>
            <a:pPr indent="0" marL="0">
              <a:buNone/>
            </a:pPr>
            <a:r>
              <a:rPr lang="en-US" sz="1150" dirty="0">
                <a:solidFill>
                  <a:schemeClr val="accent5"/>
                </a:solidFill>
              </a:rPr>
              <a:t>date arithmetic</a:t>
            </a:r>
            <a:endParaRPr lang="en-US" sz="1150" dirty="0"/>
          </a:p>
        </p:txBody>
      </p:sp>
      <p:sp>
        <p:nvSpPr>
          <p:cNvPr id="11" name="card"/>
          <p:cNvSpPr/>
          <p:nvPr/>
        </p:nvSpPr>
        <p:spPr>
          <a:xfrm>
            <a:off x="5010912" y="1371600"/>
            <a:ext cx="2084832" cy="1188720"/>
          </a:xfrm>
          <a:prstGeom prst="roundRect">
            <a:avLst>
              <a:gd name="adj" fmla="val 7692"/>
            </a:avLst>
          </a:prstGeom>
          <a:solidFill>
            <a:schemeClr val="bg2"/>
          </a:solidFill>
          <a:ln w="12700">
            <a:solidFill>
              <a:schemeClr val="accent6"/>
            </a:solidFill>
            <a:prstDash val="solid"/>
          </a:ln>
        </p:spPr>
      </p:sp>
      <p:sp>
        <p:nvSpPr>
          <p:cNvPr id="12" name="Text 10"/>
          <p:cNvSpPr txBox="1"/>
          <p:nvPr/>
        </p:nvSpPr>
        <p:spPr>
          <a:xfrm>
            <a:off x="5175504" y="1481328"/>
            <a:ext cx="914400" cy="320040"/>
          </a:xfrm>
          <a:prstGeom prst="rect">
            <a:avLst/>
          </a:prstGeom>
          <a:noFill/>
          <a:ln/>
        </p:spPr>
        <p:txBody>
          <a:bodyPr wrap="square" lIns="0" tIns="0" rIns="0" bIns="0" rtlCol="0" anchor="t"/>
          <a:lstStyle/>
          <a:p>
            <a:pPr indent="0" marL="0">
              <a:buNone/>
            </a:pPr>
            <a:r>
              <a:rPr lang="en-US" sz="1500" b="1" dirty="0">
                <a:solidFill>
                  <a:schemeClr val="accent1"/>
                </a:solidFill>
              </a:rPr>
              <a:t>Q3</a:t>
            </a:r>
            <a:endParaRPr lang="en-US" sz="1500" dirty="0"/>
          </a:p>
        </p:txBody>
      </p:sp>
      <p:sp>
        <p:nvSpPr>
          <p:cNvPr id="13" name="Text 11"/>
          <p:cNvSpPr txBox="1"/>
          <p:nvPr/>
        </p:nvSpPr>
        <p:spPr>
          <a:xfrm>
            <a:off x="5175504" y="1810512"/>
            <a:ext cx="1828800" cy="320040"/>
          </a:xfrm>
          <a:prstGeom prst="rect">
            <a:avLst/>
          </a:prstGeom>
          <a:noFill/>
          <a:ln/>
        </p:spPr>
        <p:txBody>
          <a:bodyPr wrap="square" lIns="0" tIns="0" rIns="0" bIns="0" rtlCol="0" anchor="t"/>
          <a:lstStyle/>
          <a:p>
            <a:pPr indent="0" marL="0">
              <a:buNone/>
            </a:pPr>
            <a:r>
              <a:rPr lang="en-US" sz="1300" b="1" dirty="0">
                <a:solidFill>
                  <a:schemeClr val="tx1"/>
                </a:solidFill>
              </a:rPr>
              <a:t>Abnormal results</a:t>
            </a:r>
            <a:endParaRPr lang="en-US" sz="1300" dirty="0"/>
          </a:p>
        </p:txBody>
      </p:sp>
      <p:sp>
        <p:nvSpPr>
          <p:cNvPr id="14" name="Text 12"/>
          <p:cNvSpPr txBox="1"/>
          <p:nvPr/>
        </p:nvSpPr>
        <p:spPr>
          <a:xfrm>
            <a:off x="5175504" y="2148840"/>
            <a:ext cx="1828800" cy="292608"/>
          </a:xfrm>
          <a:prstGeom prst="rect">
            <a:avLst/>
          </a:prstGeom>
          <a:noFill/>
          <a:ln/>
        </p:spPr>
        <p:txBody>
          <a:bodyPr wrap="square" lIns="0" tIns="0" rIns="0" bIns="0" rtlCol="0" anchor="t"/>
          <a:lstStyle/>
          <a:p>
            <a:pPr indent="0" marL="0">
              <a:buNone/>
            </a:pPr>
            <a:r>
              <a:rPr lang="en-US" sz="1150" dirty="0">
                <a:solidFill>
                  <a:schemeClr val="accent5"/>
                </a:solidFill>
              </a:rPr>
              <a:t>5-table + LEFT JOIN</a:t>
            </a:r>
            <a:endParaRPr lang="en-US" sz="1150" dirty="0"/>
          </a:p>
        </p:txBody>
      </p:sp>
      <p:sp>
        <p:nvSpPr>
          <p:cNvPr id="15" name="card"/>
          <p:cNvSpPr/>
          <p:nvPr/>
        </p:nvSpPr>
        <p:spPr>
          <a:xfrm>
            <a:off x="7242048" y="1371600"/>
            <a:ext cx="2084832" cy="1188720"/>
          </a:xfrm>
          <a:prstGeom prst="roundRect">
            <a:avLst>
              <a:gd name="adj" fmla="val 7692"/>
            </a:avLst>
          </a:prstGeom>
          <a:solidFill>
            <a:schemeClr val="bg2"/>
          </a:solidFill>
          <a:ln w="12700">
            <a:solidFill>
              <a:schemeClr val="accent6"/>
            </a:solidFill>
            <a:prstDash val="solid"/>
          </a:ln>
        </p:spPr>
      </p:sp>
      <p:sp>
        <p:nvSpPr>
          <p:cNvPr id="16" name="Text 14"/>
          <p:cNvSpPr txBox="1"/>
          <p:nvPr/>
        </p:nvSpPr>
        <p:spPr>
          <a:xfrm>
            <a:off x="7406640" y="1481328"/>
            <a:ext cx="914400" cy="320040"/>
          </a:xfrm>
          <a:prstGeom prst="rect">
            <a:avLst/>
          </a:prstGeom>
          <a:noFill/>
          <a:ln/>
        </p:spPr>
        <p:txBody>
          <a:bodyPr wrap="square" lIns="0" tIns="0" rIns="0" bIns="0" rtlCol="0" anchor="t"/>
          <a:lstStyle/>
          <a:p>
            <a:pPr indent="0" marL="0">
              <a:buNone/>
            </a:pPr>
            <a:r>
              <a:rPr lang="en-US" sz="1500" b="1" dirty="0">
                <a:solidFill>
                  <a:schemeClr val="accent1"/>
                </a:solidFill>
              </a:rPr>
              <a:t>Q4</a:t>
            </a:r>
            <a:endParaRPr lang="en-US" sz="1500" dirty="0"/>
          </a:p>
        </p:txBody>
      </p:sp>
      <p:sp>
        <p:nvSpPr>
          <p:cNvPr id="17" name="Text 15"/>
          <p:cNvSpPr txBox="1"/>
          <p:nvPr/>
        </p:nvSpPr>
        <p:spPr>
          <a:xfrm>
            <a:off x="7406640" y="1810512"/>
            <a:ext cx="1828800" cy="320040"/>
          </a:xfrm>
          <a:prstGeom prst="rect">
            <a:avLst/>
          </a:prstGeom>
          <a:noFill/>
          <a:ln/>
        </p:spPr>
        <p:txBody>
          <a:bodyPr wrap="square" lIns="0" tIns="0" rIns="0" bIns="0" rtlCol="0" anchor="t"/>
          <a:lstStyle/>
          <a:p>
            <a:pPr indent="0" marL="0">
              <a:buNone/>
            </a:pPr>
            <a:r>
              <a:rPr lang="en-US" sz="1300" b="1" dirty="0">
                <a:solidFill>
                  <a:schemeClr val="tx1"/>
                </a:solidFill>
              </a:rPr>
              <a:t>Revenue by day, mode</a:t>
            </a:r>
            <a:endParaRPr lang="en-US" sz="1300" dirty="0"/>
          </a:p>
        </p:txBody>
      </p:sp>
      <p:sp>
        <p:nvSpPr>
          <p:cNvPr id="18" name="Text 16"/>
          <p:cNvSpPr txBox="1"/>
          <p:nvPr/>
        </p:nvSpPr>
        <p:spPr>
          <a:xfrm>
            <a:off x="7406640" y="2148840"/>
            <a:ext cx="1828800" cy="292608"/>
          </a:xfrm>
          <a:prstGeom prst="rect">
            <a:avLst/>
          </a:prstGeom>
          <a:noFill/>
          <a:ln/>
        </p:spPr>
        <p:txBody>
          <a:bodyPr wrap="square" lIns="0" tIns="0" rIns="0" bIns="0" rtlCol="0" anchor="t"/>
          <a:lstStyle/>
          <a:p>
            <a:pPr indent="0" marL="0">
              <a:buNone/>
            </a:pPr>
            <a:r>
              <a:rPr lang="en-US" sz="1150" dirty="0">
                <a:solidFill>
                  <a:schemeClr val="accent5"/>
                </a:solidFill>
              </a:rPr>
              <a:t>GROUP BY 2 cols</a:t>
            </a:r>
            <a:endParaRPr lang="en-US" sz="1150" dirty="0"/>
          </a:p>
        </p:txBody>
      </p:sp>
      <p:sp>
        <p:nvSpPr>
          <p:cNvPr id="19" name="card"/>
          <p:cNvSpPr/>
          <p:nvPr/>
        </p:nvSpPr>
        <p:spPr>
          <a:xfrm>
            <a:off x="9473184" y="1371600"/>
            <a:ext cx="2084832" cy="1188720"/>
          </a:xfrm>
          <a:prstGeom prst="roundRect">
            <a:avLst>
              <a:gd name="adj" fmla="val 7692"/>
            </a:avLst>
          </a:prstGeom>
          <a:solidFill>
            <a:schemeClr val="bg2"/>
          </a:solidFill>
          <a:ln w="12700">
            <a:solidFill>
              <a:schemeClr val="accent6"/>
            </a:solidFill>
            <a:prstDash val="solid"/>
          </a:ln>
        </p:spPr>
      </p:sp>
      <p:sp>
        <p:nvSpPr>
          <p:cNvPr id="20" name="Text 18"/>
          <p:cNvSpPr txBox="1"/>
          <p:nvPr/>
        </p:nvSpPr>
        <p:spPr>
          <a:xfrm>
            <a:off x="9637776" y="1481328"/>
            <a:ext cx="914400" cy="320040"/>
          </a:xfrm>
          <a:prstGeom prst="rect">
            <a:avLst/>
          </a:prstGeom>
          <a:noFill/>
          <a:ln/>
        </p:spPr>
        <p:txBody>
          <a:bodyPr wrap="square" lIns="0" tIns="0" rIns="0" bIns="0" rtlCol="0" anchor="t"/>
          <a:lstStyle/>
          <a:p>
            <a:pPr indent="0" marL="0">
              <a:buNone/>
            </a:pPr>
            <a:r>
              <a:rPr lang="en-US" sz="1500" b="1" dirty="0">
                <a:solidFill>
                  <a:schemeClr val="accent1"/>
                </a:solidFill>
              </a:rPr>
              <a:t>Q5</a:t>
            </a:r>
            <a:endParaRPr lang="en-US" sz="1500" dirty="0"/>
          </a:p>
        </p:txBody>
      </p:sp>
      <p:sp>
        <p:nvSpPr>
          <p:cNvPr id="21" name="Text 19"/>
          <p:cNvSpPr txBox="1"/>
          <p:nvPr/>
        </p:nvSpPr>
        <p:spPr>
          <a:xfrm>
            <a:off x="9637776" y="1810512"/>
            <a:ext cx="1828800" cy="320040"/>
          </a:xfrm>
          <a:prstGeom prst="rect">
            <a:avLst/>
          </a:prstGeom>
          <a:noFill/>
          <a:ln/>
        </p:spPr>
        <p:txBody>
          <a:bodyPr wrap="square" lIns="0" tIns="0" rIns="0" bIns="0" rtlCol="0" anchor="t"/>
          <a:lstStyle/>
          <a:p>
            <a:pPr indent="0" marL="0">
              <a:buNone/>
            </a:pPr>
            <a:r>
              <a:rPr lang="en-US" sz="1300" b="1" dirty="0">
                <a:solidFill>
                  <a:schemeClr val="tx1"/>
                </a:solidFill>
              </a:rPr>
              <a:t>Busiest doctors</a:t>
            </a:r>
            <a:endParaRPr lang="en-US" sz="1300" dirty="0"/>
          </a:p>
        </p:txBody>
      </p:sp>
      <p:sp>
        <p:nvSpPr>
          <p:cNvPr id="22" name="Text 20"/>
          <p:cNvSpPr txBox="1"/>
          <p:nvPr/>
        </p:nvSpPr>
        <p:spPr>
          <a:xfrm>
            <a:off x="9637776" y="2148840"/>
            <a:ext cx="1828800" cy="292608"/>
          </a:xfrm>
          <a:prstGeom prst="rect">
            <a:avLst/>
          </a:prstGeom>
          <a:noFill/>
          <a:ln/>
        </p:spPr>
        <p:txBody>
          <a:bodyPr wrap="square" lIns="0" tIns="0" rIns="0" bIns="0" rtlCol="0" anchor="t"/>
          <a:lstStyle/>
          <a:p>
            <a:pPr indent="0" marL="0">
              <a:buNone/>
            </a:pPr>
            <a:r>
              <a:rPr lang="en-US" sz="1150" dirty="0">
                <a:solidFill>
                  <a:schemeClr val="accent5"/>
                </a:solidFill>
              </a:rPr>
              <a:t>HAVING</a:t>
            </a:r>
            <a:endParaRPr lang="en-US" sz="1150" dirty="0"/>
          </a:p>
        </p:txBody>
      </p:sp>
      <p:sp>
        <p:nvSpPr>
          <p:cNvPr id="23" name="card"/>
          <p:cNvSpPr/>
          <p:nvPr/>
        </p:nvSpPr>
        <p:spPr>
          <a:xfrm>
            <a:off x="548640" y="2697480"/>
            <a:ext cx="2084832" cy="1188720"/>
          </a:xfrm>
          <a:prstGeom prst="roundRect">
            <a:avLst>
              <a:gd name="adj" fmla="val 7692"/>
            </a:avLst>
          </a:prstGeom>
          <a:solidFill>
            <a:schemeClr val="bg2"/>
          </a:solidFill>
          <a:ln w="12700">
            <a:solidFill>
              <a:schemeClr val="accent6"/>
            </a:solidFill>
            <a:prstDash val="solid"/>
          </a:ln>
        </p:spPr>
      </p:sp>
      <p:sp>
        <p:nvSpPr>
          <p:cNvPr id="24" name="Text 22"/>
          <p:cNvSpPr txBox="1"/>
          <p:nvPr/>
        </p:nvSpPr>
        <p:spPr>
          <a:xfrm>
            <a:off x="713232" y="2807208"/>
            <a:ext cx="914400" cy="320040"/>
          </a:xfrm>
          <a:prstGeom prst="rect">
            <a:avLst/>
          </a:prstGeom>
          <a:noFill/>
          <a:ln/>
        </p:spPr>
        <p:txBody>
          <a:bodyPr wrap="square" lIns="0" tIns="0" rIns="0" bIns="0" rtlCol="0" anchor="t"/>
          <a:lstStyle/>
          <a:p>
            <a:pPr indent="0" marL="0">
              <a:buNone/>
            </a:pPr>
            <a:r>
              <a:rPr lang="en-US" sz="1500" b="1" dirty="0">
                <a:solidFill>
                  <a:schemeClr val="accent1"/>
                </a:solidFill>
              </a:rPr>
              <a:t>Q6</a:t>
            </a:r>
            <a:endParaRPr lang="en-US" sz="1500" dirty="0"/>
          </a:p>
        </p:txBody>
      </p:sp>
      <p:sp>
        <p:nvSpPr>
          <p:cNvPr id="25" name="Text 23"/>
          <p:cNvSpPr txBox="1"/>
          <p:nvPr/>
        </p:nvSpPr>
        <p:spPr>
          <a:xfrm>
            <a:off x="713232" y="3136392"/>
            <a:ext cx="1828800" cy="320040"/>
          </a:xfrm>
          <a:prstGeom prst="rect">
            <a:avLst/>
          </a:prstGeom>
          <a:noFill/>
          <a:ln/>
        </p:spPr>
        <p:txBody>
          <a:bodyPr wrap="square" lIns="0" tIns="0" rIns="0" bIns="0" rtlCol="0" anchor="t"/>
          <a:lstStyle/>
          <a:p>
            <a:pPr indent="0" marL="0">
              <a:buNone/>
            </a:pPr>
            <a:r>
              <a:rPr lang="en-US" sz="1300" b="1" dirty="0">
                <a:solidFill>
                  <a:schemeClr val="tx1"/>
                </a:solidFill>
              </a:rPr>
              <a:t>Dues above average</a:t>
            </a:r>
            <a:endParaRPr lang="en-US" sz="1300" dirty="0"/>
          </a:p>
        </p:txBody>
      </p:sp>
      <p:sp>
        <p:nvSpPr>
          <p:cNvPr id="26" name="Text 24"/>
          <p:cNvSpPr txBox="1"/>
          <p:nvPr/>
        </p:nvSpPr>
        <p:spPr>
          <a:xfrm>
            <a:off x="713232" y="3474720"/>
            <a:ext cx="1828800" cy="292608"/>
          </a:xfrm>
          <a:prstGeom prst="rect">
            <a:avLst/>
          </a:prstGeom>
          <a:noFill/>
          <a:ln/>
        </p:spPr>
        <p:txBody>
          <a:bodyPr wrap="square" lIns="0" tIns="0" rIns="0" bIns="0" rtlCol="0" anchor="t"/>
          <a:lstStyle/>
          <a:p>
            <a:pPr indent="0" marL="0">
              <a:buNone/>
            </a:pPr>
            <a:r>
              <a:rPr lang="en-US" sz="1150" dirty="0">
                <a:solidFill>
                  <a:schemeClr val="accent5"/>
                </a:solidFill>
              </a:rPr>
              <a:t>nested subquery</a:t>
            </a:r>
            <a:endParaRPr lang="en-US" sz="1150" dirty="0"/>
          </a:p>
        </p:txBody>
      </p:sp>
      <p:sp>
        <p:nvSpPr>
          <p:cNvPr id="27" name="card"/>
          <p:cNvSpPr/>
          <p:nvPr/>
        </p:nvSpPr>
        <p:spPr>
          <a:xfrm>
            <a:off x="2779776" y="2697480"/>
            <a:ext cx="2084832" cy="1188720"/>
          </a:xfrm>
          <a:prstGeom prst="roundRect">
            <a:avLst>
              <a:gd name="adj" fmla="val 7692"/>
            </a:avLst>
          </a:prstGeom>
          <a:solidFill>
            <a:schemeClr val="bg2"/>
          </a:solidFill>
          <a:ln w="12700">
            <a:solidFill>
              <a:schemeClr val="accent6"/>
            </a:solidFill>
            <a:prstDash val="solid"/>
          </a:ln>
        </p:spPr>
      </p:sp>
      <p:sp>
        <p:nvSpPr>
          <p:cNvPr id="28" name="Text 26"/>
          <p:cNvSpPr txBox="1"/>
          <p:nvPr/>
        </p:nvSpPr>
        <p:spPr>
          <a:xfrm>
            <a:off x="2944368" y="2807208"/>
            <a:ext cx="914400" cy="320040"/>
          </a:xfrm>
          <a:prstGeom prst="rect">
            <a:avLst/>
          </a:prstGeom>
          <a:noFill/>
          <a:ln/>
        </p:spPr>
        <p:txBody>
          <a:bodyPr wrap="square" lIns="0" tIns="0" rIns="0" bIns="0" rtlCol="0" anchor="t"/>
          <a:lstStyle/>
          <a:p>
            <a:pPr indent="0" marL="0">
              <a:buNone/>
            </a:pPr>
            <a:r>
              <a:rPr lang="en-US" sz="1500" b="1" dirty="0">
                <a:solidFill>
                  <a:schemeClr val="accent1"/>
                </a:solidFill>
              </a:rPr>
              <a:t>Q7</a:t>
            </a:r>
            <a:endParaRPr lang="en-US" sz="1500" dirty="0"/>
          </a:p>
        </p:txBody>
      </p:sp>
      <p:sp>
        <p:nvSpPr>
          <p:cNvPr id="29" name="Text 27"/>
          <p:cNvSpPr txBox="1"/>
          <p:nvPr/>
        </p:nvSpPr>
        <p:spPr>
          <a:xfrm>
            <a:off x="2944368" y="3136392"/>
            <a:ext cx="1828800" cy="320040"/>
          </a:xfrm>
          <a:prstGeom prst="rect">
            <a:avLst/>
          </a:prstGeom>
          <a:noFill/>
          <a:ln/>
        </p:spPr>
        <p:txBody>
          <a:bodyPr wrap="square" lIns="0" tIns="0" rIns="0" bIns="0" rtlCol="0" anchor="t"/>
          <a:lstStyle/>
          <a:p>
            <a:pPr indent="0" marL="0">
              <a:buNone/>
            </a:pPr>
            <a:r>
              <a:rPr lang="en-US" sz="1300" b="1" dirty="0">
                <a:solidFill>
                  <a:schemeClr val="tx1"/>
                </a:solidFill>
              </a:rPr>
              <a:t>Never-ordered tests</a:t>
            </a:r>
            <a:endParaRPr lang="en-US" sz="1300" dirty="0"/>
          </a:p>
        </p:txBody>
      </p:sp>
      <p:sp>
        <p:nvSpPr>
          <p:cNvPr id="30" name="Text 28"/>
          <p:cNvSpPr txBox="1"/>
          <p:nvPr/>
        </p:nvSpPr>
        <p:spPr>
          <a:xfrm>
            <a:off x="2944368" y="3474720"/>
            <a:ext cx="1828800" cy="292608"/>
          </a:xfrm>
          <a:prstGeom prst="rect">
            <a:avLst/>
          </a:prstGeom>
          <a:noFill/>
          <a:ln/>
        </p:spPr>
        <p:txBody>
          <a:bodyPr wrap="square" lIns="0" tIns="0" rIns="0" bIns="0" rtlCol="0" anchor="t"/>
          <a:lstStyle/>
          <a:p>
            <a:pPr indent="0" marL="0">
              <a:buNone/>
            </a:pPr>
            <a:r>
              <a:rPr lang="en-US" sz="1150" dirty="0">
                <a:solidFill>
                  <a:schemeClr val="accent5"/>
                </a:solidFill>
              </a:rPr>
              <a:t>NOT EXISTS</a:t>
            </a:r>
            <a:endParaRPr lang="en-US" sz="1150" dirty="0"/>
          </a:p>
        </p:txBody>
      </p:sp>
      <p:sp>
        <p:nvSpPr>
          <p:cNvPr id="31" name="card"/>
          <p:cNvSpPr/>
          <p:nvPr/>
        </p:nvSpPr>
        <p:spPr>
          <a:xfrm>
            <a:off x="5010912" y="2697480"/>
            <a:ext cx="2084832" cy="1188720"/>
          </a:xfrm>
          <a:prstGeom prst="roundRect">
            <a:avLst>
              <a:gd name="adj" fmla="val 7692"/>
            </a:avLst>
          </a:prstGeom>
          <a:solidFill>
            <a:schemeClr val="bg2"/>
          </a:solidFill>
          <a:ln w="12700">
            <a:solidFill>
              <a:schemeClr val="accent6"/>
            </a:solidFill>
            <a:prstDash val="solid"/>
          </a:ln>
        </p:spPr>
      </p:sp>
      <p:sp>
        <p:nvSpPr>
          <p:cNvPr id="32" name="Text 30"/>
          <p:cNvSpPr txBox="1"/>
          <p:nvPr/>
        </p:nvSpPr>
        <p:spPr>
          <a:xfrm>
            <a:off x="5175504" y="2807208"/>
            <a:ext cx="914400" cy="320040"/>
          </a:xfrm>
          <a:prstGeom prst="rect">
            <a:avLst/>
          </a:prstGeom>
          <a:noFill/>
          <a:ln/>
        </p:spPr>
        <p:txBody>
          <a:bodyPr wrap="square" lIns="0" tIns="0" rIns="0" bIns="0" rtlCol="0" anchor="t"/>
          <a:lstStyle/>
          <a:p>
            <a:pPr indent="0" marL="0">
              <a:buNone/>
            </a:pPr>
            <a:r>
              <a:rPr lang="en-US" sz="1500" b="1" dirty="0">
                <a:solidFill>
                  <a:schemeClr val="accent1"/>
                </a:solidFill>
              </a:rPr>
              <a:t>Q8</a:t>
            </a:r>
            <a:endParaRPr lang="en-US" sz="1500" dirty="0"/>
          </a:p>
        </p:txBody>
      </p:sp>
      <p:sp>
        <p:nvSpPr>
          <p:cNvPr id="33" name="Text 31"/>
          <p:cNvSpPr txBox="1"/>
          <p:nvPr/>
        </p:nvSpPr>
        <p:spPr>
          <a:xfrm>
            <a:off x="5175504" y="3136392"/>
            <a:ext cx="1828800" cy="320040"/>
          </a:xfrm>
          <a:prstGeom prst="rect">
            <a:avLst/>
          </a:prstGeom>
          <a:noFill/>
          <a:ln/>
        </p:spPr>
        <p:txBody>
          <a:bodyPr wrap="square" lIns="0" tIns="0" rIns="0" bIns="0" rtlCol="0" anchor="t"/>
          <a:lstStyle/>
          <a:p>
            <a:pPr indent="0" marL="0">
              <a:buNone/>
            </a:pPr>
            <a:r>
              <a:rPr lang="en-US" sz="1300" b="1" dirty="0">
                <a:solidFill>
                  <a:schemeClr val="tx1"/>
                </a:solidFill>
              </a:rPr>
              <a:t>Top test per category</a:t>
            </a:r>
            <a:endParaRPr lang="en-US" sz="1300" dirty="0"/>
          </a:p>
        </p:txBody>
      </p:sp>
      <p:sp>
        <p:nvSpPr>
          <p:cNvPr id="34" name="Text 32"/>
          <p:cNvSpPr txBox="1"/>
          <p:nvPr/>
        </p:nvSpPr>
        <p:spPr>
          <a:xfrm>
            <a:off x="5175504" y="3474720"/>
            <a:ext cx="1828800" cy="292608"/>
          </a:xfrm>
          <a:prstGeom prst="rect">
            <a:avLst/>
          </a:prstGeom>
          <a:noFill/>
          <a:ln/>
        </p:spPr>
        <p:txBody>
          <a:bodyPr wrap="square" lIns="0" tIns="0" rIns="0" bIns="0" rtlCol="0" anchor="t"/>
          <a:lstStyle/>
          <a:p>
            <a:pPr indent="0" marL="0">
              <a:buNone/>
            </a:pPr>
            <a:r>
              <a:rPr lang="en-US" sz="1150" dirty="0">
                <a:solidFill>
                  <a:schemeClr val="accent5"/>
                </a:solidFill>
              </a:rPr>
              <a:t>RANK() OVER</a:t>
            </a:r>
            <a:endParaRPr lang="en-US" sz="1150" dirty="0"/>
          </a:p>
        </p:txBody>
      </p:sp>
      <p:sp>
        <p:nvSpPr>
          <p:cNvPr id="35" name="card"/>
          <p:cNvSpPr/>
          <p:nvPr/>
        </p:nvSpPr>
        <p:spPr>
          <a:xfrm>
            <a:off x="7242048" y="2697480"/>
            <a:ext cx="2084832" cy="1188720"/>
          </a:xfrm>
          <a:prstGeom prst="roundRect">
            <a:avLst>
              <a:gd name="adj" fmla="val 7692"/>
            </a:avLst>
          </a:prstGeom>
          <a:solidFill>
            <a:schemeClr val="bg2"/>
          </a:solidFill>
          <a:ln w="12700">
            <a:solidFill>
              <a:schemeClr val="accent6"/>
            </a:solidFill>
            <a:prstDash val="solid"/>
          </a:ln>
        </p:spPr>
      </p:sp>
      <p:sp>
        <p:nvSpPr>
          <p:cNvPr id="36" name="Text 34"/>
          <p:cNvSpPr txBox="1"/>
          <p:nvPr/>
        </p:nvSpPr>
        <p:spPr>
          <a:xfrm>
            <a:off x="7406640" y="2807208"/>
            <a:ext cx="914400" cy="320040"/>
          </a:xfrm>
          <a:prstGeom prst="rect">
            <a:avLst/>
          </a:prstGeom>
          <a:noFill/>
          <a:ln/>
        </p:spPr>
        <p:txBody>
          <a:bodyPr wrap="square" lIns="0" tIns="0" rIns="0" bIns="0" rtlCol="0" anchor="t"/>
          <a:lstStyle/>
          <a:p>
            <a:pPr indent="0" marL="0">
              <a:buNone/>
            </a:pPr>
            <a:r>
              <a:rPr lang="en-US" sz="1500" b="1" dirty="0">
                <a:solidFill>
                  <a:schemeClr val="accent1"/>
                </a:solidFill>
              </a:rPr>
              <a:t>Q9</a:t>
            </a:r>
            <a:endParaRPr lang="en-US" sz="1500" dirty="0"/>
          </a:p>
        </p:txBody>
      </p:sp>
      <p:sp>
        <p:nvSpPr>
          <p:cNvPr id="37" name="Text 35"/>
          <p:cNvSpPr txBox="1"/>
          <p:nvPr/>
        </p:nvSpPr>
        <p:spPr>
          <a:xfrm>
            <a:off x="7406640" y="3136392"/>
            <a:ext cx="1828800" cy="320040"/>
          </a:xfrm>
          <a:prstGeom prst="rect">
            <a:avLst/>
          </a:prstGeom>
          <a:noFill/>
          <a:ln/>
        </p:spPr>
        <p:txBody>
          <a:bodyPr wrap="square" lIns="0" tIns="0" rIns="0" bIns="0" rtlCol="0" anchor="t"/>
          <a:lstStyle/>
          <a:p>
            <a:pPr indent="0" marL="0">
              <a:buNone/>
            </a:pPr>
            <a:r>
              <a:rPr lang="en-US" sz="1300" b="1" dirty="0">
                <a:solidFill>
                  <a:schemeClr val="tx1"/>
                </a:solidFill>
              </a:rPr>
              <a:t>Patients, &gt;1 doctor</a:t>
            </a:r>
            <a:endParaRPr lang="en-US" sz="1300" dirty="0"/>
          </a:p>
        </p:txBody>
      </p:sp>
      <p:sp>
        <p:nvSpPr>
          <p:cNvPr id="38" name="Text 36"/>
          <p:cNvSpPr txBox="1"/>
          <p:nvPr/>
        </p:nvSpPr>
        <p:spPr>
          <a:xfrm>
            <a:off x="7406640" y="3474720"/>
            <a:ext cx="1828800" cy="292608"/>
          </a:xfrm>
          <a:prstGeom prst="rect">
            <a:avLst/>
          </a:prstGeom>
          <a:noFill/>
          <a:ln/>
        </p:spPr>
        <p:txBody>
          <a:bodyPr wrap="square" lIns="0" tIns="0" rIns="0" bIns="0" rtlCol="0" anchor="t"/>
          <a:lstStyle/>
          <a:p>
            <a:pPr indent="0" marL="0">
              <a:buNone/>
            </a:pPr>
            <a:r>
              <a:rPr lang="en-US" sz="1150" dirty="0">
                <a:solidFill>
                  <a:schemeClr val="accent5"/>
                </a:solidFill>
              </a:rPr>
              <a:t>COUNT DISTINCT, LISTAGG</a:t>
            </a:r>
            <a:endParaRPr lang="en-US" sz="1150" dirty="0"/>
          </a:p>
        </p:txBody>
      </p:sp>
      <p:sp>
        <p:nvSpPr>
          <p:cNvPr id="39" name="card"/>
          <p:cNvSpPr/>
          <p:nvPr/>
        </p:nvSpPr>
        <p:spPr>
          <a:xfrm>
            <a:off x="9473184" y="2697480"/>
            <a:ext cx="2084832" cy="1188720"/>
          </a:xfrm>
          <a:prstGeom prst="roundRect">
            <a:avLst>
              <a:gd name="adj" fmla="val 7692"/>
            </a:avLst>
          </a:prstGeom>
          <a:solidFill>
            <a:schemeClr val="bg2"/>
          </a:solidFill>
          <a:ln w="12700">
            <a:solidFill>
              <a:schemeClr val="accent6"/>
            </a:solidFill>
            <a:prstDash val="solid"/>
          </a:ln>
        </p:spPr>
      </p:sp>
      <p:sp>
        <p:nvSpPr>
          <p:cNvPr id="40" name="Text 38"/>
          <p:cNvSpPr txBox="1"/>
          <p:nvPr/>
        </p:nvSpPr>
        <p:spPr>
          <a:xfrm>
            <a:off x="9637776" y="2807208"/>
            <a:ext cx="914400" cy="320040"/>
          </a:xfrm>
          <a:prstGeom prst="rect">
            <a:avLst/>
          </a:prstGeom>
          <a:noFill/>
          <a:ln/>
        </p:spPr>
        <p:txBody>
          <a:bodyPr wrap="square" lIns="0" tIns="0" rIns="0" bIns="0" rtlCol="0" anchor="t"/>
          <a:lstStyle/>
          <a:p>
            <a:pPr indent="0" marL="0">
              <a:buNone/>
            </a:pPr>
            <a:r>
              <a:rPr lang="en-US" sz="1500" b="1" dirty="0">
                <a:solidFill>
                  <a:schemeClr val="accent1"/>
                </a:solidFill>
              </a:rPr>
              <a:t>Q10</a:t>
            </a:r>
            <a:endParaRPr lang="en-US" sz="1500" dirty="0"/>
          </a:p>
        </p:txBody>
      </p:sp>
      <p:sp>
        <p:nvSpPr>
          <p:cNvPr id="41" name="Text 39"/>
          <p:cNvSpPr txBox="1"/>
          <p:nvPr/>
        </p:nvSpPr>
        <p:spPr>
          <a:xfrm>
            <a:off x="9637776" y="3136392"/>
            <a:ext cx="1828800" cy="320040"/>
          </a:xfrm>
          <a:prstGeom prst="rect">
            <a:avLst/>
          </a:prstGeom>
          <a:noFill/>
          <a:ln/>
        </p:spPr>
        <p:txBody>
          <a:bodyPr wrap="square" lIns="0" tIns="0" rIns="0" bIns="0" rtlCol="0" anchor="t"/>
          <a:lstStyle/>
          <a:p>
            <a:pPr indent="0" marL="0">
              <a:buNone/>
            </a:pPr>
            <a:r>
              <a:rPr lang="en-US" sz="1300" b="1" dirty="0">
                <a:solidFill>
                  <a:schemeClr val="tx1"/>
                </a:solidFill>
              </a:rPr>
              <a:t>Completed, not billed</a:t>
            </a:r>
            <a:endParaRPr lang="en-US" sz="1300" dirty="0"/>
          </a:p>
        </p:txBody>
      </p:sp>
      <p:sp>
        <p:nvSpPr>
          <p:cNvPr id="42" name="Text 40"/>
          <p:cNvSpPr txBox="1"/>
          <p:nvPr/>
        </p:nvSpPr>
        <p:spPr>
          <a:xfrm>
            <a:off x="9637776" y="3474720"/>
            <a:ext cx="1828800" cy="292608"/>
          </a:xfrm>
          <a:prstGeom prst="rect">
            <a:avLst/>
          </a:prstGeom>
          <a:noFill/>
          <a:ln/>
        </p:spPr>
        <p:txBody>
          <a:bodyPr wrap="square" lIns="0" tIns="0" rIns="0" bIns="0" rtlCol="0" anchor="t"/>
          <a:lstStyle/>
          <a:p>
            <a:pPr indent="0" marL="0">
              <a:buNone/>
            </a:pPr>
            <a:r>
              <a:rPr lang="en-US" sz="1150" dirty="0">
                <a:solidFill>
                  <a:schemeClr val="accent5"/>
                </a:solidFill>
              </a:rPr>
              <a:t>LEFT JOIN … IS NULL</a:t>
            </a:r>
            <a:endParaRPr lang="en-US" sz="1150" dirty="0"/>
          </a:p>
        </p:txBody>
      </p:sp>
      <p:sp>
        <p:nvSpPr>
          <p:cNvPr id="43" name="card"/>
          <p:cNvSpPr/>
          <p:nvPr/>
        </p:nvSpPr>
        <p:spPr>
          <a:xfrm>
            <a:off x="548640" y="4023360"/>
            <a:ext cx="2084832" cy="1188720"/>
          </a:xfrm>
          <a:prstGeom prst="roundRect">
            <a:avLst>
              <a:gd name="adj" fmla="val 7692"/>
            </a:avLst>
          </a:prstGeom>
          <a:solidFill>
            <a:schemeClr val="bg2"/>
          </a:solidFill>
          <a:ln w="12700">
            <a:solidFill>
              <a:schemeClr val="accent6"/>
            </a:solidFill>
            <a:prstDash val="solid"/>
          </a:ln>
        </p:spPr>
      </p:sp>
      <p:sp>
        <p:nvSpPr>
          <p:cNvPr id="44" name="Text 42"/>
          <p:cNvSpPr txBox="1"/>
          <p:nvPr/>
        </p:nvSpPr>
        <p:spPr>
          <a:xfrm>
            <a:off x="713232" y="4133088"/>
            <a:ext cx="914400" cy="320040"/>
          </a:xfrm>
          <a:prstGeom prst="rect">
            <a:avLst/>
          </a:prstGeom>
          <a:noFill/>
          <a:ln/>
        </p:spPr>
        <p:txBody>
          <a:bodyPr wrap="square" lIns="0" tIns="0" rIns="0" bIns="0" rtlCol="0" anchor="t"/>
          <a:lstStyle/>
          <a:p>
            <a:pPr indent="0" marL="0">
              <a:buNone/>
            </a:pPr>
            <a:r>
              <a:rPr lang="en-US" sz="1500" b="1" dirty="0">
                <a:solidFill>
                  <a:schemeClr val="accent1"/>
                </a:solidFill>
              </a:rPr>
              <a:t>Q11</a:t>
            </a:r>
            <a:endParaRPr lang="en-US" sz="1500" dirty="0"/>
          </a:p>
        </p:txBody>
      </p:sp>
      <p:sp>
        <p:nvSpPr>
          <p:cNvPr id="45" name="Text 43"/>
          <p:cNvSpPr txBox="1"/>
          <p:nvPr/>
        </p:nvSpPr>
        <p:spPr>
          <a:xfrm>
            <a:off x="713232" y="4462272"/>
            <a:ext cx="1828800" cy="320040"/>
          </a:xfrm>
          <a:prstGeom prst="rect">
            <a:avLst/>
          </a:prstGeom>
          <a:noFill/>
          <a:ln/>
        </p:spPr>
        <p:txBody>
          <a:bodyPr wrap="square" lIns="0" tIns="0" rIns="0" bIns="0" rtlCol="0" anchor="t"/>
          <a:lstStyle/>
          <a:p>
            <a:pPr indent="0" marL="0">
              <a:buNone/>
            </a:pPr>
            <a:r>
              <a:rPr lang="en-US" sz="1300" b="1" dirty="0">
                <a:solidFill>
                  <a:schemeClr val="tx1"/>
                </a:solidFill>
              </a:rPr>
              <a:t>Average vs normal range</a:t>
            </a:r>
            <a:endParaRPr lang="en-US" sz="1300" dirty="0"/>
          </a:p>
        </p:txBody>
      </p:sp>
      <p:sp>
        <p:nvSpPr>
          <p:cNvPr id="46" name="Text 44"/>
          <p:cNvSpPr txBox="1"/>
          <p:nvPr/>
        </p:nvSpPr>
        <p:spPr>
          <a:xfrm>
            <a:off x="713232" y="4800600"/>
            <a:ext cx="1828800" cy="292608"/>
          </a:xfrm>
          <a:prstGeom prst="rect">
            <a:avLst/>
          </a:prstGeom>
          <a:noFill/>
          <a:ln/>
        </p:spPr>
        <p:txBody>
          <a:bodyPr wrap="square" lIns="0" tIns="0" rIns="0" bIns="0" rtlCol="0" anchor="t"/>
          <a:lstStyle/>
          <a:p>
            <a:pPr indent="0" marL="0">
              <a:buNone/>
            </a:pPr>
            <a:r>
              <a:rPr lang="en-US" sz="1150" dirty="0">
                <a:solidFill>
                  <a:schemeClr val="accent5"/>
                </a:solidFill>
              </a:rPr>
              <a:t>AVG + CASE</a:t>
            </a:r>
            <a:endParaRPr lang="en-US" sz="1150" dirty="0"/>
          </a:p>
        </p:txBody>
      </p:sp>
      <p:sp>
        <p:nvSpPr>
          <p:cNvPr id="47" name="card"/>
          <p:cNvSpPr/>
          <p:nvPr/>
        </p:nvSpPr>
        <p:spPr>
          <a:xfrm>
            <a:off x="2779776" y="4023360"/>
            <a:ext cx="2084832" cy="1188720"/>
          </a:xfrm>
          <a:prstGeom prst="roundRect">
            <a:avLst>
              <a:gd name="adj" fmla="val 7692"/>
            </a:avLst>
          </a:prstGeom>
          <a:solidFill>
            <a:schemeClr val="bg2"/>
          </a:solidFill>
          <a:ln w="12700">
            <a:solidFill>
              <a:schemeClr val="accent6"/>
            </a:solidFill>
            <a:prstDash val="solid"/>
          </a:ln>
        </p:spPr>
      </p:sp>
      <p:sp>
        <p:nvSpPr>
          <p:cNvPr id="48" name="Text 46"/>
          <p:cNvSpPr txBox="1"/>
          <p:nvPr/>
        </p:nvSpPr>
        <p:spPr>
          <a:xfrm>
            <a:off x="2944368" y="4133088"/>
            <a:ext cx="914400" cy="320040"/>
          </a:xfrm>
          <a:prstGeom prst="rect">
            <a:avLst/>
          </a:prstGeom>
          <a:noFill/>
          <a:ln/>
        </p:spPr>
        <p:txBody>
          <a:bodyPr wrap="square" lIns="0" tIns="0" rIns="0" bIns="0" rtlCol="0" anchor="t"/>
          <a:lstStyle/>
          <a:p>
            <a:pPr indent="0" marL="0">
              <a:buNone/>
            </a:pPr>
            <a:r>
              <a:rPr lang="en-US" sz="1500" b="1" dirty="0">
                <a:solidFill>
                  <a:schemeClr val="accent1"/>
                </a:solidFill>
              </a:rPr>
              <a:t>Q12</a:t>
            </a:r>
            <a:endParaRPr lang="en-US" sz="1500" dirty="0"/>
          </a:p>
        </p:txBody>
      </p:sp>
      <p:sp>
        <p:nvSpPr>
          <p:cNvPr id="49" name="Text 47"/>
          <p:cNvSpPr txBox="1"/>
          <p:nvPr/>
        </p:nvSpPr>
        <p:spPr>
          <a:xfrm>
            <a:off x="2944368" y="4462272"/>
            <a:ext cx="1828800" cy="320040"/>
          </a:xfrm>
          <a:prstGeom prst="rect">
            <a:avLst/>
          </a:prstGeom>
          <a:noFill/>
          <a:ln/>
        </p:spPr>
        <p:txBody>
          <a:bodyPr wrap="square" lIns="0" tIns="0" rIns="0" bIns="0" rtlCol="0" anchor="t"/>
          <a:lstStyle/>
          <a:p>
            <a:pPr indent="0" marL="0">
              <a:buNone/>
            </a:pPr>
            <a:r>
              <a:rPr lang="en-US" sz="1300" b="1" dirty="0">
                <a:solidFill>
                  <a:schemeClr val="tx1"/>
                </a:solidFill>
              </a:rPr>
              <a:t>Doctor revenue share</a:t>
            </a:r>
            <a:endParaRPr lang="en-US" sz="1300" dirty="0"/>
          </a:p>
        </p:txBody>
      </p:sp>
      <p:sp>
        <p:nvSpPr>
          <p:cNvPr id="50" name="Text 48"/>
          <p:cNvSpPr txBox="1"/>
          <p:nvPr/>
        </p:nvSpPr>
        <p:spPr>
          <a:xfrm>
            <a:off x="2944368" y="4800600"/>
            <a:ext cx="1828800" cy="292608"/>
          </a:xfrm>
          <a:prstGeom prst="rect">
            <a:avLst/>
          </a:prstGeom>
          <a:noFill/>
          <a:ln/>
        </p:spPr>
        <p:txBody>
          <a:bodyPr wrap="square" lIns="0" tIns="0" rIns="0" bIns="0" rtlCol="0" anchor="t"/>
          <a:lstStyle/>
          <a:p>
            <a:pPr indent="0" marL="0">
              <a:buNone/>
            </a:pPr>
            <a:r>
              <a:rPr lang="en-US" sz="1150" dirty="0">
                <a:solidFill>
                  <a:schemeClr val="accent5"/>
                </a:solidFill>
              </a:rPr>
              <a:t>scalar subquery</a:t>
            </a:r>
            <a:endParaRPr lang="en-US" sz="1150" dirty="0"/>
          </a:p>
        </p:txBody>
      </p:sp>
      <p:sp>
        <p:nvSpPr>
          <p:cNvPr id="51" name="card"/>
          <p:cNvSpPr/>
          <p:nvPr/>
        </p:nvSpPr>
        <p:spPr>
          <a:xfrm>
            <a:off x="5010912" y="4023360"/>
            <a:ext cx="2084832" cy="1188720"/>
          </a:xfrm>
          <a:prstGeom prst="roundRect">
            <a:avLst>
              <a:gd name="adj" fmla="val 7692"/>
            </a:avLst>
          </a:prstGeom>
          <a:solidFill>
            <a:schemeClr val="bg2"/>
          </a:solidFill>
          <a:ln w="12700">
            <a:solidFill>
              <a:schemeClr val="accent6"/>
            </a:solidFill>
            <a:prstDash val="solid"/>
          </a:ln>
        </p:spPr>
      </p:sp>
      <p:sp>
        <p:nvSpPr>
          <p:cNvPr id="52" name="Text 50"/>
          <p:cNvSpPr txBox="1"/>
          <p:nvPr/>
        </p:nvSpPr>
        <p:spPr>
          <a:xfrm>
            <a:off x="5175504" y="4133088"/>
            <a:ext cx="914400" cy="320040"/>
          </a:xfrm>
          <a:prstGeom prst="rect">
            <a:avLst/>
          </a:prstGeom>
          <a:noFill/>
          <a:ln/>
        </p:spPr>
        <p:txBody>
          <a:bodyPr wrap="square" lIns="0" tIns="0" rIns="0" bIns="0" rtlCol="0" anchor="t"/>
          <a:lstStyle/>
          <a:p>
            <a:pPr indent="0" marL="0">
              <a:buNone/>
            </a:pPr>
            <a:r>
              <a:rPr lang="en-US" sz="1500" b="1" dirty="0">
                <a:solidFill>
                  <a:schemeClr val="accent1"/>
                </a:solidFill>
              </a:rPr>
              <a:t>Q13</a:t>
            </a:r>
            <a:endParaRPr lang="en-US" sz="1500" dirty="0"/>
          </a:p>
        </p:txBody>
      </p:sp>
      <p:sp>
        <p:nvSpPr>
          <p:cNvPr id="53" name="Text 51"/>
          <p:cNvSpPr txBox="1"/>
          <p:nvPr/>
        </p:nvSpPr>
        <p:spPr>
          <a:xfrm>
            <a:off x="5175504" y="4462272"/>
            <a:ext cx="1828800" cy="320040"/>
          </a:xfrm>
          <a:prstGeom prst="rect">
            <a:avLst/>
          </a:prstGeom>
          <a:noFill/>
          <a:ln/>
        </p:spPr>
        <p:txBody>
          <a:bodyPr wrap="square" lIns="0" tIns="0" rIns="0" bIns="0" rtlCol="0" anchor="t"/>
          <a:lstStyle/>
          <a:p>
            <a:pPr indent="0" marL="0">
              <a:buNone/>
            </a:pPr>
            <a:r>
              <a:rPr lang="en-US" sz="1300" b="1" dirty="0">
                <a:solidFill>
                  <a:schemeClr val="tx1"/>
                </a:solidFill>
              </a:rPr>
              <a:t>Both HIGH and LOW</a:t>
            </a:r>
            <a:endParaRPr lang="en-US" sz="1300" dirty="0"/>
          </a:p>
        </p:txBody>
      </p:sp>
      <p:sp>
        <p:nvSpPr>
          <p:cNvPr id="54" name="Text 52"/>
          <p:cNvSpPr txBox="1"/>
          <p:nvPr/>
        </p:nvSpPr>
        <p:spPr>
          <a:xfrm>
            <a:off x="5175504" y="4800600"/>
            <a:ext cx="1828800" cy="292608"/>
          </a:xfrm>
          <a:prstGeom prst="rect">
            <a:avLst/>
          </a:prstGeom>
          <a:noFill/>
          <a:ln/>
        </p:spPr>
        <p:txBody>
          <a:bodyPr wrap="square" lIns="0" tIns="0" rIns="0" bIns="0" rtlCol="0" anchor="t"/>
          <a:lstStyle/>
          <a:p>
            <a:pPr indent="0" marL="0">
              <a:buNone/>
            </a:pPr>
            <a:r>
              <a:rPr lang="en-US" sz="1150" dirty="0">
                <a:solidFill>
                  <a:schemeClr val="accent5"/>
                </a:solidFill>
              </a:rPr>
              <a:t>INTERSECT</a:t>
            </a:r>
            <a:endParaRPr lang="en-US" sz="1150" dirty="0"/>
          </a:p>
        </p:txBody>
      </p:sp>
      <p:sp>
        <p:nvSpPr>
          <p:cNvPr id="55" name="card"/>
          <p:cNvSpPr/>
          <p:nvPr/>
        </p:nvSpPr>
        <p:spPr>
          <a:xfrm>
            <a:off x="7242048" y="4023360"/>
            <a:ext cx="2084832" cy="1188720"/>
          </a:xfrm>
          <a:prstGeom prst="roundRect">
            <a:avLst>
              <a:gd name="adj" fmla="val 7692"/>
            </a:avLst>
          </a:prstGeom>
          <a:solidFill>
            <a:schemeClr val="bg2"/>
          </a:solidFill>
          <a:ln w="12700">
            <a:solidFill>
              <a:schemeClr val="accent6"/>
            </a:solidFill>
            <a:prstDash val="solid"/>
          </a:ln>
        </p:spPr>
      </p:sp>
      <p:sp>
        <p:nvSpPr>
          <p:cNvPr id="56" name="Text 54"/>
          <p:cNvSpPr txBox="1"/>
          <p:nvPr/>
        </p:nvSpPr>
        <p:spPr>
          <a:xfrm>
            <a:off x="7406640" y="4133088"/>
            <a:ext cx="914400" cy="320040"/>
          </a:xfrm>
          <a:prstGeom prst="rect">
            <a:avLst/>
          </a:prstGeom>
          <a:noFill/>
          <a:ln/>
        </p:spPr>
        <p:txBody>
          <a:bodyPr wrap="square" lIns="0" tIns="0" rIns="0" bIns="0" rtlCol="0" anchor="t"/>
          <a:lstStyle/>
          <a:p>
            <a:pPr indent="0" marL="0">
              <a:buNone/>
            </a:pPr>
            <a:r>
              <a:rPr lang="en-US" sz="1500" b="1" dirty="0">
                <a:solidFill>
                  <a:schemeClr val="accent1"/>
                </a:solidFill>
              </a:rPr>
              <a:t>Q14</a:t>
            </a:r>
            <a:endParaRPr lang="en-US" sz="1500" dirty="0"/>
          </a:p>
        </p:txBody>
      </p:sp>
      <p:sp>
        <p:nvSpPr>
          <p:cNvPr id="57" name="Text 55"/>
          <p:cNvSpPr txBox="1"/>
          <p:nvPr/>
        </p:nvSpPr>
        <p:spPr>
          <a:xfrm>
            <a:off x="7406640" y="4462272"/>
            <a:ext cx="1828800" cy="320040"/>
          </a:xfrm>
          <a:prstGeom prst="rect">
            <a:avLst/>
          </a:prstGeom>
          <a:noFill/>
          <a:ln/>
        </p:spPr>
        <p:txBody>
          <a:bodyPr wrap="square" lIns="0" tIns="0" rIns="0" bIns="0" rtlCol="0" anchor="t"/>
          <a:lstStyle/>
          <a:p>
            <a:pPr indent="0" marL="0">
              <a:buNone/>
            </a:pPr>
            <a:r>
              <a:rPr lang="en-US" sz="1300" b="1" dirty="0">
                <a:solidFill>
                  <a:schemeClr val="tx1"/>
                </a:solidFill>
              </a:rPr>
              <a:t>Registrations / month</a:t>
            </a:r>
            <a:endParaRPr lang="en-US" sz="1300" dirty="0"/>
          </a:p>
        </p:txBody>
      </p:sp>
      <p:sp>
        <p:nvSpPr>
          <p:cNvPr id="58" name="Text 56"/>
          <p:cNvSpPr txBox="1"/>
          <p:nvPr/>
        </p:nvSpPr>
        <p:spPr>
          <a:xfrm>
            <a:off x="7406640" y="4800600"/>
            <a:ext cx="1828800" cy="292608"/>
          </a:xfrm>
          <a:prstGeom prst="rect">
            <a:avLst/>
          </a:prstGeom>
          <a:noFill/>
          <a:ln/>
        </p:spPr>
        <p:txBody>
          <a:bodyPr wrap="square" lIns="0" tIns="0" rIns="0" bIns="0" rtlCol="0" anchor="t"/>
          <a:lstStyle/>
          <a:p>
            <a:pPr indent="0" marL="0">
              <a:buNone/>
            </a:pPr>
            <a:r>
              <a:rPr lang="en-US" sz="1150" dirty="0">
                <a:solidFill>
                  <a:schemeClr val="accent5"/>
                </a:solidFill>
              </a:rPr>
              <a:t>GROUP BY derived</a:t>
            </a:r>
            <a:endParaRPr lang="en-US" sz="1150" dirty="0"/>
          </a:p>
        </p:txBody>
      </p:sp>
      <p:sp>
        <p:nvSpPr>
          <p:cNvPr id="59" name="card"/>
          <p:cNvSpPr/>
          <p:nvPr/>
        </p:nvSpPr>
        <p:spPr>
          <a:xfrm>
            <a:off x="9473184" y="4023360"/>
            <a:ext cx="2084832" cy="1188720"/>
          </a:xfrm>
          <a:prstGeom prst="roundRect">
            <a:avLst>
              <a:gd name="adj" fmla="val 7692"/>
            </a:avLst>
          </a:prstGeom>
          <a:solidFill>
            <a:schemeClr val="bg2"/>
          </a:solidFill>
          <a:ln w="12700">
            <a:solidFill>
              <a:schemeClr val="accent6"/>
            </a:solidFill>
            <a:prstDash val="solid"/>
          </a:ln>
        </p:spPr>
      </p:sp>
      <p:sp>
        <p:nvSpPr>
          <p:cNvPr id="60" name="Text 58"/>
          <p:cNvSpPr txBox="1"/>
          <p:nvPr/>
        </p:nvSpPr>
        <p:spPr>
          <a:xfrm>
            <a:off x="9637776" y="4133088"/>
            <a:ext cx="914400" cy="320040"/>
          </a:xfrm>
          <a:prstGeom prst="rect">
            <a:avLst/>
          </a:prstGeom>
          <a:noFill/>
          <a:ln/>
        </p:spPr>
        <p:txBody>
          <a:bodyPr wrap="square" lIns="0" tIns="0" rIns="0" bIns="0" rtlCol="0" anchor="t"/>
          <a:lstStyle/>
          <a:p>
            <a:pPr indent="0" marL="0">
              <a:buNone/>
            </a:pPr>
            <a:r>
              <a:rPr lang="en-US" sz="1500" b="1" dirty="0">
                <a:solidFill>
                  <a:schemeClr val="accent1"/>
                </a:solidFill>
              </a:rPr>
              <a:t>Q15</a:t>
            </a:r>
            <a:endParaRPr lang="en-US" sz="1500" dirty="0"/>
          </a:p>
        </p:txBody>
      </p:sp>
      <p:sp>
        <p:nvSpPr>
          <p:cNvPr id="61" name="Text 59"/>
          <p:cNvSpPr txBox="1"/>
          <p:nvPr/>
        </p:nvSpPr>
        <p:spPr>
          <a:xfrm>
            <a:off x="9637776" y="4462272"/>
            <a:ext cx="1828800" cy="320040"/>
          </a:xfrm>
          <a:prstGeom prst="rect">
            <a:avLst/>
          </a:prstGeom>
          <a:noFill/>
          <a:ln/>
        </p:spPr>
        <p:txBody>
          <a:bodyPr wrap="square" lIns="0" tIns="0" rIns="0" bIns="0" rtlCol="0" anchor="t"/>
          <a:lstStyle/>
          <a:p>
            <a:pPr indent="0" marL="0">
              <a:buNone/>
            </a:pPr>
            <a:r>
              <a:rPr lang="en-US" sz="1300" b="1" dirty="0">
                <a:solidFill>
                  <a:schemeClr val="tx1"/>
                </a:solidFill>
              </a:rPr>
              <a:t>v_bill_summary</a:t>
            </a:r>
            <a:endParaRPr lang="en-US" sz="1300" dirty="0"/>
          </a:p>
        </p:txBody>
      </p:sp>
      <p:sp>
        <p:nvSpPr>
          <p:cNvPr id="62" name="Text 60"/>
          <p:cNvSpPr txBox="1"/>
          <p:nvPr/>
        </p:nvSpPr>
        <p:spPr>
          <a:xfrm>
            <a:off x="9637776" y="4800600"/>
            <a:ext cx="1828800" cy="292608"/>
          </a:xfrm>
          <a:prstGeom prst="rect">
            <a:avLst/>
          </a:prstGeom>
          <a:noFill/>
          <a:ln/>
        </p:spPr>
        <p:txBody>
          <a:bodyPr wrap="square" lIns="0" tIns="0" rIns="0" bIns="0" rtlCol="0" anchor="t"/>
          <a:lstStyle/>
          <a:p>
            <a:pPr indent="0" marL="0">
              <a:buNone/>
            </a:pPr>
            <a:r>
              <a:rPr lang="en-US" sz="1150" dirty="0">
                <a:solidFill>
                  <a:schemeClr val="accent5"/>
                </a:solidFill>
              </a:rPr>
              <a:t>CREATE VIEW</a:t>
            </a:r>
            <a:endParaRPr lang="en-US" sz="1150" dirty="0"/>
          </a:p>
        </p:txBody>
      </p:sp>
      <p:sp>
        <p:nvSpPr>
          <p:cNvPr id="63" name="Text 61"/>
          <p:cNvSpPr txBox="1"/>
          <p:nvPr/>
        </p:nvSpPr>
        <p:spPr>
          <a:xfrm>
            <a:off x="548640" y="5486400"/>
            <a:ext cx="11064240" cy="548640"/>
          </a:xfrm>
          <a:prstGeom prst="rect">
            <a:avLst/>
          </a:prstGeom>
          <a:noFill/>
          <a:ln/>
        </p:spPr>
        <p:txBody>
          <a:bodyPr wrap="square" lIns="0" tIns="0" rIns="0" bIns="0" rtlCol="0" anchor="t"/>
          <a:lstStyle/>
          <a:p>
            <a:pPr indent="0" marL="0">
              <a:buNone/>
            </a:pPr>
            <a:r>
              <a:rPr lang="en-US" sz="1300" i="1" dirty="0">
                <a:solidFill>
                  <a:schemeClr val="accent5"/>
                </a:solidFill>
              </a:rPr>
              <a:t>Each query's header (purpose, FR, concept, output) is parsed by the Reports page, so the file and the app never drift apart.</a:t>
            </a:r>
            <a:endParaRPr lang="en-US" sz="13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lIns="0" tIns="0" rIns="0" bIns="0" rtlCol="0" anchor="ctr"/>
          <a:lstStyle/>
          <a:p>
            <a:pPr algn="l" indent="0" marL="0">
              <a:buNone/>
            </a:pPr>
            <a:r>
              <a:rPr lang="en-US" sz="3200" b="1" dirty="0">
                <a:solidFill>
                  <a:schemeClr val="tx1"/>
                </a:solidFill>
              </a:rPr>
              <a:t>Design decisions we defend in the viva</a:t>
            </a:r>
            <a:endParaRPr lang="en-US" sz="3200" dirty="0"/>
          </a:p>
        </p:txBody>
      </p:sp>
      <p:sp>
        <p:nvSpPr>
          <p:cNvPr id="3" name="card"/>
          <p:cNvSpPr/>
          <p:nvPr/>
        </p:nvSpPr>
        <p:spPr>
          <a:xfrm>
            <a:off x="548640" y="1371600"/>
            <a:ext cx="5440680" cy="1417320"/>
          </a:xfrm>
          <a:prstGeom prst="roundRect">
            <a:avLst>
              <a:gd name="adj" fmla="val 6452"/>
            </a:avLst>
          </a:prstGeom>
          <a:solidFill>
            <a:schemeClr val="bg1"/>
          </a:solidFill>
          <a:ln w="12700">
            <a:solidFill>
              <a:schemeClr val="accent6"/>
            </a:solidFill>
            <a:prstDash val="solid"/>
          </a:ln>
        </p:spPr>
      </p:sp>
      <p:sp>
        <p:nvSpPr>
          <p:cNvPr id="4" name="Text 2"/>
          <p:cNvSpPr txBox="1"/>
          <p:nvPr/>
        </p:nvSpPr>
        <p:spPr>
          <a:xfrm>
            <a:off x="822960" y="1554480"/>
            <a:ext cx="4937760" cy="347472"/>
          </a:xfrm>
          <a:prstGeom prst="rect">
            <a:avLst/>
          </a:prstGeom>
          <a:noFill/>
          <a:ln/>
        </p:spPr>
        <p:txBody>
          <a:bodyPr wrap="square" lIns="0" tIns="0" rIns="0" bIns="0" rtlCol="0" anchor="t"/>
          <a:lstStyle/>
          <a:p>
            <a:pPr indent="0" marL="0">
              <a:buNone/>
            </a:pPr>
            <a:r>
              <a:rPr lang="en-US" sz="1600" b="1" dirty="0">
                <a:solidFill>
                  <a:schemeClr val="tx1"/>
                </a:solidFill>
              </a:rPr>
              <a:t>Trigger, not UNIQUE, for double booking</a:t>
            </a:r>
            <a:endParaRPr lang="en-US" sz="1600" dirty="0"/>
          </a:p>
        </p:txBody>
      </p:sp>
      <p:sp>
        <p:nvSpPr>
          <p:cNvPr id="5" name="Text 3"/>
          <p:cNvSpPr txBox="1"/>
          <p:nvPr/>
        </p:nvSpPr>
        <p:spPr>
          <a:xfrm>
            <a:off x="822960" y="1938528"/>
            <a:ext cx="4937760" cy="731520"/>
          </a:xfrm>
          <a:prstGeom prst="rect">
            <a:avLst/>
          </a:prstGeom>
          <a:noFill/>
          <a:ln/>
        </p:spPr>
        <p:txBody>
          <a:bodyPr wrap="square" lIns="0" tIns="0" rIns="0" bIns="0" rtlCol="0" anchor="t"/>
          <a:lstStyle/>
          <a:p>
            <a:pPr indent="0" marL="0">
              <a:buNone/>
            </a:pPr>
            <a:r>
              <a:rPr lang="en-US" sz="1300" dirty="0">
                <a:solidFill>
                  <a:schemeClr val="accent5"/>
                </a:solidFill>
              </a:rPr>
              <a:t>A UNIQUE (doctor, date, slot) would also block rebooking a cancelled slot, and could not check the patient's own clash.</a:t>
            </a:r>
            <a:endParaRPr lang="en-US" sz="1300" dirty="0"/>
          </a:p>
        </p:txBody>
      </p:sp>
      <p:sp>
        <p:nvSpPr>
          <p:cNvPr id="6" name="card"/>
          <p:cNvSpPr/>
          <p:nvPr/>
        </p:nvSpPr>
        <p:spPr>
          <a:xfrm>
            <a:off x="6172200" y="1371600"/>
            <a:ext cx="5440680" cy="1417320"/>
          </a:xfrm>
          <a:prstGeom prst="roundRect">
            <a:avLst>
              <a:gd name="adj" fmla="val 6452"/>
            </a:avLst>
          </a:prstGeom>
          <a:solidFill>
            <a:schemeClr val="bg1"/>
          </a:solidFill>
          <a:ln w="12700">
            <a:solidFill>
              <a:schemeClr val="accent6"/>
            </a:solidFill>
            <a:prstDash val="solid"/>
          </a:ln>
        </p:spPr>
      </p:sp>
      <p:sp>
        <p:nvSpPr>
          <p:cNvPr id="7" name="Text 5"/>
          <p:cNvSpPr txBox="1"/>
          <p:nvPr/>
        </p:nvSpPr>
        <p:spPr>
          <a:xfrm>
            <a:off x="6446520" y="1554480"/>
            <a:ext cx="4937760" cy="347472"/>
          </a:xfrm>
          <a:prstGeom prst="rect">
            <a:avLst/>
          </a:prstGeom>
          <a:noFill/>
          <a:ln/>
        </p:spPr>
        <p:txBody>
          <a:bodyPr wrap="square" lIns="0" tIns="0" rIns="0" bIns="0" rtlCol="0" anchor="t"/>
          <a:lstStyle/>
          <a:p>
            <a:pPr indent="0" marL="0">
              <a:buNone/>
            </a:pPr>
            <a:r>
              <a:rPr lang="en-US" sz="1600" b="1" dirty="0">
                <a:solidFill>
                  <a:schemeClr val="tx1"/>
                </a:solidFill>
              </a:rPr>
              <a:t>BILL keeps a price snapshot</a:t>
            </a:r>
            <a:endParaRPr lang="en-US" sz="1600" dirty="0"/>
          </a:p>
        </p:txBody>
      </p:sp>
      <p:sp>
        <p:nvSpPr>
          <p:cNvPr id="8" name="Text 6"/>
          <p:cNvSpPr txBox="1"/>
          <p:nvPr/>
        </p:nvSpPr>
        <p:spPr>
          <a:xfrm>
            <a:off x="6446520" y="1938528"/>
            <a:ext cx="4937760" cy="731520"/>
          </a:xfrm>
          <a:prstGeom prst="rect">
            <a:avLst/>
          </a:prstGeom>
          <a:noFill/>
          <a:ln/>
        </p:spPr>
        <p:txBody>
          <a:bodyPr wrap="square" lIns="0" tIns="0" rIns="0" bIns="0" rtlCol="0" anchor="t"/>
          <a:lstStyle/>
          <a:p>
            <a:pPr indent="0" marL="0">
              <a:buNone/>
            </a:pPr>
            <a:r>
              <a:rPr lang="en-US" sz="1300" dirty="0">
                <a:solidFill>
                  <a:schemeClr val="accent5"/>
                </a:solidFill>
              </a:rPr>
              <a:t>A bill is a record of what was charged that day; ck_bill_total_amt keeps total = parts.</a:t>
            </a:r>
            <a:endParaRPr lang="en-US" sz="1300" dirty="0"/>
          </a:p>
        </p:txBody>
      </p:sp>
      <p:sp>
        <p:nvSpPr>
          <p:cNvPr id="9" name="card"/>
          <p:cNvSpPr/>
          <p:nvPr/>
        </p:nvSpPr>
        <p:spPr>
          <a:xfrm>
            <a:off x="548640" y="2971800"/>
            <a:ext cx="5440680" cy="1417320"/>
          </a:xfrm>
          <a:prstGeom prst="roundRect">
            <a:avLst>
              <a:gd name="adj" fmla="val 6452"/>
            </a:avLst>
          </a:prstGeom>
          <a:solidFill>
            <a:schemeClr val="bg1"/>
          </a:solidFill>
          <a:ln w="12700">
            <a:solidFill>
              <a:schemeClr val="accent6"/>
            </a:solidFill>
            <a:prstDash val="solid"/>
          </a:ln>
        </p:spPr>
      </p:sp>
      <p:sp>
        <p:nvSpPr>
          <p:cNvPr id="10" name="Text 8"/>
          <p:cNvSpPr txBox="1"/>
          <p:nvPr/>
        </p:nvSpPr>
        <p:spPr>
          <a:xfrm>
            <a:off x="822960" y="3154680"/>
            <a:ext cx="4937760" cy="347472"/>
          </a:xfrm>
          <a:prstGeom prst="rect">
            <a:avLst/>
          </a:prstGeom>
          <a:noFill/>
          <a:ln/>
        </p:spPr>
        <p:txBody>
          <a:bodyPr wrap="square" lIns="0" tIns="0" rIns="0" bIns="0" rtlCol="0" anchor="t"/>
          <a:lstStyle/>
          <a:p>
            <a:pPr indent="0" marL="0">
              <a:buNone/>
            </a:pPr>
            <a:r>
              <a:rPr lang="en-US" sz="1600" b="1" dirty="0">
                <a:solidFill>
                  <a:schemeClr val="tx1"/>
                </a:solidFill>
              </a:rPr>
              <a:t>Doctors are deactivated, never deleted</a:t>
            </a:r>
            <a:endParaRPr lang="en-US" sz="1600" dirty="0"/>
          </a:p>
        </p:txBody>
      </p:sp>
      <p:sp>
        <p:nvSpPr>
          <p:cNvPr id="11" name="Text 9"/>
          <p:cNvSpPr txBox="1"/>
          <p:nvPr/>
        </p:nvSpPr>
        <p:spPr>
          <a:xfrm>
            <a:off x="822960" y="3538728"/>
            <a:ext cx="4937760" cy="731520"/>
          </a:xfrm>
          <a:prstGeom prst="rect">
            <a:avLst/>
          </a:prstGeom>
          <a:noFill/>
          <a:ln/>
        </p:spPr>
        <p:txBody>
          <a:bodyPr wrap="square" lIns="0" tIns="0" rIns="0" bIns="0" rtlCol="0" anchor="t"/>
          <a:lstStyle/>
          <a:p>
            <a:pPr indent="0" marL="0">
              <a:buNone/>
            </a:pPr>
            <a:r>
              <a:rPr lang="en-US" sz="1300" dirty="0">
                <a:solidFill>
                  <a:schemeClr val="accent5"/>
                </a:solidFill>
              </a:rPr>
              <a:t>Visit history must stay; verified_by uses ON DELETE SET NULL.</a:t>
            </a:r>
            <a:endParaRPr lang="en-US" sz="1300" dirty="0"/>
          </a:p>
        </p:txBody>
      </p:sp>
      <p:sp>
        <p:nvSpPr>
          <p:cNvPr id="12" name="card"/>
          <p:cNvSpPr/>
          <p:nvPr/>
        </p:nvSpPr>
        <p:spPr>
          <a:xfrm>
            <a:off x="6172200" y="2971800"/>
            <a:ext cx="5440680" cy="1417320"/>
          </a:xfrm>
          <a:prstGeom prst="roundRect">
            <a:avLst>
              <a:gd name="adj" fmla="val 6452"/>
            </a:avLst>
          </a:prstGeom>
          <a:solidFill>
            <a:schemeClr val="bg1"/>
          </a:solidFill>
          <a:ln w="12700">
            <a:solidFill>
              <a:schemeClr val="accent6"/>
            </a:solidFill>
            <a:prstDash val="solid"/>
          </a:ln>
        </p:spPr>
      </p:sp>
      <p:sp>
        <p:nvSpPr>
          <p:cNvPr id="13" name="Text 11"/>
          <p:cNvSpPr txBox="1"/>
          <p:nvPr/>
        </p:nvSpPr>
        <p:spPr>
          <a:xfrm>
            <a:off x="6446520" y="3154680"/>
            <a:ext cx="4937760" cy="347472"/>
          </a:xfrm>
          <a:prstGeom prst="rect">
            <a:avLst/>
          </a:prstGeom>
          <a:noFill/>
          <a:ln/>
        </p:spPr>
        <p:txBody>
          <a:bodyPr wrap="square" lIns="0" tIns="0" rIns="0" bIns="0" rtlCol="0" anchor="t"/>
          <a:lstStyle/>
          <a:p>
            <a:pPr indent="0" marL="0">
              <a:buNone/>
            </a:pPr>
            <a:r>
              <a:rPr lang="en-US" sz="1600" b="1" dirty="0">
                <a:solidFill>
                  <a:schemeClr val="tx1"/>
                </a:solidFill>
              </a:rPr>
              <a:t>Procedures never COMMIT</a:t>
            </a:r>
            <a:endParaRPr lang="en-US" sz="1600" dirty="0"/>
          </a:p>
        </p:txBody>
      </p:sp>
      <p:sp>
        <p:nvSpPr>
          <p:cNvPr id="14" name="Text 12"/>
          <p:cNvSpPr txBox="1"/>
          <p:nvPr/>
        </p:nvSpPr>
        <p:spPr>
          <a:xfrm>
            <a:off x="6446520" y="3538728"/>
            <a:ext cx="4937760" cy="731520"/>
          </a:xfrm>
          <a:prstGeom prst="rect">
            <a:avLst/>
          </a:prstGeom>
          <a:noFill/>
          <a:ln/>
        </p:spPr>
        <p:txBody>
          <a:bodyPr wrap="square" lIns="0" tIns="0" rIns="0" bIns="0" rtlCol="0" anchor="t"/>
          <a:lstStyle/>
          <a:p>
            <a:pPr indent="0" marL="0">
              <a:buNone/>
            </a:pPr>
            <a:r>
              <a:rPr lang="en-US" sz="1300" dirty="0">
                <a:solidFill>
                  <a:schemeClr val="accent5"/>
                </a:solidFill>
              </a:rPr>
              <a:t>T4 = UPDATE + generate_bill succeed or fail together; only the batch job commits.</a:t>
            </a:r>
            <a:endParaRPr lang="en-US" sz="1300" dirty="0"/>
          </a:p>
        </p:txBody>
      </p:sp>
      <p:sp>
        <p:nvSpPr>
          <p:cNvPr id="15" name="card"/>
          <p:cNvSpPr/>
          <p:nvPr/>
        </p:nvSpPr>
        <p:spPr>
          <a:xfrm>
            <a:off x="548640" y="4572000"/>
            <a:ext cx="5440680" cy="1417320"/>
          </a:xfrm>
          <a:prstGeom prst="roundRect">
            <a:avLst>
              <a:gd name="adj" fmla="val 6452"/>
            </a:avLst>
          </a:prstGeom>
          <a:solidFill>
            <a:schemeClr val="bg1"/>
          </a:solidFill>
          <a:ln w="12700">
            <a:solidFill>
              <a:schemeClr val="accent6"/>
            </a:solidFill>
            <a:prstDash val="solid"/>
          </a:ln>
        </p:spPr>
      </p:sp>
      <p:sp>
        <p:nvSpPr>
          <p:cNvPr id="16" name="Text 14"/>
          <p:cNvSpPr txBox="1"/>
          <p:nvPr/>
        </p:nvSpPr>
        <p:spPr>
          <a:xfrm>
            <a:off x="822960" y="4754880"/>
            <a:ext cx="4937760" cy="347472"/>
          </a:xfrm>
          <a:prstGeom prst="rect">
            <a:avLst/>
          </a:prstGeom>
          <a:noFill/>
          <a:ln/>
        </p:spPr>
        <p:txBody>
          <a:bodyPr wrap="square" lIns="0" tIns="0" rIns="0" bIns="0" rtlCol="0" anchor="t"/>
          <a:lstStyle/>
          <a:p>
            <a:pPr indent="0" marL="0">
              <a:buNone/>
            </a:pPr>
            <a:r>
              <a:rPr lang="en-US" sz="1600" b="1" dirty="0">
                <a:solidFill>
                  <a:schemeClr val="tx1"/>
                </a:solidFill>
              </a:rPr>
              <a:t>SAMPLE resolves APPOINTMENT ⟷ TEST_CATALOG</a:t>
            </a:r>
            <a:endParaRPr lang="en-US" sz="1600" dirty="0"/>
          </a:p>
        </p:txBody>
      </p:sp>
      <p:sp>
        <p:nvSpPr>
          <p:cNvPr id="17" name="Text 15"/>
          <p:cNvSpPr txBox="1"/>
          <p:nvPr/>
        </p:nvSpPr>
        <p:spPr>
          <a:xfrm>
            <a:off x="822960" y="5138928"/>
            <a:ext cx="4937760" cy="731520"/>
          </a:xfrm>
          <a:prstGeom prst="rect">
            <a:avLst/>
          </a:prstGeom>
          <a:noFill/>
          <a:ln/>
        </p:spPr>
        <p:txBody>
          <a:bodyPr wrap="square" lIns="0" tIns="0" rIns="0" bIns="0" rtlCol="0" anchor="t"/>
          <a:lstStyle/>
          <a:p>
            <a:pPr indent="0" marL="0">
              <a:buNone/>
            </a:pPr>
            <a:r>
              <a:rPr lang="en-US" sz="1300" dirty="0">
                <a:solidFill>
                  <a:schemeClr val="accent5"/>
                </a:solidFill>
              </a:rPr>
              <a:t>The M:N becomes an entity with its own type, collector and status.</a:t>
            </a:r>
            <a:endParaRPr lang="en-US" sz="1300" dirty="0"/>
          </a:p>
        </p:txBody>
      </p:sp>
      <p:sp>
        <p:nvSpPr>
          <p:cNvPr id="18" name="card"/>
          <p:cNvSpPr/>
          <p:nvPr/>
        </p:nvSpPr>
        <p:spPr>
          <a:xfrm>
            <a:off x="6172200" y="4572000"/>
            <a:ext cx="5440680" cy="1417320"/>
          </a:xfrm>
          <a:prstGeom prst="roundRect">
            <a:avLst>
              <a:gd name="adj" fmla="val 6452"/>
            </a:avLst>
          </a:prstGeom>
          <a:solidFill>
            <a:schemeClr val="bg1"/>
          </a:solidFill>
          <a:ln w="12700">
            <a:solidFill>
              <a:schemeClr val="accent6"/>
            </a:solidFill>
            <a:prstDash val="solid"/>
          </a:ln>
        </p:spPr>
      </p:sp>
      <p:sp>
        <p:nvSpPr>
          <p:cNvPr id="19" name="Text 17"/>
          <p:cNvSpPr txBox="1"/>
          <p:nvPr/>
        </p:nvSpPr>
        <p:spPr>
          <a:xfrm>
            <a:off x="6446520" y="4754880"/>
            <a:ext cx="4937760" cy="347472"/>
          </a:xfrm>
          <a:prstGeom prst="rect">
            <a:avLst/>
          </a:prstGeom>
          <a:noFill/>
          <a:ln/>
        </p:spPr>
        <p:txBody>
          <a:bodyPr wrap="square" lIns="0" tIns="0" rIns="0" bIns="0" rtlCol="0" anchor="t"/>
          <a:lstStyle/>
          <a:p>
            <a:pPr indent="0" marL="0">
              <a:buNone/>
            </a:pPr>
            <a:r>
              <a:rPr lang="en-US" sz="1600" b="1" dirty="0">
                <a:solidFill>
                  <a:schemeClr val="tx1"/>
                </a:solidFill>
              </a:rPr>
              <a:t>“Today” comes from the database</a:t>
            </a:r>
            <a:endParaRPr lang="en-US" sz="1600" dirty="0"/>
          </a:p>
        </p:txBody>
      </p:sp>
      <p:sp>
        <p:nvSpPr>
          <p:cNvPr id="20" name="Text 18"/>
          <p:cNvSpPr txBox="1"/>
          <p:nvPr/>
        </p:nvSpPr>
        <p:spPr>
          <a:xfrm>
            <a:off x="6446520" y="5138928"/>
            <a:ext cx="4937760" cy="731520"/>
          </a:xfrm>
          <a:prstGeom prst="rect">
            <a:avLst/>
          </a:prstGeom>
          <a:noFill/>
          <a:ln/>
        </p:spPr>
        <p:txBody>
          <a:bodyPr wrap="square" lIns="0" tIns="0" rIns="0" bIns="0" rtlCol="0" anchor="t"/>
          <a:lstStyle/>
          <a:p>
            <a:pPr indent="0" marL="0">
              <a:buNone/>
            </a:pPr>
            <a:r>
              <a:rPr lang="en-US" sz="1300" dirty="0">
                <a:solidFill>
                  <a:schemeClr val="accent5"/>
                </a:solidFill>
              </a:rPr>
              <a:t>Oracle in Docker runs in UTC; the UI uses TRUNC(SYSDATE) so screens and procedures agree.</a:t>
            </a:r>
            <a:endParaRPr lang="en-US" sz="13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731520" y="2651760"/>
            <a:ext cx="10698480" cy="914400"/>
          </a:xfrm>
          <a:prstGeom prst="rect">
            <a:avLst/>
          </a:prstGeom>
          <a:noFill/>
          <a:ln/>
        </p:spPr>
        <p:txBody>
          <a:bodyPr wrap="square" lIns="0" tIns="0" rIns="0" bIns="0" rtlCol="0" anchor="b"/>
          <a:lstStyle/>
          <a:p>
            <a:pPr algn="l" indent="0" marL="0">
              <a:buNone/>
            </a:pPr>
            <a:r>
              <a:rPr lang="en-US" sz="4400" b="1" dirty="0">
                <a:solidFill>
                  <a:schemeClr val="bg1"/>
                </a:solidFill>
              </a:rPr>
              <a:t>Thank you</a:t>
            </a:r>
            <a:endParaRPr lang="en-US" sz="4400" dirty="0"/>
          </a:p>
        </p:txBody>
      </p:sp>
      <p:sp>
        <p:nvSpPr>
          <p:cNvPr id="3" name="Text 0"/>
          <p:cNvSpPr/>
          <p:nvPr>
            <p:ph idx="101" type="body" hasCustomPrompt="1"/>
          </p:nvPr>
        </p:nvSpPr>
        <p:spPr>
          <a:xfrm>
            <a:off x="731520" y="3703320"/>
            <a:ext cx="10698480" cy="731520"/>
          </a:xfrm>
          <a:prstGeom prst="rect">
            <a:avLst/>
          </a:prstGeom>
          <a:noFill/>
          <a:ln/>
        </p:spPr>
        <p:txBody>
          <a:bodyPr wrap="square" lIns="0" tIns="0" rIns="0" bIns="0" rtlCol="0" anchor="t"/>
          <a:lstStyle/>
          <a:p>
            <a:pPr algn="l" indent="0" marL="0">
              <a:buNone/>
            </a:pPr>
            <a:r>
              <a:rPr lang="en-US" sz="2000" dirty="0">
                <a:solidFill>
                  <a:schemeClr val="accent6"/>
                </a:solidFill>
              </a:rPr>
              <a:t>Questions?  ·  Live demo: streamlit run app/streamlit_app.py</a:t>
            </a:r>
            <a:endParaRPr lang="en-US" sz="2000" dirty="0"/>
          </a:p>
        </p:txBody>
      </p:sp>
      <p:sp>
        <p:nvSpPr>
          <p:cNvPr id="4" name="Text 2"/>
          <p:cNvSpPr txBox="1"/>
          <p:nvPr/>
        </p:nvSpPr>
        <p:spPr>
          <a:xfrm>
            <a:off x="731520" y="4617720"/>
            <a:ext cx="5486400" cy="320040"/>
          </a:xfrm>
          <a:prstGeom prst="rect">
            <a:avLst/>
          </a:prstGeom>
          <a:noFill/>
          <a:ln/>
        </p:spPr>
        <p:txBody>
          <a:bodyPr wrap="square" lIns="0" tIns="0" rIns="0" bIns="0" rtlCol="0" anchor="t"/>
          <a:lstStyle/>
          <a:p>
            <a:pPr indent="0" marL="0">
              <a:buNone/>
            </a:pPr>
            <a:r>
              <a:rPr lang="en-US" sz="1500" b="1" dirty="0">
                <a:solidFill>
                  <a:schemeClr val="bg1"/>
                </a:solidFill>
              </a:rPr>
              <a:t>What's next, within scope</a:t>
            </a:r>
            <a:endParaRPr lang="en-US" sz="1500" dirty="0"/>
          </a:p>
        </p:txBody>
      </p:sp>
      <p:sp>
        <p:nvSpPr>
          <p:cNvPr id="5" name="Text 3"/>
          <p:cNvSpPr txBox="1"/>
          <p:nvPr/>
        </p:nvSpPr>
        <p:spPr>
          <a:xfrm>
            <a:off x="731520" y="4983480"/>
            <a:ext cx="10058400" cy="1097280"/>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chemeClr val="accent6"/>
                </a:solidFill>
              </a:rPr>
              <a:t>Real sign-in with Oracle roles and GRANTs per portal</a:t>
            </a:r>
            <a:endParaRPr lang="en-US" sz="1400" dirty="0"/>
          </a:p>
          <a:p>
            <a:pPr marL="342900" indent="-342900">
              <a:spcAft>
                <a:spcPts val="400"/>
              </a:spcAft>
              <a:buSzPct val="100000"/>
              <a:buChar char="•"/>
            </a:pPr>
            <a:r>
              <a:rPr lang="en-US" sz="1400" dirty="0">
                <a:solidFill>
                  <a:schemeClr val="accent6"/>
                </a:solidFill>
              </a:rPr>
              <a:t>Reschedule in one step via a compound trigger</a:t>
            </a:r>
            <a:endParaRPr lang="en-US" sz="1400" dirty="0"/>
          </a:p>
          <a:p>
            <a:pPr marL="342900" indent="-342900">
              <a:spcAft>
                <a:spcPts val="400"/>
              </a:spcAft>
              <a:buSzPct val="100000"/>
              <a:buChar char="•"/>
            </a:pPr>
            <a:r>
              <a:rPr lang="en-US" sz="1400" dirty="0">
                <a:solidFill>
                  <a:schemeClr val="accent6"/>
                </a:solidFill>
              </a:rPr>
              <a:t>Printable bill and lab-report PDFs</a:t>
            </a:r>
            <a:endParaRPr lang="en-US" sz="1400" dirty="0"/>
          </a:p>
        </p:txBody>
      </p:sp>
      <p:pic>
        <p:nvPicPr>
          <p:cNvPr id="6" name="logo" descr="preencoded.png">    </p:cNvPr>
          <p:cNvPicPr>
            <a:picLocks noChangeAspect="1"/>
          </p:cNvPicPr>
          <p:nvPr/>
        </p:nvPicPr>
        <p:blipFill>
          <a:blip r:embed="rId1"/>
          <a:stretch>
            <a:fillRect/>
          </a:stretch>
        </p:blipFill>
        <p:spPr>
          <a:xfrm>
            <a:off x="731520" y="1463040"/>
            <a:ext cx="914400" cy="914400"/>
          </a:xfrm>
          <a:prstGeom prst="rect">
            <a:avLst/>
          </a:prstGeom>
        </p:spPr>
      </p:pic>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17</a:t>
            </a:fld>
            <a:endParaRPr lang="en-US"/>
          </a:p>
        </p:txBody>
      </p:sp>
    </p:spTree>
  </p:cSld>
  <p:clrMapOvr>
    <a:masterClrMapping/>
  </p:clrMapOvr>
</p:sld>
</file>

<file path=ppt/theme/theme1.xml><?xml version="1.0" encoding="utf-8"?>
<a:theme xmlns:a="http://schemas.openxmlformats.org/drawingml/2006/main" name="MediTrack">
  <a:themeElements>
    <a:clrScheme name="MediTrack">
      <a:dk1>
        <a:srgbClr val="12395E"/>
      </a:dk1>
      <a:lt1>
        <a:srgbClr val="FFFFFF"/>
      </a:lt1>
      <a:dk2>
        <a:srgbClr val="0B2440"/>
      </a:dk2>
      <a:lt2>
        <a:srgbClr val="F1F7FD"/>
      </a:lt2>
      <a:accent1>
        <a:srgbClr val="1F6FC5"/>
      </a:accent1>
      <a:accent2>
        <a:srgbClr val="2EAD4B"/>
      </a:accent2>
      <a:accent3>
        <a:srgbClr val="D98E04"/>
      </a:accent3>
      <a:accent4>
        <a:srgbClr val="D64545"/>
      </a:accent4>
      <a:accent5>
        <a:srgbClr val="5B7A99"/>
      </a:accent5>
      <a:accent6>
        <a:srgbClr val="D6E6F5"/>
      </a:accent6>
      <a:hlink>
        <a:srgbClr val="1F6FC5"/>
      </a:hlink>
      <a:folHlink>
        <a:srgbClr val="155AA6"/>
      </a:folHlink>
    </a:clrScheme>
    <a:fontScheme name="MediTrack">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MediTrack - Review III</dc:title>
  <dc:subject>BCSE302L Database Systems</dc:subject>
  <dc:creator>MediTrack project team</dc:creator>
  <cp:lastModifiedBy>MediTrack project team</cp:lastModifiedBy>
  <cp:revision>1</cp:revision>
  <dcterms:created xsi:type="dcterms:W3CDTF">2026-10-28T16:11:53Z</dcterms:created>
  <dcterms:modified xsi:type="dcterms:W3CDTF">2026-10-28T16:11:53Z</dcterms:modified>
</cp:coreProperties>
</file>